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21d166a9fc4ece" /><Relationship Type="http://schemas.openxmlformats.org/officeDocument/2006/relationships/extended-properties" Target="/docProps/app.xml" Id="Rcb15ddb66f774939" /><Relationship Type="http://schemas.openxmlformats.org/officeDocument/2006/relationships/officeDocument" Target="/ppt/presentation.xml" Id="R736b379930e44a22" /></Relationships>
</file>

<file path=ppt/presentation.xml><?xml version="1.0" encoding="utf-8"?>
<p:presentation xmlns:p="http://schemas.openxmlformats.org/presentationml/2006/main">
  <p:sldMasterIdLst>
    <p:sldMasterId xmlns:r="http://schemas.openxmlformats.org/officeDocument/2006/relationships" id="2147483648" r:id="R3dd56eb27a0345cd"/>
  </p:sldMasterIdLst>
  <p:notesMasterIdLst>
    <p:notesMasterId xmlns:r="http://schemas.openxmlformats.org/officeDocument/2006/relationships" r:id="R4f5a5b800be2482b"/>
  </p:notesMasterIdLst>
  <p:sldIdLst>
    <p:sldId xmlns:r="http://schemas.openxmlformats.org/officeDocument/2006/relationships" id="256" r:id="Rea52dc16274a474d"/>
    <p:sldId xmlns:r="http://schemas.openxmlformats.org/officeDocument/2006/relationships" id="257" r:id="R9b2a0b4cdc0d4064"/>
    <p:sldId xmlns:r="http://schemas.openxmlformats.org/officeDocument/2006/relationships" id="258" r:id="Rbe18e3ebf8944e7f"/>
    <p:sldId xmlns:r="http://schemas.openxmlformats.org/officeDocument/2006/relationships" id="259" r:id="R62e25d424e2d4c44"/>
    <p:sldId xmlns:r="http://schemas.openxmlformats.org/officeDocument/2006/relationships" id="260" r:id="Rbdaa77e76e654394"/>
    <p:sldId xmlns:r="http://schemas.openxmlformats.org/officeDocument/2006/relationships" id="261" r:id="R1da5ccf196f14f54"/>
    <p:sldId xmlns:r="http://schemas.openxmlformats.org/officeDocument/2006/relationships" id="262" r:id="R250eb26b87f94c26"/>
    <p:sldId xmlns:r="http://schemas.openxmlformats.org/officeDocument/2006/relationships" id="263" r:id="Rc829ca66f56f453b"/>
    <p:sldId xmlns:r="http://schemas.openxmlformats.org/officeDocument/2006/relationships" id="264" r:id="R8b1181041e6842f0"/>
    <p:sldId xmlns:r="http://schemas.openxmlformats.org/officeDocument/2006/relationships" id="265" r:id="R15d1725c160e4e66"/>
    <p:sldId xmlns:r="http://schemas.openxmlformats.org/officeDocument/2006/relationships" id="266" r:id="R9a08a16a99b44fff"/>
    <p:sldId xmlns:r="http://schemas.openxmlformats.org/officeDocument/2006/relationships" id="267" r:id="Rd240ffbca6714a2f"/>
    <p:sldId xmlns:r="http://schemas.openxmlformats.org/officeDocument/2006/relationships" id="268" r:id="Rc36ade0530b84195"/>
    <p:sldId xmlns:r="http://schemas.openxmlformats.org/officeDocument/2006/relationships" id="269" r:id="Rb3aa99865223459b"/>
    <p:sldId xmlns:r="http://schemas.openxmlformats.org/officeDocument/2006/relationships" id="270" r:id="R68233f891ab94fa4"/>
    <p:sldId xmlns:r="http://schemas.openxmlformats.org/officeDocument/2006/relationships" id="271" r:id="R2de7967c8e2b4ca1"/>
    <p:sldId xmlns:r="http://schemas.openxmlformats.org/officeDocument/2006/relationships" id="272" r:id="R36c961ada1d14a05"/>
    <p:sldId xmlns:r="http://schemas.openxmlformats.org/officeDocument/2006/relationships" id="273" r:id="Rfd5816678f004d2c"/>
    <p:sldId xmlns:r="http://schemas.openxmlformats.org/officeDocument/2006/relationships" id="274" r:id="Rdac309e9806d4754"/>
    <p:sldId xmlns:r="http://schemas.openxmlformats.org/officeDocument/2006/relationships" id="275" r:id="Re45ebc3b5c0942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1edaf7a2824857" /><Relationship Type="http://schemas.openxmlformats.org/officeDocument/2006/relationships/slideMaster" Target="/ppt/slideMasters/slideMaster1.xml" Id="R3dd56eb27a0345cd" /><Relationship Type="http://schemas.openxmlformats.org/officeDocument/2006/relationships/notesMaster" Target="/ppt/notesMasters/notesMaster1.xml" Id="R4f5a5b800be2482b" /><Relationship Type="http://schemas.openxmlformats.org/officeDocument/2006/relationships/presProps" Target="/ppt/presProps.xml" Id="Rd23ce1e417af4d26" /><Relationship Type="http://schemas.openxmlformats.org/officeDocument/2006/relationships/tableStyles" Target="/ppt/tableStyles.xml" Id="R5d042951a6e948d5" /><Relationship Type="http://schemas.openxmlformats.org/officeDocument/2006/relationships/slide" Target="/ppt/slides/slide1.xml" Id="Rea52dc16274a474d" /><Relationship Type="http://schemas.openxmlformats.org/officeDocument/2006/relationships/slide" Target="/ppt/slides/slide2.xml" Id="R9b2a0b4cdc0d4064" /><Relationship Type="http://schemas.openxmlformats.org/officeDocument/2006/relationships/slide" Target="/ppt/slides/slide3.xml" Id="Rbe18e3ebf8944e7f" /><Relationship Type="http://schemas.openxmlformats.org/officeDocument/2006/relationships/slide" Target="/ppt/slides/slide4.xml" Id="R62e25d424e2d4c44" /><Relationship Type="http://schemas.openxmlformats.org/officeDocument/2006/relationships/slide" Target="/ppt/slides/slide5.xml" Id="Rbdaa77e76e654394" /><Relationship Type="http://schemas.openxmlformats.org/officeDocument/2006/relationships/slide" Target="/ppt/slides/slide6.xml" Id="R1da5ccf196f14f54" /><Relationship Type="http://schemas.openxmlformats.org/officeDocument/2006/relationships/slide" Target="/ppt/slides/slide7.xml" Id="R250eb26b87f94c26" /><Relationship Type="http://schemas.openxmlformats.org/officeDocument/2006/relationships/slide" Target="/ppt/slides/slide8.xml" Id="Rc829ca66f56f453b" /><Relationship Type="http://schemas.openxmlformats.org/officeDocument/2006/relationships/slide" Target="/ppt/slides/slide9.xml" Id="R8b1181041e6842f0" /><Relationship Type="http://schemas.openxmlformats.org/officeDocument/2006/relationships/slide" Target="/ppt/slides/slide10.xml" Id="R15d1725c160e4e66" /><Relationship Type="http://schemas.openxmlformats.org/officeDocument/2006/relationships/slide" Target="/ppt/slides/slide11.xml" Id="R9a08a16a99b44fff" /><Relationship Type="http://schemas.openxmlformats.org/officeDocument/2006/relationships/slide" Target="/ppt/slides/slide12.xml" Id="Rd240ffbca6714a2f" /><Relationship Type="http://schemas.openxmlformats.org/officeDocument/2006/relationships/slide" Target="/ppt/slides/slide13.xml" Id="Rc36ade0530b84195" /><Relationship Type="http://schemas.openxmlformats.org/officeDocument/2006/relationships/slide" Target="/ppt/slides/slide14.xml" Id="Rb3aa99865223459b" /><Relationship Type="http://schemas.openxmlformats.org/officeDocument/2006/relationships/slide" Target="/ppt/slides/slide15.xml" Id="R68233f891ab94fa4" /><Relationship Type="http://schemas.openxmlformats.org/officeDocument/2006/relationships/slide" Target="/ppt/slides/slide16.xml" Id="R2de7967c8e2b4ca1" /><Relationship Type="http://schemas.openxmlformats.org/officeDocument/2006/relationships/slide" Target="/ppt/slides/slide17.xml" Id="R36c961ada1d14a05" /><Relationship Type="http://schemas.openxmlformats.org/officeDocument/2006/relationships/slide" Target="/ppt/slides/slide18.xml" Id="Rfd5816678f004d2c" /><Relationship Type="http://schemas.openxmlformats.org/officeDocument/2006/relationships/slide" Target="/ppt/slides/slide19.xml" Id="Rdac309e9806d4754" /><Relationship Type="http://schemas.openxmlformats.org/officeDocument/2006/relationships/slide" Target="/ppt/slides/slide20.xml" Id="Re45ebc3b5c0942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18bfabc7bb40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0f025339774d4d" /><Relationship Type="http://schemas.openxmlformats.org/officeDocument/2006/relationships/notesMaster" Target="/ppt/notesMasters/notesMaster1.xml" Id="Rf2a92b87c38b4b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ee91181f6040b6" /><Relationship Type="http://schemas.openxmlformats.org/officeDocument/2006/relationships/notesMaster" Target="/ppt/notesMasters/notesMaster1.xml" Id="Rdd3f223e523e46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f0b7a826ec4159" /><Relationship Type="http://schemas.openxmlformats.org/officeDocument/2006/relationships/notesMaster" Target="/ppt/notesMasters/notesMaster1.xml" Id="R5d7ee76fd17a46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bf043a3e1a4504" /><Relationship Type="http://schemas.openxmlformats.org/officeDocument/2006/relationships/notesMaster" Target="/ppt/notesMasters/notesMaster1.xml" Id="R13dcc1e483264c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c2b3eb45b74d75" /><Relationship Type="http://schemas.openxmlformats.org/officeDocument/2006/relationships/notesMaster" Target="/ppt/notesMasters/notesMaster1.xml" Id="R855e24f4a45f44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3dc4f90a744a90" /><Relationship Type="http://schemas.openxmlformats.org/officeDocument/2006/relationships/notesMaster" Target="/ppt/notesMasters/notesMaster1.xml" Id="R751189a13e1449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7820e9986e41b1" /><Relationship Type="http://schemas.openxmlformats.org/officeDocument/2006/relationships/notesMaster" Target="/ppt/notesMasters/notesMaster1.xml" Id="R275bca81130f4e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74acba091f4bcb" /><Relationship Type="http://schemas.openxmlformats.org/officeDocument/2006/relationships/notesMaster" Target="/ppt/notesMasters/notesMaster1.xml" Id="R894509de9c9a48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b77ad1c856466a" /><Relationship Type="http://schemas.openxmlformats.org/officeDocument/2006/relationships/notesMaster" Target="/ppt/notesMasters/notesMaster1.xml" Id="Rc95a25ec22cd4a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60c1a0d3fc406b" /><Relationship Type="http://schemas.openxmlformats.org/officeDocument/2006/relationships/notesMaster" Target="/ppt/notesMasters/notesMaster1.xml" Id="R528c319adccc4a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e43ff7ac324124" /><Relationship Type="http://schemas.openxmlformats.org/officeDocument/2006/relationships/notesMaster" Target="/ppt/notesMasters/notesMaster1.xml" Id="R12690d8b7e1d43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460aff96d2494b" /><Relationship Type="http://schemas.openxmlformats.org/officeDocument/2006/relationships/notesMaster" Target="/ppt/notesMasters/notesMaster1.xml" Id="R03e66c71215f42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d01b5a13cd42ac" /><Relationship Type="http://schemas.openxmlformats.org/officeDocument/2006/relationships/notesMaster" Target="/ppt/notesMasters/notesMaster1.xml" Id="Re11402229ae14d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9b3a38b9714112" /><Relationship Type="http://schemas.openxmlformats.org/officeDocument/2006/relationships/notesMaster" Target="/ppt/notesMasters/notesMaster1.xml" Id="Ra67ecc4ea93144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da48a2fd8444fc" /><Relationship Type="http://schemas.openxmlformats.org/officeDocument/2006/relationships/notesMaster" Target="/ppt/notesMasters/notesMaster1.xml" Id="R92113e22f81c44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516d964dba4e22" /><Relationship Type="http://schemas.openxmlformats.org/officeDocument/2006/relationships/notesMaster" Target="/ppt/notesMasters/notesMaster1.xml" Id="R58dd983b743740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33e1e712024582" /><Relationship Type="http://schemas.openxmlformats.org/officeDocument/2006/relationships/notesMaster" Target="/ppt/notesMasters/notesMaster1.xml" Id="Rb036d1461b4e4c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d852204bd74d21" /><Relationship Type="http://schemas.openxmlformats.org/officeDocument/2006/relationships/notesMaster" Target="/ppt/notesMasters/notesMaster1.xml" Id="R06d73f6fea5a45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651c493a10d4861" /><Relationship Type="http://schemas.openxmlformats.org/officeDocument/2006/relationships/notesMaster" Target="/ppt/notesMasters/notesMaster1.xml" Id="R4a829c07ab2c47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eb46bc63734101" /><Relationship Type="http://schemas.openxmlformats.org/officeDocument/2006/relationships/notesMaster" Target="/ppt/notesMasters/notesMaster1.xml" Id="R74db0963e3ad4d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20 Sekunden</a:t>
            </a:r>
          </a:p>
          <a:p xmlns:a="http://schemas.openxmlformats.org/drawingml/2006/main">
            <a:r>
              <a:t/>
            </a:r>
          </a:p>
          <a:p xmlns:a="http://schemas.openxmlformats.org/drawingml/2006/main">
            <a:r>
              <a:t>Wir zeigen eine kleine, ausführbare DevSecOps-Pipeline. Im Mittelpunkt stehen drei Programme mit absichtlich unsicherer und bereinigter Variante. Entscheidend ist, dass der Ablauf automatisch startet und Findings nachvollziehbar zu einer Entscheidung führen. Die Demo verbindet einen Codefehler mit dem konkreten Bericht und der Gateentscheidung.</a:t>
            </a:r>
          </a:p>
          <a:p xmlns:a="http://schemas.openxmlformats.org/drawingml/2006/main">
            <a:r>
              <a:t/>
            </a:r>
          </a:p>
          <a:p xmlns:a="http://schemas.openxmlformats.org/drawingml/2006/main">
            <a:r>
              <a:t>Quelle: 06_SecureDevelopment.pdf, Georg Graupner, WS 2024, Titelfolie als Gestaltungsreferenz</a:t>
            </a:r>
          </a:p>
          <a:p xmlns:a="http://schemas.openxmlformats.org/drawingml/2006/main">
            <a:r>
              <a:t>Quelle: devsecops-pipeline/docs/NACHPRUEFUNG.md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30 Sekunden</a:t>
            </a:r>
          </a:p>
          <a:p xmlns:a="http://schemas.openxmlformats.org/drawingml/2006/main">
            <a:r>
              <a:t/>
            </a:r>
          </a:p>
          <a:p xmlns:a="http://schemas.openxmlformats.org/drawingml/2006/main">
            <a:r>
              <a:t>Die Aufgabe verlangt mindestens vier Tools und drei ausführbare Beispiele. Wir verwenden drei unterschiedliche Programme und prüfen jede Variante mit derselben Policy. Acht Werkzeuge sind beteiligt, wobei Syft ein Inventar erzeugt und selbst keine Schwachstellenbewertung liefert. Die bereitgestellte GitHub-Aufnahme und die lokalen Nachweise ergänzen sich.</a:t>
            </a:r>
          </a:p>
          <a:p xmlns:a="http://schemas.openxmlformats.org/drawingml/2006/main">
            <a:r>
              <a:t/>
            </a:r>
          </a:p>
          <a:p xmlns:a="http://schemas.openxmlformats.org/drawingml/2006/main">
            <a:r>
              <a:t>Quelle: 06_SecureDevelopment.pdf, Georg Graupner, WS 2024, S.47 / PDF48</a:t>
            </a:r>
          </a:p>
          <a:p xmlns:a="http://schemas.openxmlformats.org/drawingml/2006/main">
            <a:r>
              <a:t>Quelle: devsecops-pipeline/docs/NACHPRUEFUNG.md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60 Sekunden</a:t>
            </a:r>
          </a:p>
          <a:p xmlns:a="http://schemas.openxmlformats.org/drawingml/2006/main">
            <a:r>
              <a:t/>
            </a:r>
          </a:p>
          <a:p xmlns:a="http://schemas.openxmlformats.org/drawingml/2006/main">
            <a:r>
              <a:t>Der Python-Orchestrator ist die gemeinsame Implementierung für lokale Läufe und beide CI-Konfigurationen. Grundlegende Scans laufen vor dem ersten Gate. Die CLI wird schon davor tatsächlich gebaut und gestartet, damit ihre Lauffähigkeit belegt ist. Webdienste starten erst nach bestandenem Image-Gate. Das Diagramm zeigt diesen Grundpfad vereinfacht. Jede Security-Ablehnung stoppt spätere Schritte. Der Abschluss schreibt die vorhandenen Ergebnisse und räumt auf. Publishing ist optional und nicht als funktionierend nachgewiesen.</a:t>
            </a:r>
          </a:p>
          <a:p xmlns:a="http://schemas.openxmlformats.org/drawingml/2006/main">
            <a:r>
              <a:t/>
            </a:r>
          </a:p>
          <a:p xmlns:a="http://schemas.openxmlformats.org/drawingml/2006/main">
            <a:r>
              <a:t>Quelle: devsecops-pipeline/scripts/pipeline.py, insbesondere execute(), build(), deploy(), dast()</a:t>
            </a:r>
          </a:p>
          <a:p xmlns:a="http://schemas.openxmlformats.org/drawingml/2006/main">
            <a:r>
              <a:t>Quelle: devsecops-pipeline/scripts/smoke.py</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45 Sekunden</a:t>
            </a:r>
          </a:p>
          <a:p xmlns:a="http://schemas.openxmlformats.org/drawingml/2006/main">
            <a:r>
              <a:t/>
            </a:r>
          </a:p>
          <a:p xmlns:a="http://schemas.openxmlformats.org/drawingml/2006/main">
            <a:r>
              <a:t>Die Vorlesung trennt SAST, SCA, DAST und Container Security. Auf der gedruckten Folie 46 stehen Bandit, Semgrep, ZAP und Trivy ausdrücklich. Wir nutzen Trivy zusätzlich für den Paketkontext und ersetzen damit im Projekt die Funktion eines separaten Dependency-Check-Laufs. hadolint, Dockle, Gitleaks und Syft ergänzen den genannten Werkzeugkasten. Syft untersucht das Quellverzeichnis und erstellt eine CycloneDX-SBOM. Vault und DefectDojo sind keine nachgewiesenen Bestandteile des Scan-Pfads.</a:t>
            </a:r>
          </a:p>
          <a:p xmlns:a="http://schemas.openxmlformats.org/drawingml/2006/main">
            <a:r>
              <a:t/>
            </a:r>
          </a:p>
          <a:p xmlns:a="http://schemas.openxmlformats.org/drawingml/2006/main">
            <a:r>
              <a:t>Quelle: 06_SecureDevelopment.pdf, Georg Graupner, WS 2024, S.32–33,37–39,42,46 / PDF33–34,38–40,43,47</a:t>
            </a:r>
          </a:p>
          <a:p xmlns:a="http://schemas.openxmlformats.org/drawingml/2006/main">
            <a:r>
              <a:t>Quelle: devsecops-pipeline/scripts/collect.py: SOURCES</a:t>
            </a:r>
          </a:p>
          <a:p xmlns:a="http://schemas.openxmlformats.org/drawingml/2006/main">
            <a:r>
              <a:t>Quelle: devsecops-pipeline/scripts/pipeline.py: scans()</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45 Sekunden</a:t>
            </a:r>
          </a:p>
          <a:p xmlns:a="http://schemas.openxmlformats.org/drawingml/2006/main">
            <a:r>
              <a:t/>
            </a:r>
          </a:p>
          <a:p xmlns:a="http://schemas.openxmlformats.org/drawingml/2006/main">
            <a:r>
              <a:t>Die Eingabe name stammt aus dem HTTP-Request. In der verwundbaren Variante verändert sie direkt den SQL-Text. Ein gezielter ursprünglicher Funktionstest lieferte für die Eingabe Apostroph OR 1=1 Datensätze. Die bereinigte Abfrage verwendet einen gebundenen Parameter. Semgrep erkennt im Lehrregelsatz den Datenfluss von request.args.get zur execute-Senke. Zusätzlich demonstriert die API XSS, Shell-Injection, MD5 und Debug-Modus. SHA-256 ist hier ein allgemeines Hash-Beispiel, kein Passwortspeicherverfahren. ZAP beweist in unserem passiven Modus diese Angriffe nicht.</a:t>
            </a:r>
          </a:p>
          <a:p xmlns:a="http://schemas.openxmlformats.org/drawingml/2006/main">
            <a:r>
              <a:t/>
            </a:r>
          </a:p>
          <a:p xmlns:a="http://schemas.openxmlformats.org/drawingml/2006/main">
            <a:r>
              <a:t>Quelle: devsecops-pipeline/workloads/01-flask-api/vulnerable/app.py</a:t>
            </a:r>
          </a:p>
          <a:p xmlns:a="http://schemas.openxmlformats.org/drawingml/2006/main">
            <a:r>
              <a:t>Quelle: devsecops-pipeline/workloads/01-flask-api/fixed/app.py</a:t>
            </a:r>
          </a:p>
          <a:p xmlns:a="http://schemas.openxmlformats.org/drawingml/2006/main">
            <a:r>
              <a:t>Quelle: devsecops-pipeline/policy/semgrep.yml: request-to-sql</a:t>
            </a:r>
          </a:p>
          <a:p xmlns:a="http://schemas.openxmlformats.org/drawingml/2006/main">
            <a:r>
              <a:t>Quelle: devsecops-pipeline/docs/FINDINGS_BEWERTUNG.md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40 Sekunden</a:t>
            </a:r>
          </a:p>
          <a:p xmlns:a="http://schemas.openxmlformats.org/drawingml/2006/main">
            <a:r>
              <a:t/>
            </a:r>
          </a:p>
          <a:p xmlns:a="http://schemas.openxmlformats.org/drawingml/2006/main">
            <a:r>
              <a:t>Die CLI zeigt die Trennung zwischen eigenem Code und fremden Komponenten. unsafe_load kann Python-spezifische Objekte deserialisieren, verify=False schaltet Zertifikatsprüfung aus und mktemp legt die Datei nicht atomar an. Die Gegenmaßnahmen sind Safe Loader, aktive TLS-Prüfung und NamedTemporaryFile. Alte Dependencies erzeugen zusätzliche SCA-Meldungen. Die alte Laufzeit musste kompatibel bleiben, damit die verwundbare CLI tatsächlich startet. Der Hauptpfad lädt nur die YAML-Konfiguration. fetch und cache dienen als statisch prüfbare Beispiele. Die HTTPS-Schemabeschränkung ist kein vollständiger SSRF-Schutz.</a:t>
            </a:r>
          </a:p>
          <a:p xmlns:a="http://schemas.openxmlformats.org/drawingml/2006/main">
            <a:r>
              <a:t/>
            </a:r>
          </a:p>
          <a:p xmlns:a="http://schemas.openxmlformats.org/drawingml/2006/main">
            <a:r>
              <a:t>Quelle: devsecops-pipeline/workloads/02-cli-deps/vulnerable/main.py</a:t>
            </a:r>
          </a:p>
          <a:p xmlns:a="http://schemas.openxmlformats.org/drawingml/2006/main">
            <a:r>
              <a:t>Quelle: devsecops-pipeline/workloads/02-cli-deps/fixed/main.py</a:t>
            </a:r>
          </a:p>
          <a:p xmlns:a="http://schemas.openxmlformats.org/drawingml/2006/main">
            <a:r>
              <a:t>Quelle: devsecops-pipeline/workloads/02-cli-deps/fixed/requirements.txt</a:t>
            </a:r>
          </a:p>
          <a:p xmlns:a="http://schemas.openxmlformats.org/drawingml/2006/main">
            <a:r>
              <a:t>Quelle: devsecops-pipeline/docs/FINDINGS_BEWERTUNG.md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40 Sekunden</a:t>
            </a:r>
          </a:p>
          <a:p xmlns:a="http://schemas.openxmlformats.org/drawingml/2006/main">
            <a:r>
              <a:t/>
            </a:r>
          </a:p>
          <a:p xmlns:a="http://schemas.openxmlformats.org/drawingml/2006/main">
            <a:r>
              <a:t>Ein Dateiname mit Punkt-Punkt-Schrägstrich kann in der verwundbaren Variante das Datenverzeichnis verlassen. resolve und is_relative_to prüfen das tatsächlich aufgelöste Ziel. Fixed liefert nur Metadaten statt des ursprünglichen Dateiinhalts, reduziert also auch die Funktion. Daneben enthält die verwundbare Variante künstliche Secrets, die korrekt erkannt werden sollen. In Fixed injiziert die Pipeline einen zufälligen Test-Token als Umgebungsvariable. Wichtig bei Rückfragen: Der Handler implementiert keine Tokenprüfung für HTTP-Requests. Vault ist hier nicht angeschlossen.</a:t>
            </a:r>
          </a:p>
          <a:p xmlns:a="http://schemas.openxmlformats.org/drawingml/2006/main">
            <a:r>
              <a:t/>
            </a:r>
          </a:p>
          <a:p xmlns:a="http://schemas.openxmlformats.org/drawingml/2006/main">
            <a:r>
              <a:t>Quelle: devsecops-pipeline/workloads/03-container-service/vulnerable/app.py</a:t>
            </a:r>
          </a:p>
          <a:p xmlns:a="http://schemas.openxmlformats.org/drawingml/2006/main">
            <a:r>
              <a:t>Quelle: devsecops-pipeline/workloads/03-container-service/fixed/app.py</a:t>
            </a:r>
          </a:p>
          <a:p xmlns:a="http://schemas.openxmlformats.org/drawingml/2006/main">
            <a:r>
              <a:t>Quelle: devsecops-pipeline/scripts/pipeline.py: deploy()</a:t>
            </a:r>
          </a:p>
          <a:p xmlns:a="http://schemas.openxmlformats.org/drawingml/2006/main">
            <a:r>
              <a:t>Quelle: devsecops-pipeline/docs/FINDINGS_BEWERTUNG.md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35 Sekunden</a:t>
            </a:r>
          </a:p>
          <a:p xmlns:a="http://schemas.openxmlformats.org/drawingml/2006/main">
            <a:r>
              <a:t/>
            </a:r>
          </a:p>
          <a:p xmlns:a="http://schemas.openxmlformats.org/drawingml/2006/main">
            <a:r>
              <a:t>Ein Push oder Pull Request startet die Tests. needs: tests hält die sechs Matrixfälle bis zu deren Erfolg zurück. Jeder Matrixfall verwendet demo.py mit genau einem Workload. fail-fast: false lässt andere Matrixfälle weiterlaufen, wenn einer unerwartet fehlschlägt. fetch-depth: 0 ermöglicht den History-Scan. Das Arbeitsverzeichnis ist das Unterverzeichnis devsecops-pipeline. Die Rohberichte werden als Artefakte hochgeladen. Der Screenshot belegt den ersten erfolgreichen Push-Lauf, keine Laufzeitgarantie für künftige Durchläufe. GitLab ist alternativ konfiguriert, aber nicht live nachgewiesen.</a:t>
            </a:r>
          </a:p>
          <a:p xmlns:a="http://schemas.openxmlformats.org/drawingml/2006/main">
            <a:r>
              <a:t/>
            </a:r>
          </a:p>
          <a:p xmlns:a="http://schemas.openxmlformats.org/drawingml/2006/main">
            <a:r>
              <a:t>Quelle: .github/workflows/devsecops.yml</a:t>
            </a:r>
          </a:p>
          <a:p xmlns:a="http://schemas.openxmlformats.org/drawingml/2006/main">
            <a:r>
              <a:t>Quelle: devsecops-pipeline/docs/NACHPRUEFUNG.md, Abschnitt Aussagegrenzen</a:t>
            </a:r>
          </a:p>
          <a:p xmlns:a="http://schemas.openxmlformats.org/drawingml/2006/main">
            <a:r>
              <a:t>Quelle: Benutzerbereitgestellter GitHub-Actions-Screenshot: Workflow #1, Commit 234b46a, 3m2s</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45 Sekunden</a:t>
            </a:r>
          </a:p>
          <a:p xmlns:a="http://schemas.openxmlformats.org/drawingml/2006/main">
            <a:r>
              <a:t/>
            </a:r>
          </a:p>
          <a:p xmlns:a="http://schemas.openxmlformats.org/drawingml/2006/main">
            <a:r>
              <a:t>Die Regeln stehen als versionierte Policy im Repository. Ein erfolgreich ausgeführter Scanner kann Findings melden, deshalb bedeutet Checkstatus ok noch keine Security-Freigabe. Die Pipeline trennt Prozessausführung, normalisierte Findings und Gateentscheidung. Fehlende oder beschädigte Pflichtberichte führen zu ERROR. Die DAST-Warnregel ist eine bewusste Lehrprojektentscheidung. Sie beweist weder, dass DAST-Meldungen falsch sind, noch dass HIGH-SCA-Lücken harmlos sind. Für Produktion müsste die Policy zum tatsächlichen Risiko passen. Das getestete Gate ist Python, nicht der historische OPA-Entwurf.</a:t>
            </a:r>
          </a:p>
          <a:p xmlns:a="http://schemas.openxmlformats.org/drawingml/2006/main">
            <a:r>
              <a:t/>
            </a:r>
          </a:p>
          <a:p xmlns:a="http://schemas.openxmlformats.org/drawingml/2006/main">
            <a:r>
              <a:t>Quelle: devsecops-pipeline/policy/thresholds.yaml</a:t>
            </a:r>
          </a:p>
          <a:p xmlns:a="http://schemas.openxmlformats.org/drawingml/2006/main">
            <a:r>
              <a:t>Quelle: devsecops-pipeline/scripts/gate.py</a:t>
            </a:r>
          </a:p>
          <a:p xmlns:a="http://schemas.openxmlformats.org/drawingml/2006/main">
            <a:r>
              <a:t>Quelle: devsecops-pipeline/scripts/normalize.py: validate_report()</a:t>
            </a:r>
          </a:p>
          <a:p xmlns:a="http://schemas.openxmlformats.org/drawingml/2006/main">
            <a:r>
              <a:t>Quelle: devsecops-pipeline/scripts/pipeline.py: check(), checkpoint()</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45 Sekunden</a:t>
            </a:r>
          </a:p>
          <a:p xmlns:a="http://schemas.openxmlformats.org/drawingml/2006/main">
            <a:r>
              <a:t/>
            </a:r>
          </a:p>
          <a:p xmlns:a="http://schemas.openxmlformats.org/drawingml/2006/main">
            <a:r>
              <a:t>Die Zahlen stammen aus dem archivierten Offline-Durchgang, der dem finalen Implementierungshash zugeordnet ist. Die drei Negativfälle haben 8, 4 und 10 aktive blockierende Findings. Alle Fixed-Fälle haben null aktive Blocker und jeweils genau eine überprüfte Ausnahme. Online traten dieselben erwarteten Gateentscheidungen ein. Findings können sich überlappen und sind keine Anzahl unabhängig ausnutzbarer Fehler. Die 41 aktuellen Tests der Pipeline-Logik wurden ebenfalls dokumentiert. Zusammen mit neun ursprünglichen Akzeptanzprüfungen waren es unter Windows 50, nicht 50 in der regulären Suite.</a:t>
            </a:r>
          </a:p>
          <a:p xmlns:a="http://schemas.openxmlformats.org/drawingml/2006/main">
            <a:r>
              <a:t/>
            </a:r>
          </a:p>
          <a:p xmlns:a="http://schemas.openxmlformats.org/drawingml/2006/main">
            <a:r>
              <a:t>Quelle: devsecops-pipeline/docs/validation/2026-10-21-fixed/results.json</a:t>
            </a:r>
          </a:p>
          <a:p xmlns:a="http://schemas.openxmlformats.org/drawingml/2006/main">
            <a:r>
              <a:t>Quelle: devsecops-pipeline/docs/NACHPRUEFUNG.md</a:t>
            </a:r>
          </a:p>
          <a:p xmlns:a="http://schemas.openxmlformats.org/drawingml/2006/main">
            <a:r>
              <a:t>Quelle: devsecops-pipeline/docs/validation/2026-10-21-fixed/FINDINGS_REPORT.md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50 Sekunden</a:t>
            </a:r>
          </a:p>
          <a:p xmlns:a="http://schemas.openxmlformats.org/drawingml/2006/main">
            <a:r>
              <a:t/>
            </a:r>
          </a:p>
          <a:p xmlns:a="http://schemas.openxmlformats.org/drawingml/2006/main">
            <a:r>
              <a:t>Diese Probleme stammen aus der dokumentierten Erstvalidierung und ihren Korrekturen. Ein Werkzeugaufruf allein ist kein Nachweis eines funktionierenden Security-Schritts. Besonders kritisch war die frühere Freigabe bei ausgefallener Runtime. Die neue Logik verlangt erfolgreiche Checks und gültige Reports. Für den CLI-Negativfall mussten absichtlich alte, aber miteinander kompatible Pakete gewählt werden. Der Deduplizierungsschlüssel musste den Kontext behalten: Eine HIGH-CVE kann im SCA-Pfad warnen, im Image-Pfad aber blockieren. Regressionstests sichern diese Korrekturen ab.</a:t>
            </a:r>
          </a:p>
          <a:p xmlns:a="http://schemas.openxmlformats.org/drawingml/2006/main">
            <a:r>
              <a:t/>
            </a:r>
          </a:p>
          <a:p xmlns:a="http://schemas.openxmlformats.org/drawingml/2006/main">
            <a:r>
              <a:t>Quelle: devsecops-pipeline/docs/VALIDIERUNG.md, historischer Erstbefund</a:t>
            </a:r>
          </a:p>
          <a:p xmlns:a="http://schemas.openxmlformats.org/drawingml/2006/main">
            <a:r>
              <a:t>Quelle: devsecops-pipeline/docs/NACHPRUEFUNG.md, Korrekturen zu den zehn Befundgruppen</a:t>
            </a:r>
          </a:p>
          <a:p xmlns:a="http://schemas.openxmlformats.org/drawingml/2006/main">
            <a:r>
              <a:t>Quelle: devsecops-pipeline/tests/test_gate.py</a:t>
            </a:r>
          </a:p>
          <a:p xmlns:a="http://schemas.openxmlformats.org/drawingml/2006/main">
            <a:r>
              <a:t>Quelle: devsecops-pipeline/tests/test_regressions.py</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40 Sekunden</a:t>
            </a:r>
          </a:p>
          <a:p xmlns:a="http://schemas.openxmlformats.org/drawingml/2006/main">
            <a:r>
              <a:t/>
            </a:r>
          </a:p>
          <a:p xmlns:a="http://schemas.openxmlformats.org/drawingml/2006/main">
            <a:r>
              <a:t>Die Ausnahme ist der wichtigste Fall manueller Triage. Dockle beanstandet einen Paketmanager-Aufruf des offiziellen Python-Alpine-Images. Die erste Installation nutzt no-cache, die spätere lokale Abhängigkeitsauflösung no-network. Wir prüfen zusätzlich, dass keine Paketcache-Dateien vorhanden sind. Die Ausnahme ist eng an Workload, Basis-Digest und Meldungstext gebunden, hat einen Owner und läuft am 20. November 2026 ab. Sie wird nicht verwendet, um neue echte Findings still verschwinden zu lassen. Andere Warnungen, etwa das Binden an Containerinterfaces, erfordern ebenfalls Kontextbewertung. Eine pauschale False-Positive-Quote wurde nicht ermittelt.</a:t>
            </a:r>
          </a:p>
          <a:p xmlns:a="http://schemas.openxmlformats.org/drawingml/2006/main">
            <a:r>
              <a:t/>
            </a:r>
          </a:p>
          <a:p xmlns:a="http://schemas.openxmlformats.org/drawingml/2006/main">
            <a:r>
              <a:t>Quelle: devsecops-pipeline/policy/suppressions.json</a:t>
            </a:r>
          </a:p>
          <a:p xmlns:a="http://schemas.openxmlformats.org/drawingml/2006/main">
            <a:r>
              <a:t>Quelle: devsecops-pipeline/scripts/gate.py: load_suppressions(), suppression_matches()</a:t>
            </a:r>
          </a:p>
          <a:p xmlns:a="http://schemas.openxmlformats.org/drawingml/2006/main">
            <a:r>
              <a:t>Quelle: devsecops-pipeline/scripts/pipeline.py: image_scan()</a:t>
            </a:r>
          </a:p>
          <a:p xmlns:a="http://schemas.openxmlformats.org/drawingml/2006/main">
            <a:r>
              <a:t>Quelle: devsecops-pipeline/docs/FINDINGS_BEWERTUNG.md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180 Sekunden</a:t>
            </a:r>
          </a:p>
          <a:p xmlns:a="http://schemas.openxmlformats.org/drawingml/2006/main">
            <a:r>
              <a:t/>
            </a:r>
          </a:p>
          <a:p xmlns:a="http://schemas.openxmlformats.org/drawingml/2006/main">
            <a:r>
              <a:t>Vor dem Vortrag prepare.py und einen vollständigen Demo-Lauf durchführen. Für diese drei Minuten bevorzugt einen vorbereiteten verwundbaren Lauf anstoßen und den Fixed-Lauf sowie die übrigen Programme aus gespeicherten Nachweisen zeigen. Nur bei rechtzeitig abgeschlossenem Fixed-Lauf live in die neuen Dateien wechseln. In GitHub den Push-Trigger und die sechs Matrixfälle zeigen. Am Code des Dateidienstes das künstliche Secret und den ungeprüften Pfad erklären. Im Bericht FAIL mit aktiven Blockern zeigen und danach das Fixed-PASS mit dokumentierter Ausnahme. Nicht sechs vollständige Scannerläufe abwarten. Der grüne Demo-Job prüft die erwartete Ablehnung der Negativfälle. Bei Wartezeit mit Archiv oder vorbereiteter Aufnahme fortfahren, ohne eine Aufzeichnung als Live-Lauf zu bezeichnen. Eine Aufnahme muss die Gruppe vor dem Termin selbst erstellen.</a:t>
            </a:r>
          </a:p>
          <a:p xmlns:a="http://schemas.openxmlformats.org/drawingml/2006/main">
            <a:r>
              <a:t/>
            </a:r>
          </a:p>
          <a:p xmlns:a="http://schemas.openxmlformats.org/drawingml/2006/main">
            <a:r>
              <a:t>Quelle: devsecops-pipeline/docs/DEMO_SCRIPT.md</a:t>
            </a:r>
          </a:p>
          <a:p xmlns:a="http://schemas.openxmlformats.org/drawingml/2006/main">
            <a:r>
              <a:t>Quelle: devsecops-pipeline/scripts/demo.py</a:t>
            </a:r>
          </a:p>
          <a:p xmlns:a="http://schemas.openxmlformats.org/drawingml/2006/main">
            <a:r>
              <a:t>Quelle: devsecops-pipeline/docs/validation/2026-10-21-fixed/evidence.zip</a:t>
            </a:r>
          </a:p>
          <a:p xmlns:a="http://schemas.openxmlformats.org/drawingml/2006/main">
            <a:r>
              <a:t>Quelle: devsecops-pipeline/docs/NACHPRUEFUNG.md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40 Sekunden</a:t>
            </a:r>
          </a:p>
          <a:p xmlns:a="http://schemas.openxmlformats.org/drawingml/2006/main">
            <a:r>
              <a:t/>
            </a:r>
          </a:p>
          <a:p xmlns:a="http://schemas.openxmlformats.org/drawingml/2006/main">
            <a:r>
              <a:t>Die wichtigste Erkenntnis ist das Vertrauen in den Prüfablauf selbst: Null Findings sind nur dann sinnvoll, wenn die Scanner korrekt gearbeitet haben. Ein Negativtest darf weder an fehlenden Dependencies noch an einem Scanner-Absturz scheitern. Außerdem kann dieselbe CVE in verschiedenen Kontexten unterschiedliche Gateaktionen auslösen. Ein grüner Lauf ersetzt keine manuelle Bewertung. Feste Toolimages alleine garantieren keine identischen Ergebnisse, weil aktualisierte Datenbanken neue Schwachstellen kennen. Deshalb archivieren wir Rohdaten und den zugehörigen Implementierungsstand.</a:t>
            </a:r>
          </a:p>
          <a:p xmlns:a="http://schemas.openxmlformats.org/drawingml/2006/main">
            <a:r>
              <a:t/>
            </a:r>
          </a:p>
          <a:p xmlns:a="http://schemas.openxmlformats.org/drawingml/2006/main">
            <a:r>
              <a:t>Quelle: devsecops-pipeline/docs/NACHPRUEFUNG.md</a:t>
            </a:r>
          </a:p>
          <a:p xmlns:a="http://schemas.openxmlformats.org/drawingml/2006/main">
            <a:r>
              <a:t>Quelle: devsecops-pipeline/docs/FINDINGS_BEWERTUNG.md</a:t>
            </a:r>
          </a:p>
          <a:p xmlns:a="http://schemas.openxmlformats.org/drawingml/2006/main">
            <a:r>
              <a:t>Quelle: devsecops-pipeline/scripts/normalize.py: dedupe()</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60 Sekunden</a:t>
            </a:r>
          </a:p>
          <a:p xmlns:a="http://schemas.openxmlformats.org/drawingml/2006/main">
            <a:r>
              <a:t/>
            </a:r>
          </a:p>
          <a:p xmlns:a="http://schemas.openxmlformats.org/drawingml/2006/main">
            <a:r>
              <a:t>Unsere Bewertung bezieht sich auf die Pipeline und die Demonstrationsanwendungen. Der gemeinsame Orchestrator mit fail-closed Verhalten ist als Ausgangspunkt für reale CI-Prüfungen geeignet. Den aktuellen Stand würden wir nicht unverändert als Produktionsfreigabe verwenden. ZAP arbeitet nur passiv, die Semgrep-Regeln sind ein enger Lehrregelsatz und DAST-Findings blockieren nicht. Die Anwendungen sind Demonstratoren ohne vollständige Authentifizierung und Produktionsserverkonzept. Zusätzlich müssten verbindliche Reviews, sichere Runner und Secrets-Verwaltung, Lieferkettennachweise, Verantwortlichkeiten, Monitoring und Rollback nachgewiesen werden. GitHub empfiehlt vollständige Commit-SHAs für Actions. OWASP beschreibt getrennte Berechtigungen, sichere Ausführungsumgebungen und Integritätssicherung. Die Tabelle ist unsere begründete Projektauswertung, keine formale Zertifizierung.</a:t>
            </a:r>
          </a:p>
          <a:p xmlns:a="http://schemas.openxmlformats.org/drawingml/2006/main">
            <a:r>
              <a:t/>
            </a:r>
          </a:p>
          <a:p xmlns:a="http://schemas.openxmlformats.org/drawingml/2006/main">
            <a:r>
              <a:t>Quelle: devsecops-pipeline/docs/NACHPRUEFUNG.md</a:t>
            </a:r>
          </a:p>
          <a:p xmlns:a="http://schemas.openxmlformats.org/drawingml/2006/main">
            <a:r>
              <a:t>Quelle: devsecops-pipeline/policy/semgrep.yml</a:t>
            </a:r>
          </a:p>
          <a:p xmlns:a="http://schemas.openxmlformats.org/drawingml/2006/main">
            <a:r>
              <a:t>Quelle: devsecops-pipeline/policy/thresholds.yaml</a:t>
            </a:r>
          </a:p>
          <a:p xmlns:a="http://schemas.openxmlformats.org/drawingml/2006/main">
            <a:r>
              <a:t>Quelle: 06_SecureDevelopment.pdf, Georg Graupner, WS 2024, S.17,33–34,36 / PDF18,34–35,37</a:t>
            </a:r>
          </a:p>
          <a:p xmlns:a="http://schemas.openxmlformats.org/drawingml/2006/main">
            <a:r>
              <a:t>Quelle: https://docs.github.com/en/actions/reference/security/secure-use</a:t>
            </a:r>
          </a:p>
          <a:p xmlns:a="http://schemas.openxmlformats.org/drawingml/2006/main">
            <a:r>
              <a:t>Quelle: https://cheatsheetseries.owasp.org/cheatsheets/CI_CD_Security_Cheat_Sheet.html</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Zeitbudget: 20 Sekunden</a:t>
            </a:r>
          </a:p>
          <a:p xmlns:a="http://schemas.openxmlformats.org/drawingml/2006/main">
            <a:r>
              <a:t/>
            </a:r>
          </a:p>
          <a:p xmlns:a="http://schemas.openxmlformats.org/drawingml/2006/main">
            <a:r>
              <a:t>Wir haben die Aufgabenstellung mit einer ausführbaren und dokumentierten Pipeline umgesetzt. Der belastbare Nachweis ist die Verbindung aus automatisch ausgelöster Ausführung, realen Rohreports und erwarteten Gateentscheidungen. Als nächstes würden wir Testabdeckung und verbindliche Betriebsprozesse ausbauen. Für Rückfragen stehen die folgenden Reservefolien und die ausführliche README zur Verfügung.</a:t>
            </a:r>
          </a:p>
          <a:p xmlns:a="http://schemas.openxmlformats.org/drawingml/2006/main">
            <a:r>
              <a:t/>
            </a:r>
          </a:p>
          <a:p xmlns:a="http://schemas.openxmlformats.org/drawingml/2006/main">
            <a:r>
              <a:t>Quelle: devsecops-pipeline/docs/NACHPRUEFUNG.md</a:t>
            </a:r>
          </a:p>
          <a:p xmlns:a="http://schemas.openxmlformats.org/drawingml/2006/main">
            <a:r>
              <a:t>Quelle: devsecops-pipeline/README_PIPELINE_ERKLAERT.md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Reservefolie, nicht Teil des regulären Vortrags</a:t>
            </a:r>
          </a:p>
          <a:p xmlns:a="http://schemas.openxmlformats.org/drawingml/2006/main">
            <a:r>
              <a:t/>
            </a:r>
          </a:p>
          <a:p xmlns:a="http://schemas.openxmlformats.org/drawingml/2006/main">
            <a:r>
              <a:t>Das Gate ordnet Testklasse und Severity einer Aktion zu. Fehlende, ungültige oder abgelaufene Ausnahmen unterdrücken kein Finding. Eine SCA-HIGH-Meldung kann warnen und dieselbe CVE als Image-HIGH blockieren. Genau deshalb gehört die Testklasse zum Deduplizierungsschlüssel.</a:t>
            </a:r>
          </a:p>
          <a:p xmlns:a="http://schemas.openxmlformats.org/drawingml/2006/main">
            <a:r>
              <a:t/>
            </a:r>
          </a:p>
          <a:p xmlns:a="http://schemas.openxmlformats.org/drawingml/2006/main">
            <a:r>
              <a:t>Quelle: devsecops-pipeline/policy/thresholds.yaml</a:t>
            </a:r>
          </a:p>
          <a:p xmlns:a="http://schemas.openxmlformats.org/drawingml/2006/main">
            <a:r>
              <a:t>Quelle: devsecops-pipeline/scripts/gate.py</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Reservefolie, nicht Teil des regulären Vortrags</a:t>
            </a:r>
          </a:p>
          <a:p xmlns:a="http://schemas.openxmlformats.org/drawingml/2006/main">
            <a:r>
              <a:t/>
            </a:r>
          </a:p>
          <a:p xmlns:a="http://schemas.openxmlformats.org/drawingml/2006/main">
            <a:r>
              <a:t>check() verlangt einen erlaubten Tool-Exit-Code und strukturell plausible Reports. checkpoint() sammelt Ergebnisse neu und kontrolliert die Übereinstimmung von Gate-JSON und Exit-Code. Der Demo-Runner erwartet für vulnerable FAIL mit mindestens einem Blocker und Exit 1, für fixed PASS mit Exit 0. Ein technischer Fehler wird nie zum erfolgreichen Negativtest.</a:t>
            </a:r>
          </a:p>
          <a:p xmlns:a="http://schemas.openxmlformats.org/drawingml/2006/main">
            <a:r>
              <a:t/>
            </a:r>
          </a:p>
          <a:p xmlns:a="http://schemas.openxmlformats.org/drawingml/2006/main">
            <a:r>
              <a:t>Quelle: devsecops-pipeline/scripts/pipeline.py</a:t>
            </a:r>
          </a:p>
          <a:p xmlns:a="http://schemas.openxmlformats.org/drawingml/2006/main">
            <a:r>
              <a:t>Quelle: devsecops-pipeline/scripts/collect.py</a:t>
            </a:r>
          </a:p>
          <a:p xmlns:a="http://schemas.openxmlformats.org/drawingml/2006/main">
            <a:r>
              <a:t>Quelle: devsecops-pipeline/scripts/normalize.py</a:t>
            </a:r>
          </a:p>
          <a:p xmlns:a="http://schemas.openxmlformats.org/drawingml/2006/main">
            <a:r>
              <a:t>Quelle: devsecops-pipeline/scripts/gate.py</a:t>
            </a:r>
          </a:p>
          <a:p xmlns:a="http://schemas.openxmlformats.org/drawingml/2006/main">
            <a:r>
              <a:t>Quelle: devsecops-pipeline/scripts/report.py</a:t>
            </a:r>
          </a:p>
          <a:p xmlns:a="http://schemas.openxmlformats.org/drawingml/2006/main">
            <a:r>
              <a:t>Quelle: devsecops-pipeline/scripts/demo.py</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Reservefolie, nicht Teil des regulären Vortrags</a:t>
            </a:r>
          </a:p>
          <a:p xmlns:a="http://schemas.openxmlformats.org/drawingml/2006/main">
            <a:r>
              <a:t/>
            </a:r>
          </a:p>
          <a:p xmlns:a="http://schemas.openxmlformats.org/drawingml/2006/main">
            <a:r>
              <a:t>prepare.py lädt Toolimages und Datenbanken, baut aber nicht alle Anwendungsimages. Für offline müssen die exakt zu den Quellen passenden Images vorhanden sein. Früh abgelehnte Webvarianten bei Bedarf vorher mit smoke.py bauen und funktional prüfen. Der lokale Online-Lauf brauchte etwa 599 Sekunden. Ein Offline-History-Check erfasste ungefähr 4265 Sekunden, Ursache ungeklärt. Keine Benchmarkbehauptung daraus ableiten. Einen neuen Fixed-FAIL durch CVEs offen bewerten und beheben, statt für die Demo die Policy abzusenken.</a:t>
            </a:r>
          </a:p>
          <a:p xmlns:a="http://schemas.openxmlformats.org/drawingml/2006/main">
            <a:r>
              <a:t/>
            </a:r>
          </a:p>
          <a:p xmlns:a="http://schemas.openxmlformats.org/drawingml/2006/main">
            <a:r>
              <a:t>Quelle: devsecops-pipeline/scripts/prepare.py</a:t>
            </a:r>
          </a:p>
          <a:p xmlns:a="http://schemas.openxmlformats.org/drawingml/2006/main">
            <a:r>
              <a:t>Quelle: devsecops-pipeline/scripts/smoke.py</a:t>
            </a:r>
          </a:p>
          <a:p xmlns:a="http://schemas.openxmlformats.org/drawingml/2006/main">
            <a:r>
              <a:t>Quelle: devsecops-pipeline/docs/DEMO_SCRIPT.md</a:t>
            </a:r>
          </a:p>
          <a:p xmlns:a="http://schemas.openxmlformats.org/drawingml/2006/main">
            <a:r>
              <a:t>Quelle: devsecops-pipeline/docs/NACHPRUEFUNG.md</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Reservefolie, nicht Teil des regulären Vortrags</a:t>
            </a:r>
          </a:p>
          <a:p xmlns:a="http://schemas.openxmlformats.org/drawingml/2006/main">
            <a:r>
              <a:t/>
            </a:r>
          </a:p>
          <a:p xmlns:a="http://schemas.openxmlformats.org/drawingml/2006/main">
            <a:r>
              <a:t>Die Seitenangaben im Vortrag beziehen sich auf die aufgedruckten Foliennummern des Skripts. Die PDF-Seitenzählung ist ab Folie 7 um eine Seite verschoben, da Folie 6 eine zusätzliche Notizseite hat. Konkrete Toolbezüge: Skriptfolie 46 ist PDF-Seite 47, Aufgabenstellung Folie 47 ist PDF-Seite 48. Externe Empfehlungen wurden am 21.10.2026 konsultiert. Die Detailquellen jeder Folie stehen zusätzlich in ihren Sprechernotizen. Die Grafikelemente Logo und Welle stammen aus der bereitgestellten Titelfolie.</a:t>
            </a:r>
          </a:p>
          <a:p xmlns:a="http://schemas.openxmlformats.org/drawingml/2006/main">
            <a:r>
              <a:t/>
            </a:r>
          </a:p>
          <a:p xmlns:a="http://schemas.openxmlformats.org/drawingml/2006/main">
            <a:r>
              <a:t>Quelle: 06_SecureDevelopment.pdf, Georg Graupner, WS 2024</a:t>
            </a:r>
          </a:p>
          <a:p xmlns:a="http://schemas.openxmlformats.org/drawingml/2006/main">
            <a:r>
              <a:t>Quelle: devsecops-pipeline/docs/NACHPRUEFUNG.md</a:t>
            </a:r>
          </a:p>
          <a:p xmlns:a="http://schemas.openxmlformats.org/drawingml/2006/main">
            <a:r>
              <a:t>Quelle: devsecops-pipeline/docs/FINDINGS_BEWERTUNG.md</a:t>
            </a:r>
          </a:p>
          <a:p xmlns:a="http://schemas.openxmlformats.org/drawingml/2006/main">
            <a:r>
              <a:t>Quelle: devsecops-pipeline/docs/validation/2026-10-21-fixed/results.json</a:t>
            </a:r>
          </a:p>
          <a:p xmlns:a="http://schemas.openxmlformats.org/drawingml/2006/main">
            <a:r>
              <a:t>Quelle: https://docs.github.com/en/actions/reference/security/secure-use</a:t>
            </a:r>
          </a:p>
          <a:p xmlns:a="http://schemas.openxmlformats.org/drawingml/2006/main">
            <a:r>
              <a:t>Quelle: https://cheatsheetseries.owasp.org/cheatsheets/CI_CD_Security_Cheat_Sheet.html</a:t>
            </a:r>
          </a:p>
          <a:p xmlns:a="http://schemas.openxmlformats.org/drawingml/2006/main">
            <a:r>
              <a:t/>
            </a:r>
          </a:p>
          <a:p xmlns:a="http://schemas.openxmlformats.org/drawingml/2006/main">
            <a:r>
              <a:t>Gestaltung und DHBW-Mosbach-Logo: bereitgestelltes Skript 06_SecureDevelopment.pdf, Titelfolie. Eigene Projektinhalte.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5949baf4974a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f27310daad44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e9cbeaf14a44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2ed014889f4f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fe502c210c40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5371b8faba4e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6E9A23-B058-4F94-A7FE-F4691E78C12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343223-C221-4E70-A8C5-45F5C1C91C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2E9421-FFFA-416F-9AF4-7A557DA403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8EB353-DF03-4091-A4F4-A14702AA65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FE169C-8A0D-41D4-91C3-C00CABDC3B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AA683C-5B48-42BB-A37E-D36E36D707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B7FFE9-E507-4AFA-A347-04F08411E3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C2DC760-9A0C-442A-BC34-CAE14FA15E7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7853C9-1ABC-4801-B704-4B0D204C0E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864269-EE9D-408E-A5AC-D425914500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a321be61384450" /><Relationship Type="http://schemas.openxmlformats.org/officeDocument/2006/relationships/slideLayout" Target="/ppt/slideLayouts/slideLayout1.xml" Id="R04912626837d406d" /><Relationship Type="http://schemas.openxmlformats.org/officeDocument/2006/relationships/slideLayout" Target="/ppt/slideLayouts/slideLayout2.xml" Id="Rcbac203d99d74aff" /><Relationship Type="http://schemas.openxmlformats.org/officeDocument/2006/relationships/slideLayout" Target="/ppt/slideLayouts/slideLayout3.xml" Id="R779cfe8e5d124e95" /><Relationship Type="http://schemas.openxmlformats.org/officeDocument/2006/relationships/slideLayout" Target="/ppt/slideLayouts/slideLayout4.xml" Id="R1547e8a5297a41be" /><Relationship Type="http://schemas.openxmlformats.org/officeDocument/2006/relationships/slideLayout" Target="/ppt/slideLayouts/slideLayout5.xml" Id="R8f4c318197544663" /><Relationship Type="http://schemas.openxmlformats.org/officeDocument/2006/relationships/slideLayout" Target="/ppt/slideLayouts/slideLayout6.xml" Id="Rb89b799ea1ad46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912626837d406d"/>
    <p:sldLayoutId xmlns:r="http://schemas.openxmlformats.org/officeDocument/2006/relationships" id="2147483650" r:id="Rcbac203d99d74aff"/>
    <p:sldLayoutId xmlns:r="http://schemas.openxmlformats.org/officeDocument/2006/relationships" id="2147483651" r:id="R779cfe8e5d124e95"/>
    <p:sldLayoutId xmlns:r="http://schemas.openxmlformats.org/officeDocument/2006/relationships" id="2147483652" r:id="R1547e8a5297a41be"/>
    <p:sldLayoutId xmlns:r="http://schemas.openxmlformats.org/officeDocument/2006/relationships" id="2147483653" r:id="R8f4c318197544663"/>
    <p:sldLayoutId xmlns:r="http://schemas.openxmlformats.org/officeDocument/2006/relationships" id="2147483654" r:id="Rb89b799ea1ad46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fbca77ef254ab2" /><Relationship Type="http://schemas.openxmlformats.org/officeDocument/2006/relationships/image" Target="/ppt/media/image.png" Id="Ra0f402254c8442da" /><Relationship Type="http://schemas.openxmlformats.org/officeDocument/2006/relationships/image" Target="/ppt/media/image2.png" Id="R847563f97e514539" /><Relationship Type="http://schemas.openxmlformats.org/officeDocument/2006/relationships/notesSlide" Target="/ppt/notesSlides/notesSlide1.xml" Id="Rd1bd8a57cf3e4f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48c430b40a74de3" /><Relationship Type="http://schemas.openxmlformats.org/officeDocument/2006/relationships/image" Target="/ppt/media/image3.png" Id="R36415a8b3d3c47fe" /><Relationship Type="http://schemas.openxmlformats.org/officeDocument/2006/relationships/notesSlide" Target="/ppt/notesSlides/notesSlide2.xml" Id="R0c75c71ca10346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4a9566bbc74e91" /><Relationship Type="http://schemas.openxmlformats.org/officeDocument/2006/relationships/image" Target="/ppt/media/image4.png" Id="R5b5619a1db434ca4" /><Relationship Type="http://schemas.openxmlformats.org/officeDocument/2006/relationships/notesSlide" Target="/ppt/notesSlides/notesSlide3.xml" Id="R56319e37fba842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f573b000d9c4a87" /><Relationship Type="http://schemas.openxmlformats.org/officeDocument/2006/relationships/image" Target="/ppt/media/image5.png" Id="R03719e9fdcca420a" /><Relationship Type="http://schemas.openxmlformats.org/officeDocument/2006/relationships/notesSlide" Target="/ppt/notesSlides/notesSlide4.xml" Id="R8dc9c87b4c744b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5aa36b65f1f4e0c" /><Relationship Type="http://schemas.openxmlformats.org/officeDocument/2006/relationships/image" Target="/ppt/media/image6.png" Id="R4eb2a80b438a4416" /><Relationship Type="http://schemas.openxmlformats.org/officeDocument/2006/relationships/notesSlide" Target="/ppt/notesSlides/notesSlide5.xml" Id="R87efb95cb12447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0ee95feafc4f1b" /><Relationship Type="http://schemas.openxmlformats.org/officeDocument/2006/relationships/image" Target="/ppt/media/image7.png" Id="R93fa69fdfe1949b5" /><Relationship Type="http://schemas.openxmlformats.org/officeDocument/2006/relationships/notesSlide" Target="/ppt/notesSlides/notesSlide6.xml" Id="R6b5842106bef44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1accd6057f84ca3" /><Relationship Type="http://schemas.openxmlformats.org/officeDocument/2006/relationships/image" Target="/ppt/media/image8.png" Id="Red5b085851fa4e08" /><Relationship Type="http://schemas.openxmlformats.org/officeDocument/2006/relationships/notesSlide" Target="/ppt/notesSlides/notesSlide7.xml" Id="Rc7df26817ba94b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5805233a2f4978" /><Relationship Type="http://schemas.openxmlformats.org/officeDocument/2006/relationships/image" Target="/ppt/media/image9.png" Id="Ra8163f26a6ad4f1e" /><Relationship Type="http://schemas.openxmlformats.org/officeDocument/2006/relationships/notesSlide" Target="/ppt/notesSlides/notesSlide8.xml" Id="Reb4a14b62f2a43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97b68b54c124bd8" /><Relationship Type="http://schemas.openxmlformats.org/officeDocument/2006/relationships/image" Target="/ppt/media/image10.png" Id="Re293377797574f06" /><Relationship Type="http://schemas.openxmlformats.org/officeDocument/2006/relationships/notesSlide" Target="/ppt/notesSlides/notesSlide9.xml" Id="Rb753f663a0c24f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90d0d0d8534a4e" /><Relationship Type="http://schemas.openxmlformats.org/officeDocument/2006/relationships/image" Target="/ppt/media/image11.png" Id="R539c7f87e14649d5" /><Relationship Type="http://schemas.openxmlformats.org/officeDocument/2006/relationships/notesSlide" Target="/ppt/notesSlides/notesSlide10.xml" Id="R9dbdd6d7941340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01edd5f95544b48" /><Relationship Type="http://schemas.openxmlformats.org/officeDocument/2006/relationships/image" Target="/ppt/media/image12.png" Id="R219733a83d27474f" /><Relationship Type="http://schemas.openxmlformats.org/officeDocument/2006/relationships/notesSlide" Target="/ppt/notesSlides/notesSlide11.xml" Id="Rb6f3e4fc8e884e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9d5c5eaa40e4300" /><Relationship Type="http://schemas.openxmlformats.org/officeDocument/2006/relationships/image" Target="/ppt/media/image13.png" Id="R14e0f8ec281a4e97" /><Relationship Type="http://schemas.openxmlformats.org/officeDocument/2006/relationships/notesSlide" Target="/ppt/notesSlides/notesSlide12.xml" Id="R8bcd0b0a01df4f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8a03056b24a4787" /><Relationship Type="http://schemas.openxmlformats.org/officeDocument/2006/relationships/image" Target="/ppt/media/image14.png" Id="Rc6216a0386d8419d" /><Relationship Type="http://schemas.openxmlformats.org/officeDocument/2006/relationships/notesSlide" Target="/ppt/notesSlides/notesSlide13.xml" Id="R3602c193a9754f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182f78270124989" /><Relationship Type="http://schemas.openxmlformats.org/officeDocument/2006/relationships/image" Target="/ppt/media/image15.png" Id="Rb4c5cca2110441e2" /><Relationship Type="http://schemas.openxmlformats.org/officeDocument/2006/relationships/notesSlide" Target="/ppt/notesSlides/notesSlide14.xml" Id="R99a59a0381584e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01bf3de43084437" /><Relationship Type="http://schemas.openxmlformats.org/officeDocument/2006/relationships/image" Target="/ppt/media/image16.png" Id="Ra3a7610ed36b4a49" /><Relationship Type="http://schemas.openxmlformats.org/officeDocument/2006/relationships/notesSlide" Target="/ppt/notesSlides/notesSlide15.xml" Id="R04e0f007faff48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37d2527dacb4fc5" /><Relationship Type="http://schemas.openxmlformats.org/officeDocument/2006/relationships/image" Target="/ppt/media/image17.png" Id="R989a6fc59b1e4160" /><Relationship Type="http://schemas.openxmlformats.org/officeDocument/2006/relationships/notesSlide" Target="/ppt/notesSlides/notesSlide16.xml" Id="R3256d5893af948e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fa63e1bb0ee4dd4" /><Relationship Type="http://schemas.openxmlformats.org/officeDocument/2006/relationships/image" Target="/ppt/media/image18.png" Id="Rcf6e9f33d5e148a7" /><Relationship Type="http://schemas.openxmlformats.org/officeDocument/2006/relationships/notesSlide" Target="/ppt/notesSlides/notesSlide17.xml" Id="R558660ce6a64443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5c702cc38294d0d" /><Relationship Type="http://schemas.openxmlformats.org/officeDocument/2006/relationships/image" Target="/ppt/media/image19.png" Id="Rc0b1242b0f894982" /><Relationship Type="http://schemas.openxmlformats.org/officeDocument/2006/relationships/notesSlide" Target="/ppt/notesSlides/notesSlide18.xml" Id="R87d6b19554ec44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c73c868447241c5" /><Relationship Type="http://schemas.openxmlformats.org/officeDocument/2006/relationships/image" Target="/ppt/media/image20.png" Id="R79496499e39b4327" /><Relationship Type="http://schemas.openxmlformats.org/officeDocument/2006/relationships/notesSlide" Target="/ppt/notesSlides/notesSlide19.xml" Id="R0c9b1b49f3f24cc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c225870d8074724" /><Relationship Type="http://schemas.openxmlformats.org/officeDocument/2006/relationships/image" Target="/ppt/media/image21.png" Id="R84e3f5608c154f7b" /><Relationship Type="http://schemas.openxmlformats.org/officeDocument/2006/relationships/hyperlink" Target="https://docs.github.com/en/actions/reference/security/secure-use" TargetMode="External" Id="Re8a9d8dfe5d9475e" /><Relationship Type="http://schemas.openxmlformats.org/officeDocument/2006/relationships/hyperlink" Target="https://cheatsheetseries.owasp.org/cheatsheets/CI_CD_Security_Cheat_Sheet.html" TargetMode="External" Id="R4058d850d3154855" /><Relationship Type="http://schemas.openxmlformats.org/officeDocument/2006/relationships/notesSlide" Target="/ppt/notesSlides/notesSlide20.xml" Id="Rc39d4572a5ef459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06CABD5-1380-4058-92B7-2F472C0B68BD}"/>
              </a:ext>
            </a:extLst>
          </p:cNvPr>
          <p:cNvPicPr>
            <a:picLocks xmlns:a="http://schemas.openxmlformats.org/drawingml/2006/main" noChangeAspect="1"/>
          </p:cNvPicPr>
          <p:nvPr/>
        </p:nvPicPr>
        <p:blipFill>
          <a:blip xmlns:r="http://schemas.openxmlformats.org/officeDocument/2006/relationships" xmlns:a="http://schemas.openxmlformats.org/drawingml/2006/main" r:embed="Ra0f402254c8442da"/>
          <a:stretch xmlns:a="http://schemas.openxmlformats.org/drawingml/2006/main"/>
        </p:blipFill>
        <p:spPr>
          <a:xfrm xmlns:a="http://schemas.openxmlformats.org/drawingml/2006/main">
            <a:off x="0" y="2733861"/>
            <a:ext cx="12192000" cy="412395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8B434D8-1BEB-473A-A129-EA8BE93BE6AF}"/>
              </a:ext>
            </a:extLst>
          </p:cNvPr>
          <p:cNvPicPr>
            <a:picLocks xmlns:a="http://schemas.openxmlformats.org/drawingml/2006/main" noChangeAspect="1"/>
          </p:cNvPicPr>
          <p:nvPr/>
        </p:nvPicPr>
        <p:blipFill>
          <a:blip xmlns:r="http://schemas.openxmlformats.org/officeDocument/2006/relationships" xmlns:a="http://schemas.openxmlformats.org/drawingml/2006/main" r:embed="R847563f97e514539"/>
          <a:stretch xmlns:a="http://schemas.openxmlformats.org/drawingml/2006/main"/>
        </p:blipFill>
        <p:spPr>
          <a:xfrm xmlns:a="http://schemas.openxmlformats.org/drawingml/2006/main">
            <a:off x="9906000" y="381000"/>
            <a:ext cx="1657350" cy="886682"/>
          </a:xfrm>
          <a:prstGeom xmlns:a="http://schemas.openxmlformats.org/drawingml/2006/main" prst="rect">
            <a:avLst/>
          </a:prstGeom>
        </p:spPr>
      </p:pic>
      <p:sp>
        <p:nvSpPr>
          <p:cNvPr id="3" name="DevSecOps-Pipeline">
            <a:extLst xmlns:a="http://schemas.openxmlformats.org/drawingml/2006/main">
              <a:ext uri="{FF2B5EF4-FFF2-40B4-BE49-F238E27FC236}">
                <a16:creationId xmlns:a16="http://schemas.microsoft.com/office/drawing/2014/main" id="{730069C0-5B44-4CF2-A833-D8340D5BFB82}"/>
              </a:ext>
            </a:extLst>
          </p:cNvPr>
          <p:cNvSpPr>
            <a:spLocks xmlns:a="http://schemas.openxmlformats.org/drawingml/2006/main" noGrp="1"/>
          </p:cNvSpPr>
          <p:nvPr/>
        </p:nvSpPr>
        <p:spPr>
          <a:xfrm xmlns:a="http://schemas.openxmlformats.org/drawingml/2006/main">
            <a:off x="704850" y="14954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616A"/>
                </a:solidFill>
                <a:latin typeface="Calibri"/>
                <a:ea typeface="Calibri"/>
                <a:cs typeface="Calibri"/>
              </a:defRPr>
            </a:defPPr>
          </a:lstStyle>
          <a:p xmlns:a="http://schemas.openxmlformats.org/drawingml/2006/main">
            <a:pPr algn="l">
              <a:defRPr sz="4800" b="0">
                <a:solidFill>
                  <a:srgbClr val="52616A"/>
                </a:solidFill>
                <a:latin typeface="Calibri"/>
                <a:ea typeface="Calibri"/>
                <a:cs typeface="Calibri"/>
              </a:defRPr>
            </a:pPr>
            <a:r>
              <a:rPr sz="4800" b="0">
                <a:solidFill>
                  <a:srgbClr val="52616A"/>
                </a:solidFill>
                <a:latin typeface="Calibri"/>
                <a:ea typeface="Calibri"/>
                <a:cs typeface="Calibri"/>
              </a:rPr>
              <a:t>DevSecOps-Pipeline</a:t>
            </a:r>
          </a:p>
        </p:txBody>
      </p:sp>
      <p:sp>
        <p:nvSpPr>
          <p:cNvPr id="4" name="Automatisierte Sicherheitsprüfungen für drei Python-Programm">
            <a:extLst xmlns:a="http://schemas.openxmlformats.org/drawingml/2006/main">
              <a:ext uri="{FF2B5EF4-FFF2-40B4-BE49-F238E27FC236}">
                <a16:creationId xmlns:a16="http://schemas.microsoft.com/office/drawing/2014/main" id="{2C0B5EF9-6C5F-4211-BC02-6212E3363793}"/>
              </a:ext>
            </a:extLst>
          </p:cNvPr>
          <p:cNvSpPr>
            <a:spLocks xmlns:a="http://schemas.openxmlformats.org/drawingml/2006/main" noGrp="1"/>
          </p:cNvSpPr>
          <p:nvPr/>
        </p:nvSpPr>
        <p:spPr>
          <a:xfrm xmlns:a="http://schemas.openxmlformats.org/drawingml/2006/main">
            <a:off x="723900" y="247650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E2001A"/>
                </a:solidFill>
                <a:latin typeface="Calibri"/>
                <a:ea typeface="Calibri"/>
                <a:cs typeface="Calibri"/>
              </a:defRPr>
            </a:defPPr>
          </a:lstStyle>
          <a:p xmlns:a="http://schemas.openxmlformats.org/drawingml/2006/main">
            <a:pPr algn="l">
              <a:defRPr sz="2175" b="0">
                <a:solidFill>
                  <a:srgbClr val="E2001A"/>
                </a:solidFill>
                <a:latin typeface="Calibri"/>
                <a:ea typeface="Calibri"/>
                <a:cs typeface="Calibri"/>
              </a:defRPr>
            </a:pPr>
            <a:r>
              <a:rPr sz="2175" b="0">
                <a:solidFill>
                  <a:srgbClr val="E2001A"/>
                </a:solidFill>
                <a:latin typeface="Calibri"/>
                <a:ea typeface="Calibri"/>
                <a:cs typeface="Calibri"/>
              </a:rPr>
              <a:t>Automatisierte Sicherheitsprüfungen für drei Python-Programme</a:t>
            </a:r>
          </a:p>
        </p:txBody>
      </p:sp>
      <p:sp>
        <p:nvSpPr>
          <p:cNvPr id="5" name="IT-Sicherheit bei Herrn Graupner">
            <a:extLst xmlns:a="http://schemas.openxmlformats.org/drawingml/2006/main">
              <a:ext uri="{FF2B5EF4-FFF2-40B4-BE49-F238E27FC236}">
                <a16:creationId xmlns:a16="http://schemas.microsoft.com/office/drawing/2014/main" id="{62FC40B8-AAD0-4496-8C1E-115787A1B65D}"/>
              </a:ext>
            </a:extLst>
          </p:cNvPr>
          <p:cNvSpPr>
            <a:spLocks xmlns:a="http://schemas.openxmlformats.org/drawingml/2006/main" noGrp="1"/>
          </p:cNvSpPr>
          <p:nvPr/>
        </p:nvSpPr>
        <p:spPr>
          <a:xfrm xmlns:a="http://schemas.openxmlformats.org/drawingml/2006/main">
            <a:off x="723900" y="33147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63640"/>
                </a:solidFill>
                <a:latin typeface="Calibri"/>
                <a:ea typeface="Calibri"/>
                <a:cs typeface="Calibri"/>
              </a:defRPr>
            </a:defPPr>
          </a:lstStyle>
          <a:p xmlns:a="http://schemas.openxmlformats.org/drawingml/2006/main">
            <a:pPr algn="l">
              <a:defRPr sz="2025" b="0">
                <a:solidFill>
                  <a:srgbClr val="263640"/>
                </a:solidFill>
                <a:latin typeface="Calibri"/>
                <a:ea typeface="Calibri"/>
                <a:cs typeface="Calibri"/>
              </a:defRPr>
            </a:pPr>
            <a:r>
              <a:rPr sz="2025" b="0">
                <a:solidFill>
                  <a:srgbClr val="263640"/>
                </a:solidFill>
                <a:latin typeface="Calibri"/>
                <a:ea typeface="Calibri"/>
                <a:cs typeface="Calibri"/>
              </a:rPr>
              <a:t>IT-Sicherheit bei Herrn Graupner</a:t>
            </a:r>
          </a:p>
        </p:txBody>
      </p:sp>
      <p:sp>
        <p:nvSpPr>
          <p:cNvPr id="6" name="Lukas Breuer, Leo Hofmann, Maxim Krüger&#10;und Valentin Gehrig">
            <a:extLst xmlns:a="http://schemas.openxmlformats.org/drawingml/2006/main">
              <a:ext uri="{FF2B5EF4-FFF2-40B4-BE49-F238E27FC236}">
                <a16:creationId xmlns:a16="http://schemas.microsoft.com/office/drawing/2014/main" id="{8D93AC49-0191-4944-A513-B81579E3927E}"/>
              </a:ext>
            </a:extLst>
          </p:cNvPr>
          <p:cNvSpPr>
            <a:spLocks xmlns:a="http://schemas.openxmlformats.org/drawingml/2006/main" noGrp="1"/>
          </p:cNvSpPr>
          <p:nvPr/>
        </p:nvSpPr>
        <p:spPr>
          <a:xfrm xmlns:a="http://schemas.openxmlformats.org/drawingml/2006/main">
            <a:off x="723900" y="3829050"/>
            <a:ext cx="952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640"/>
                </a:solidFill>
                <a:latin typeface="Calibri"/>
                <a:ea typeface="Calibri"/>
                <a:cs typeface="Calibri"/>
              </a:defRPr>
            </a:defPPr>
          </a:lstStyle>
          <a:p xmlns:a="http://schemas.openxmlformats.org/drawingml/2006/main">
            <a:pPr algn="l">
              <a:defRPr sz="1950" b="0">
                <a:solidFill>
                  <a:srgbClr val="263640"/>
                </a:solidFill>
                <a:latin typeface="Calibri"/>
                <a:ea typeface="Calibri"/>
                <a:cs typeface="Calibri"/>
              </a:defRPr>
            </a:pPr>
            <a:r>
              <a:rPr sz="1950" b="0">
                <a:solidFill>
                  <a:srgbClr val="263640"/>
                </a:solidFill>
                <a:latin typeface="Calibri"/>
                <a:ea typeface="Calibri"/>
                <a:cs typeface="Calibri"/>
              </a:rPr>
              <a:t>Lukas Breuer, Leo Hofmann, Maxim Krüger</a:t>
            </a:r>
          </a:p>
          <a:p xmlns:a="http://schemas.openxmlformats.org/drawingml/2006/main">
            <a:pPr algn="l">
              <a:defRPr sz="1950" b="0">
                <a:solidFill>
                  <a:srgbClr val="263640"/>
                </a:solidFill>
                <a:latin typeface="Calibri"/>
                <a:ea typeface="Calibri"/>
                <a:cs typeface="Calibri"/>
              </a:defRPr>
            </a:pPr>
            <a:r>
              <a:rPr sz="1950" b="0">
                <a:solidFill>
                  <a:srgbClr val="263640"/>
                </a:solidFill>
                <a:latin typeface="Calibri"/>
                <a:ea typeface="Calibri"/>
                <a:cs typeface="Calibri"/>
              </a:rPr>
              <a:t>und Valentin Gehrig</a:t>
            </a:r>
          </a:p>
        </p:txBody>
      </p:sp>
      <p:sp>
        <p:nvSpPr>
          <p:cNvPr id="7" name="Projektstand 21.10.2026">
            <a:extLst xmlns:a="http://schemas.openxmlformats.org/drawingml/2006/main">
              <a:ext uri="{FF2B5EF4-FFF2-40B4-BE49-F238E27FC236}">
                <a16:creationId xmlns:a16="http://schemas.microsoft.com/office/drawing/2014/main" id="{D49E2F78-2C4D-4605-B5D5-C3B981D327C7}"/>
              </a:ext>
            </a:extLst>
          </p:cNvPr>
          <p:cNvSpPr>
            <a:spLocks xmlns:a="http://schemas.openxmlformats.org/drawingml/2006/main" noGrp="1"/>
          </p:cNvSpPr>
          <p:nvPr/>
        </p:nvSpPr>
        <p:spPr>
          <a:xfrm xmlns:a="http://schemas.openxmlformats.org/drawingml/2006/main">
            <a:off x="723900" y="6505575"/>
            <a:ext cx="714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FFFFFF"/>
                </a:solidFill>
                <a:latin typeface="Calibri"/>
                <a:ea typeface="Calibri"/>
                <a:cs typeface="Calibri"/>
              </a:defRPr>
            </a:defPPr>
          </a:lstStyle>
          <a:p xmlns:a="http://schemas.openxmlformats.org/drawingml/2006/main">
            <a:pPr algn="l">
              <a:defRPr sz="1200" b="0">
                <a:solidFill>
                  <a:srgbClr val="FFFFFF"/>
                </a:solidFill>
                <a:latin typeface="Calibri"/>
                <a:ea typeface="Calibri"/>
                <a:cs typeface="Calibri"/>
              </a:defRPr>
            </a:pPr>
            <a:r>
              <a:rPr sz="1200" b="0">
                <a:solidFill>
                  <a:srgbClr val="FFFFFF"/>
                </a:solidFill>
                <a:latin typeface="Calibri"/>
                <a:ea typeface="Calibri"/>
                <a:cs typeface="Calibri"/>
              </a:rPr>
              <a:t>Projektstand 21.10.2026</a:t>
            </a:r>
          </a:p>
        </p:txBody>
      </p:sp>
    </p:spTree>
    <p:extLst>
      <p:ext uri="{BB962C8B-B14F-4D97-AF65-F5344CB8AC3E}">
        <p14:creationId xmlns:p14="http://schemas.microsoft.com/office/powerpoint/2010/main" val="14596179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2C37A94-D277-4669-B4B9-BA5E93C1CFED}"/>
              </a:ext>
            </a:extLst>
          </p:cNvPr>
          <p:cNvPicPr>
            <a:picLocks xmlns:a="http://schemas.openxmlformats.org/drawingml/2006/main" noChangeAspect="1"/>
          </p:cNvPicPr>
          <p:nvPr/>
        </p:nvPicPr>
        <p:blipFill>
          <a:blip xmlns:r="http://schemas.openxmlformats.org/officeDocument/2006/relationships" xmlns:a="http://schemas.openxmlformats.org/drawingml/2006/main" r:embed="R36415a8b3d3c47fe"/>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Aufgabe und geprüfter Umfang">
            <a:extLst xmlns:a="http://schemas.openxmlformats.org/drawingml/2006/main">
              <a:ext uri="{FF2B5EF4-FFF2-40B4-BE49-F238E27FC236}">
                <a16:creationId xmlns:a16="http://schemas.microsoft.com/office/drawing/2014/main" id="{C2E4FA52-0120-497B-867F-58511B69259A}"/>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Aufgabe und geprüfter Umfang</a:t>
            </a:r>
          </a:p>
        </p:txBody>
      </p:sp>
      <p:sp>
        <p:nvSpPr>
          <p:cNvPr id="3" name="">
            <a:extLst xmlns:a="http://schemas.openxmlformats.org/drawingml/2006/main">
              <a:ext uri="{FF2B5EF4-FFF2-40B4-BE49-F238E27FC236}">
                <a16:creationId xmlns:a16="http://schemas.microsoft.com/office/drawing/2014/main" id="{38627288-3FC8-41FB-B960-CDAED42142C0}"/>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Skript S. 47 (PDF-Seite 48) und dokumentierte Nachprüfung vo">
            <a:extLst xmlns:a="http://schemas.openxmlformats.org/drawingml/2006/main">
              <a:ext uri="{FF2B5EF4-FFF2-40B4-BE49-F238E27FC236}">
                <a16:creationId xmlns:a16="http://schemas.microsoft.com/office/drawing/2014/main" id="{E8CE9CDB-3211-4AAA-A59D-1D85FEA01EEC}"/>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Skript S. 47 (PDF-Seite 48) und dokumentierte Nachprüfung vom 21.10.2026</a:t>
            </a:r>
          </a:p>
        </p:txBody>
      </p:sp>
      <p:sp>
        <p:nvSpPr>
          <p:cNvPr id="5" name="">
            <a:extLst xmlns:a="http://schemas.openxmlformats.org/drawingml/2006/main">
              <a:ext uri="{FF2B5EF4-FFF2-40B4-BE49-F238E27FC236}">
                <a16:creationId xmlns:a16="http://schemas.microsoft.com/office/drawing/2014/main" id="{3E39C951-4D79-4368-98C8-A3ACFC4B8E1F}"/>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B546491E-E131-4ECA-B62B-192E343D6107}"/>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2">
            <a:extLst xmlns:a="http://schemas.openxmlformats.org/drawingml/2006/main">
              <a:ext uri="{FF2B5EF4-FFF2-40B4-BE49-F238E27FC236}">
                <a16:creationId xmlns:a16="http://schemas.microsoft.com/office/drawing/2014/main" id="{2C29195F-C22C-4100-ACCB-83B6D2B11C75}"/>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2</a:t>
            </a:r>
          </a:p>
        </p:txBody>
      </p:sp>
      <p:graphicFrame>
        <p:nvGraphicFramePr>
          <p:cNvPr id="8" name="">
            <a:extLst xmlns:a="http://schemas.openxmlformats.org/drawingml/2006/main">
              <a:ext uri="{FF2B5EF4-FFF2-40B4-BE49-F238E27FC236}">
                <a16:creationId xmlns:a16="http://schemas.microsoft.com/office/drawing/2014/main" id="{25A56C36-0B29-4F26-B05B-B7672AF74CBB}"/>
              </a:ext>
            </a:extLst>
          </p:cNvPr>
          <p:cNvGraphicFramePr/>
          <p:nvPr/>
        </p:nvGraphicFramePr>
        <p:xfrm>
          <a:off xmlns:a="http://schemas.openxmlformats.org/drawingml/2006/main" x="666750" y="1762125"/>
          <a:ext xmlns:a="http://schemas.openxmlformats.org/drawingml/2006/main" cx="10858500" cy="3190875"/>
        </p:xfrm>
        <a:graphic xmlns:a="http://schemas.openxmlformats.org/drawingml/2006/main">
          <a:graphicData uri="http://schemas.openxmlformats.org/drawingml/2006/table">
            <a:tbl>
              <a:tblPr/>
              <a:tblGrid>
                <a:gridCol w="3810000"/>
                <a:gridCol w="7048500"/>
              </a:tblGrid>
              <a:tr h="638175">
                <a:tc>
                  <a:txBody>
                    <a:bodyPr lIns="76200" tIns="76200" rIns="76200" bIns="76200"/>
                    <a:lstStyle/>
                    <a:p>
                      <a:r>
                        <a:rPr sz="1950" b="1">
                          <a:solidFill>
                            <a:srgbClr val="FFFFFF"/>
                          </a:solidFill>
                          <a:latin typeface="Calibri"/>
                          <a:ea typeface="Calibri"/>
                          <a:cs typeface="Calibri"/>
                        </a:rPr>
                        <a:t>Vorgabe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950" b="1">
                          <a:solidFill>
                            <a:srgbClr val="FFFFFF"/>
                          </a:solidFill>
                          <a:latin typeface="Calibri"/>
                          <a:ea typeface="Calibri"/>
                          <a:cs typeface="Calibri"/>
                        </a:rPr>
                        <a:t>Unsere Umsetzung</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638175">
                <a:tc>
                  <a:txBody>
                    <a:bodyPr lIns="76200" tIns="76200" rIns="76200" bIns="76200"/>
                    <a:lstStyle/>
                    <a:p>
                      <a:r>
                        <a:rPr sz="1950" b="0">
                          <a:solidFill>
                            <a:srgbClr val="263640"/>
                          </a:solidFill>
                          <a:latin typeface="Calibri"/>
                          <a:ea typeface="Calibri"/>
                          <a:cs typeface="Calibri"/>
                        </a:rPr>
                        <a:t>Mindestens vier Werkzeuge</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950" b="0">
                          <a:solidFill>
                            <a:srgbClr val="263640"/>
                          </a:solidFill>
                          <a:latin typeface="Calibri"/>
                          <a:ea typeface="Calibri"/>
                          <a:cs typeface="Calibri"/>
                        </a:rPr>
                        <a:t>Acht Werkzeuge mit ergänzenden Aufgaben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638175">
                <a:tc>
                  <a:txBody>
                    <a:bodyPr lIns="76200" tIns="76200" rIns="76200" bIns="76200"/>
                    <a:lstStyle/>
                    <a:p>
                      <a:r>
                        <a:rPr sz="1950" b="0">
                          <a:solidFill>
                            <a:srgbClr val="263640"/>
                          </a:solidFill>
                          <a:latin typeface="Calibri"/>
                          <a:ea typeface="Calibri"/>
                          <a:cs typeface="Calibri"/>
                        </a:rPr>
                        <a:t>Automatisierter Start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950" b="0">
                          <a:solidFill>
                            <a:srgbClr val="263640"/>
                          </a:solidFill>
                          <a:latin typeface="Calibri"/>
                          <a:ea typeface="Calibri"/>
                          <a:cs typeface="Calibri"/>
                        </a:rPr>
                        <a:t>GitHub Actions bei Push und Pull Request</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638175">
                <a:tc>
                  <a:txBody>
                    <a:bodyPr lIns="76200" tIns="76200" rIns="76200" bIns="76200"/>
                    <a:lstStyle/>
                    <a:p>
                      <a:r>
                        <a:rPr sz="1950" b="0">
                          <a:solidFill>
                            <a:srgbClr val="263640"/>
                          </a:solidFill>
                          <a:latin typeface="Calibri"/>
                          <a:ea typeface="Calibri"/>
                          <a:cs typeface="Calibri"/>
                        </a:rPr>
                        <a:t>Drei lauffähige Programme</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950" b="0">
                          <a:solidFill>
                            <a:srgbClr val="263640"/>
                          </a:solidFill>
                          <a:latin typeface="Calibri"/>
                          <a:ea typeface="Calibri"/>
                          <a:cs typeface="Calibri"/>
                        </a:rPr>
                        <a:t>Flask-API, Konfigurations-CLI und HTTP-Dateidienst</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638175">
                <a:tc>
                  <a:txBody>
                    <a:bodyPr lIns="76200" tIns="76200" rIns="76200" bIns="76200"/>
                    <a:lstStyle/>
                    <a:p>
                      <a:r>
                        <a:rPr sz="1950" b="0">
                          <a:solidFill>
                            <a:srgbClr val="263640"/>
                          </a:solidFill>
                          <a:latin typeface="Calibri"/>
                          <a:ea typeface="Calibri"/>
                          <a:cs typeface="Calibri"/>
                        </a:rPr>
                        <a:t>Ergebnisse und Erkenntnisse</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950" b="0">
                          <a:solidFill>
                            <a:srgbClr val="263640"/>
                          </a:solidFill>
                          <a:latin typeface="Calibri"/>
                          <a:ea typeface="Calibri"/>
                          <a:cs typeface="Calibri"/>
                        </a:rPr>
                        <a:t>Rohreports, Gateentscheidungen und manuelle Triage</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9" name="Je Programm zwei Varianten: vulnerable und fixed">
            <a:extLst xmlns:a="http://schemas.openxmlformats.org/drawingml/2006/main">
              <a:ext uri="{FF2B5EF4-FFF2-40B4-BE49-F238E27FC236}">
                <a16:creationId xmlns:a16="http://schemas.microsoft.com/office/drawing/2014/main" id="{ECBD8C7E-1A7C-47EF-936C-05E19DEE18BD}"/>
              </a:ext>
            </a:extLst>
          </p:cNvPr>
          <p:cNvSpPr>
            <a:spLocks xmlns:a="http://schemas.openxmlformats.org/drawingml/2006/main" noGrp="1"/>
          </p:cNvSpPr>
          <p:nvPr/>
        </p:nvSpPr>
        <p:spPr>
          <a:xfrm xmlns:a="http://schemas.openxmlformats.org/drawingml/2006/main">
            <a:off x="666750" y="52387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2001A"/>
                </a:solidFill>
                <a:latin typeface="Calibri"/>
                <a:ea typeface="Calibri"/>
                <a:cs typeface="Calibri"/>
              </a:defRPr>
            </a:defPPr>
          </a:lstStyle>
          <a:p xmlns:a="http://schemas.openxmlformats.org/drawingml/2006/main">
            <a:pPr algn="l">
              <a:defRPr sz="2250" b="1">
                <a:solidFill>
                  <a:srgbClr val="E2001A"/>
                </a:solidFill>
                <a:latin typeface="Calibri"/>
                <a:ea typeface="Calibri"/>
                <a:cs typeface="Calibri"/>
              </a:defRPr>
            </a:pPr>
            <a:r>
              <a:rPr sz="2250" b="1">
                <a:solidFill>
                  <a:srgbClr val="E2001A"/>
                </a:solidFill>
                <a:latin typeface="Calibri"/>
                <a:ea typeface="Calibri"/>
                <a:cs typeface="Calibri"/>
              </a:rPr>
              <a:t>Je Programm zwei Varianten: vulnerable und fixed</a:t>
            </a:r>
          </a:p>
        </p:txBody>
      </p:sp>
    </p:spTree>
    <p:extLst>
      <p:ext uri="{BB962C8B-B14F-4D97-AF65-F5344CB8AC3E}">
        <p14:creationId xmlns:p14="http://schemas.microsoft.com/office/powerpoint/2010/main" val="2036337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F9C28E42-7A38-4A6D-8F8B-4B48D6A0DE22}"/>
              </a:ext>
            </a:extLst>
          </p:cNvPr>
          <p:cNvCxnSpPr>
            <a:stCxn xmlns:a="http://schemas.openxmlformats.org/drawingml/2006/main" id="17" idx="3"/>
            <a:endCxn xmlns:a="http://schemas.openxmlformats.org/drawingml/2006/main" id="18" idx="1"/>
          </p:cNvCxnSpPr>
          <p:nvPr/>
        </p:nvCxnSpPr>
        <p:spPr>
          <a:xfrm xmlns:a="http://schemas.openxmlformats.org/drawingml/2006/main">
            <a:off x="9477375" y="4405313"/>
            <a:ext cx="381000" cy="0"/>
          </a:xfrm>
          <a:prstGeom xmlns:a="http://schemas.openxmlformats.org/drawingml/2006/main" prst="straightConnector1">
            <a:avLst/>
          </a:prstGeom>
          <a:ln xmlns:a="http://schemas.openxmlformats.org/drawingml/2006/main" w="19050">
            <a:solidFill>
              <a:srgbClr val="52616A"/>
            </a:solidFill>
            <a:tailEnd type="triangle" w="sm" len="sm"/>
          </a:ln>
        </p:spPr>
      </p:cxnSp>
      <p:cxnSp>
        <p:nvCxnSpPr>
          <p:cNvPr id="21" name="">
            <a:extLst xmlns:a="http://schemas.openxmlformats.org/drawingml/2006/main">
              <a:ext uri="{FF2B5EF4-FFF2-40B4-BE49-F238E27FC236}">
                <a16:creationId xmlns:a16="http://schemas.microsoft.com/office/drawing/2014/main" id="{0FB96951-BB9C-4426-A5EC-9FE7F9401FCD}"/>
              </a:ext>
            </a:extLst>
          </p:cNvPr>
          <p:cNvCxnSpPr>
            <a:stCxn xmlns:a="http://schemas.openxmlformats.org/drawingml/2006/main" id="16" idx="3"/>
            <a:endCxn xmlns:a="http://schemas.openxmlformats.org/drawingml/2006/main" id="17" idx="1"/>
          </p:cNvCxnSpPr>
          <p:nvPr/>
        </p:nvCxnSpPr>
        <p:spPr>
          <a:xfrm xmlns:a="http://schemas.openxmlformats.org/drawingml/2006/main">
            <a:off x="6048375" y="4405313"/>
            <a:ext cx="381000" cy="0"/>
          </a:xfrm>
          <a:prstGeom xmlns:a="http://schemas.openxmlformats.org/drawingml/2006/main" prst="straightConnector1">
            <a:avLst/>
          </a:prstGeom>
          <a:ln xmlns:a="http://schemas.openxmlformats.org/drawingml/2006/main" w="19050">
            <a:solidFill>
              <a:srgbClr val="52616A"/>
            </a:solidFill>
            <a:tailEnd type="triangle" w="sm" len="sm"/>
          </a:ln>
        </p:spPr>
      </p:cxnSp>
      <p:cxnSp>
        <p:nvCxnSpPr>
          <p:cNvPr id="20" name="">
            <a:extLst xmlns:a="http://schemas.openxmlformats.org/drawingml/2006/main">
              <a:ext uri="{FF2B5EF4-FFF2-40B4-BE49-F238E27FC236}">
                <a16:creationId xmlns:a16="http://schemas.microsoft.com/office/drawing/2014/main" id="{65869AC3-532F-4D85-AFF3-294BA7CD91B7}"/>
              </a:ext>
            </a:extLst>
          </p:cNvPr>
          <p:cNvCxnSpPr>
            <a:stCxn xmlns:a="http://schemas.openxmlformats.org/drawingml/2006/main" id="15" idx="3"/>
            <a:endCxn xmlns:a="http://schemas.openxmlformats.org/drawingml/2006/main" id="16" idx="1"/>
          </p:cNvCxnSpPr>
          <p:nvPr/>
        </p:nvCxnSpPr>
        <p:spPr>
          <a:xfrm xmlns:a="http://schemas.openxmlformats.org/drawingml/2006/main">
            <a:off x="3952875" y="4405313"/>
            <a:ext cx="381000" cy="0"/>
          </a:xfrm>
          <a:prstGeom xmlns:a="http://schemas.openxmlformats.org/drawingml/2006/main" prst="straightConnector1">
            <a:avLst/>
          </a:prstGeom>
          <a:ln xmlns:a="http://schemas.openxmlformats.org/drawingml/2006/main" w="19050">
            <a:solidFill>
              <a:srgbClr val="52616A"/>
            </a:solidFill>
            <a:tailEnd type="triangle" w="sm" len="sm"/>
          </a:ln>
        </p:spPr>
      </p:cxnSp>
      <p:cxnSp>
        <p:nvCxnSpPr>
          <p:cNvPr id="19" name="">
            <a:extLst xmlns:a="http://schemas.openxmlformats.org/drawingml/2006/main">
              <a:ext uri="{FF2B5EF4-FFF2-40B4-BE49-F238E27FC236}">
                <a16:creationId xmlns:a16="http://schemas.microsoft.com/office/drawing/2014/main" id="{B3586D09-994C-4FB9-9D36-7D1483CB0705}"/>
              </a:ext>
            </a:extLst>
          </p:cNvPr>
          <p:cNvCxnSpPr>
            <a:stCxn xmlns:a="http://schemas.openxmlformats.org/drawingml/2006/main" id="11" idx="2"/>
            <a:endCxn xmlns:a="http://schemas.openxmlformats.org/drawingml/2006/main" id="15" idx="0"/>
          </p:cNvCxnSpPr>
          <p:nvPr/>
        </p:nvCxnSpPr>
        <p:spPr>
          <a:xfrm xmlns:a="http://schemas.openxmlformats.org/drawingml/2006/main" flipH="1">
            <a:off x="2309813" y="2809875"/>
            <a:ext cx="8072438" cy="1000125"/>
          </a:xfrm>
          <a:prstGeom xmlns:a="http://schemas.openxmlformats.org/drawingml/2006/main" prst="bentConnector4">
            <a:avLst>
              <a:gd name="adj1" fmla="val 0"/>
              <a:gd name="adj2" fmla="val 50000"/>
            </a:avLst>
          </a:prstGeom>
          <a:ln xmlns:a="http://schemas.openxmlformats.org/drawingml/2006/main" w="19050">
            <a:solidFill>
              <a:srgbClr val="52616A"/>
            </a:solidFill>
            <a:tailEnd type="triangle" w="sm" len="sm"/>
          </a:ln>
        </p:spPr>
      </p:cxnSp>
      <p:cxnSp>
        <p:nvCxnSpPr>
          <p:cNvPr id="14" name="">
            <a:extLst xmlns:a="http://schemas.openxmlformats.org/drawingml/2006/main">
              <a:ext uri="{FF2B5EF4-FFF2-40B4-BE49-F238E27FC236}">
                <a16:creationId xmlns:a16="http://schemas.microsoft.com/office/drawing/2014/main" id="{57E5CCE9-21AB-42CC-8734-AB34A8B33313}"/>
              </a:ext>
            </a:extLst>
          </p:cNvPr>
          <p:cNvCxnSpPr>
            <a:stCxn xmlns:a="http://schemas.openxmlformats.org/drawingml/2006/main" id="10" idx="3"/>
            <a:endCxn xmlns:a="http://schemas.openxmlformats.org/drawingml/2006/main" id="11" idx="1"/>
          </p:cNvCxnSpPr>
          <p:nvPr/>
        </p:nvCxnSpPr>
        <p:spPr>
          <a:xfrm xmlns:a="http://schemas.openxmlformats.org/drawingml/2006/main">
            <a:off x="8858250" y="2357438"/>
            <a:ext cx="381000" cy="0"/>
          </a:xfrm>
          <a:prstGeom xmlns:a="http://schemas.openxmlformats.org/drawingml/2006/main" prst="straightConnector1">
            <a:avLst/>
          </a:prstGeom>
          <a:ln xmlns:a="http://schemas.openxmlformats.org/drawingml/2006/main" w="19050">
            <a:solidFill>
              <a:srgbClr val="52616A"/>
            </a:solidFill>
            <a:tailEnd type="triangle" w="sm" len="sm"/>
          </a:ln>
        </p:spPr>
      </p:cxnSp>
      <p:cxnSp>
        <p:nvCxnSpPr>
          <p:cNvPr id="13" name="">
            <a:extLst xmlns:a="http://schemas.openxmlformats.org/drawingml/2006/main">
              <a:ext uri="{FF2B5EF4-FFF2-40B4-BE49-F238E27FC236}">
                <a16:creationId xmlns:a16="http://schemas.microsoft.com/office/drawing/2014/main" id="{A90A54DB-62B0-4B45-89EF-E47D8671AEC5}"/>
              </a:ext>
            </a:extLst>
          </p:cNvPr>
          <p:cNvCxnSpPr>
            <a:stCxn xmlns:a="http://schemas.openxmlformats.org/drawingml/2006/main" id="9" idx="3"/>
            <a:endCxn xmlns:a="http://schemas.openxmlformats.org/drawingml/2006/main" id="10" idx="1"/>
          </p:cNvCxnSpPr>
          <p:nvPr/>
        </p:nvCxnSpPr>
        <p:spPr>
          <a:xfrm xmlns:a="http://schemas.openxmlformats.org/drawingml/2006/main">
            <a:off x="4143375" y="2357438"/>
            <a:ext cx="285750" cy="0"/>
          </a:xfrm>
          <a:prstGeom xmlns:a="http://schemas.openxmlformats.org/drawingml/2006/main" prst="straightConnector1">
            <a:avLst/>
          </a:prstGeom>
          <a:ln xmlns:a="http://schemas.openxmlformats.org/drawingml/2006/main" w="19050">
            <a:solidFill>
              <a:srgbClr val="52616A"/>
            </a:solidFill>
            <a:tailEnd type="triangle" w="sm" len="sm"/>
          </a:ln>
        </p:spPr>
      </p:cxnSp>
      <p:cxnSp>
        <p:nvCxnSpPr>
          <p:cNvPr id="12" name="">
            <a:extLst xmlns:a="http://schemas.openxmlformats.org/drawingml/2006/main">
              <a:ext uri="{FF2B5EF4-FFF2-40B4-BE49-F238E27FC236}">
                <a16:creationId xmlns:a16="http://schemas.microsoft.com/office/drawing/2014/main" id="{45D2B9B7-B576-46BC-BD98-476BEF608AA5}"/>
              </a:ext>
            </a:extLst>
          </p:cNvPr>
          <p:cNvCxnSpPr>
            <a:stCxn xmlns:a="http://schemas.openxmlformats.org/drawingml/2006/main" id="8" idx="3"/>
            <a:endCxn xmlns:a="http://schemas.openxmlformats.org/drawingml/2006/main" id="9" idx="1"/>
          </p:cNvCxnSpPr>
          <p:nvPr/>
        </p:nvCxnSpPr>
        <p:spPr>
          <a:xfrm xmlns:a="http://schemas.openxmlformats.org/drawingml/2006/main">
            <a:off x="2143125" y="2357438"/>
            <a:ext cx="285750" cy="0"/>
          </a:xfrm>
          <a:prstGeom xmlns:a="http://schemas.openxmlformats.org/drawingml/2006/main" prst="straightConnector1">
            <a:avLst/>
          </a:prstGeom>
          <a:ln xmlns:a="http://schemas.openxmlformats.org/drawingml/2006/main" w="19050">
            <a:solidFill>
              <a:srgbClr val="52616A"/>
            </a:solidFill>
            <a:tailEnd type="triangle" w="sm" len="sm"/>
          </a:ln>
        </p:spPr>
      </p:cxnSp>
      <p:pic>
        <p:nvPicPr>
          <p:cNvPr id="25" name="">
            <a:extLst xmlns:a="http://schemas.openxmlformats.org/drawingml/2006/main">
              <a:ext uri="{FF2B5EF4-FFF2-40B4-BE49-F238E27FC236}">
                <a16:creationId xmlns:a16="http://schemas.microsoft.com/office/drawing/2014/main" id="{67A1F081-F44F-45D4-945C-B225934A4B7F}"/>
              </a:ext>
            </a:extLst>
          </p:cNvPr>
          <p:cNvPicPr>
            <a:picLocks xmlns:a="http://schemas.openxmlformats.org/drawingml/2006/main" noChangeAspect="1"/>
          </p:cNvPicPr>
          <p:nvPr/>
        </p:nvPicPr>
        <p:blipFill>
          <a:blip xmlns:r="http://schemas.openxmlformats.org/officeDocument/2006/relationships" xmlns:a="http://schemas.openxmlformats.org/drawingml/2006/main" r:embed="R5b5619a1db434ca4"/>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Aufbau und Ablauf der Pipeline">
            <a:extLst xmlns:a="http://schemas.openxmlformats.org/drawingml/2006/main">
              <a:ext uri="{FF2B5EF4-FFF2-40B4-BE49-F238E27FC236}">
                <a16:creationId xmlns:a16="http://schemas.microsoft.com/office/drawing/2014/main" id="{36923EEF-3C7B-4E71-9A4A-7A348908BECE}"/>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Aufbau und Ablauf der Pipeline</a:t>
            </a:r>
          </a:p>
        </p:txBody>
      </p:sp>
      <p:sp>
        <p:nvSpPr>
          <p:cNvPr id="3" name="">
            <a:extLst xmlns:a="http://schemas.openxmlformats.org/drawingml/2006/main">
              <a:ext uri="{FF2B5EF4-FFF2-40B4-BE49-F238E27FC236}">
                <a16:creationId xmlns:a16="http://schemas.microsoft.com/office/drawing/2014/main" id="{3B9B191B-0AB1-4AAC-BDA1-C869C6F633A3}"/>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scripts/pipeline.py: Pipeline.execute(); Diagramm vereinfach">
            <a:extLst xmlns:a="http://schemas.openxmlformats.org/drawingml/2006/main">
              <a:ext uri="{FF2B5EF4-FFF2-40B4-BE49-F238E27FC236}">
                <a16:creationId xmlns:a16="http://schemas.microsoft.com/office/drawing/2014/main" id="{A8F693CB-BA67-40DB-A919-D69D5E2D0CDD}"/>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scripts/pipeline.py: Pipeline.execute(); Diagramm vereinfacht den gemeinsamen CLI-/Web-Ablauf</a:t>
            </a:r>
          </a:p>
        </p:txBody>
      </p:sp>
      <p:sp>
        <p:nvSpPr>
          <p:cNvPr id="5" name="">
            <a:extLst xmlns:a="http://schemas.openxmlformats.org/drawingml/2006/main">
              <a:ext uri="{FF2B5EF4-FFF2-40B4-BE49-F238E27FC236}">
                <a16:creationId xmlns:a16="http://schemas.microsoft.com/office/drawing/2014/main" id="{43D00353-BD4F-47F5-B6A0-ED0BE9B28594}"/>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99D485D0-9D85-4EF1-A3CC-C9C57B28FB20}"/>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3">
            <a:extLst xmlns:a="http://schemas.openxmlformats.org/drawingml/2006/main">
              <a:ext uri="{FF2B5EF4-FFF2-40B4-BE49-F238E27FC236}">
                <a16:creationId xmlns:a16="http://schemas.microsoft.com/office/drawing/2014/main" id="{FB0E018E-F29D-4756-A540-C3F537BDF60E}"/>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3</a:t>
            </a:r>
          </a:p>
        </p:txBody>
      </p:sp>
      <p:sp>
        <p:nvSpPr>
          <p:cNvPr id="8" name="">
            <a:extLst xmlns:a="http://schemas.openxmlformats.org/drawingml/2006/main">
              <a:ext uri="{FF2B5EF4-FFF2-40B4-BE49-F238E27FC236}">
                <a16:creationId xmlns:a16="http://schemas.microsoft.com/office/drawing/2014/main" id="{F5754D07-6CB4-4BC1-ADCC-DDE1DCB6055A}"/>
              </a:ext>
            </a:extLst>
          </p:cNvPr>
          <p:cNvSpPr>
            <a:spLocks xmlns:a="http://schemas.openxmlformats.org/drawingml/2006/main" noGrp="1"/>
          </p:cNvSpPr>
          <p:nvPr/>
        </p:nvSpPr>
        <p:spPr>
          <a:xfrm xmlns:a="http://schemas.openxmlformats.org/drawingml/2006/main">
            <a:off x="666750" y="1905000"/>
            <a:ext cx="1476375" cy="904875"/>
          </a:xfrm>
          <a:prstGeom xmlns:a="http://schemas.openxmlformats.org/drawingml/2006/main" prst="rect">
            <a:avLst/>
          </a:prstGeom>
          <a:solidFill xmlns:a="http://schemas.openxmlformats.org/drawingml/2006/main">
            <a:srgbClr val="F0F2F3"/>
          </a:solidFill>
          <a:ln xmlns:a="http://schemas.openxmlformats.org/drawingml/2006/main" w="9525">
            <a:solidFill>
              <a:srgbClr val="C4CBCF"/>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63640"/>
                </a:solidFill>
                <a:latin typeface="Calibri"/>
                <a:ea typeface="Calibri"/>
                <a:cs typeface="Calibri"/>
              </a:defRPr>
            </a:defPPr>
          </a:lstStyle>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Push / PR</a:t>
            </a:r>
          </a:p>
        </p:txBody>
      </p:sp>
      <p:sp>
        <p:nvSpPr>
          <p:cNvPr id="9" name="">
            <a:extLst xmlns:a="http://schemas.openxmlformats.org/drawingml/2006/main">
              <a:ext uri="{FF2B5EF4-FFF2-40B4-BE49-F238E27FC236}">
                <a16:creationId xmlns:a16="http://schemas.microsoft.com/office/drawing/2014/main" id="{44D4B8E5-FB1E-4BF1-8622-F803155DEA0D}"/>
              </a:ext>
            </a:extLst>
          </p:cNvPr>
          <p:cNvSpPr>
            <a:spLocks xmlns:a="http://schemas.openxmlformats.org/drawingml/2006/main" noGrp="1"/>
          </p:cNvSpPr>
          <p:nvPr/>
        </p:nvSpPr>
        <p:spPr>
          <a:xfrm xmlns:a="http://schemas.openxmlformats.org/drawingml/2006/main">
            <a:off x="2428875" y="1905000"/>
            <a:ext cx="1714500" cy="904875"/>
          </a:xfrm>
          <a:prstGeom xmlns:a="http://schemas.openxmlformats.org/drawingml/2006/main" prst="rect">
            <a:avLst/>
          </a:prstGeom>
          <a:solidFill xmlns:a="http://schemas.openxmlformats.org/drawingml/2006/main">
            <a:srgbClr val="F0F2F3"/>
          </a:solidFill>
          <a:ln xmlns:a="http://schemas.openxmlformats.org/drawingml/2006/main" w="9525">
            <a:solidFill>
              <a:srgbClr val="C4CBCF"/>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63640"/>
                </a:solidFill>
                <a:latin typeface="Calibri"/>
                <a:ea typeface="Calibri"/>
                <a:cs typeface="Calibri"/>
              </a:defRPr>
            </a:defPPr>
          </a:lstStyle>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Unit-Tests</a:t>
            </a:r>
          </a:p>
        </p:txBody>
      </p:sp>
      <p:sp>
        <p:nvSpPr>
          <p:cNvPr id="10" name="">
            <a:extLst xmlns:a="http://schemas.openxmlformats.org/drawingml/2006/main">
              <a:ext uri="{FF2B5EF4-FFF2-40B4-BE49-F238E27FC236}">
                <a16:creationId xmlns:a16="http://schemas.microsoft.com/office/drawing/2014/main" id="{A14BEAAD-CA49-442E-95BF-4B1D0A0E0001}"/>
              </a:ext>
            </a:extLst>
          </p:cNvPr>
          <p:cNvSpPr>
            <a:spLocks xmlns:a="http://schemas.openxmlformats.org/drawingml/2006/main" noGrp="1"/>
          </p:cNvSpPr>
          <p:nvPr/>
        </p:nvSpPr>
        <p:spPr>
          <a:xfrm xmlns:a="http://schemas.openxmlformats.org/drawingml/2006/main">
            <a:off x="4429125" y="1762125"/>
            <a:ext cx="4429125" cy="1190625"/>
          </a:xfrm>
          <a:prstGeom xmlns:a="http://schemas.openxmlformats.org/drawingml/2006/main" prst="rect">
            <a:avLst/>
          </a:prstGeom>
          <a:solidFill xmlns:a="http://schemas.openxmlformats.org/drawingml/2006/main">
            <a:srgbClr val="F0F2F3"/>
          </a:solidFill>
          <a:ln xmlns:a="http://schemas.openxmlformats.org/drawingml/2006/main" w="9525">
            <a:solidFill>
              <a:srgbClr val="C4CBCF"/>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63640"/>
                </a:solidFill>
                <a:latin typeface="Calibri"/>
                <a:ea typeface="Calibri"/>
                <a:cs typeface="Calibri"/>
              </a:defRPr>
            </a:defPPr>
          </a:lstStyle>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Quellcode und Pakete</a:t>
            </a:r>
          </a:p>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Gitleaks, Semgrep, Bandit</a:t>
            </a:r>
          </a:p>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Trivy-FS und Syft</a:t>
            </a:r>
          </a:p>
        </p:txBody>
      </p:sp>
      <p:sp>
        <p:nvSpPr>
          <p:cNvPr id="11" name="">
            <a:extLst xmlns:a="http://schemas.openxmlformats.org/drawingml/2006/main">
              <a:ext uri="{FF2B5EF4-FFF2-40B4-BE49-F238E27FC236}">
                <a16:creationId xmlns:a16="http://schemas.microsoft.com/office/drawing/2014/main" id="{CDF4402F-DE0E-4D11-93F2-4FD2AA86100D}"/>
              </a:ext>
            </a:extLst>
          </p:cNvPr>
          <p:cNvSpPr>
            <a:spLocks xmlns:a="http://schemas.openxmlformats.org/drawingml/2006/main" noGrp="1"/>
          </p:cNvSpPr>
          <p:nvPr/>
        </p:nvSpPr>
        <p:spPr>
          <a:xfrm xmlns:a="http://schemas.openxmlformats.org/drawingml/2006/main">
            <a:off x="9239250" y="1905000"/>
            <a:ext cx="2286000"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E2001A"/>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E2001A"/>
                </a:solidFill>
                <a:latin typeface="Calibri"/>
                <a:ea typeface="Calibri"/>
                <a:cs typeface="Calibri"/>
              </a:defRPr>
            </a:defPPr>
          </a:lstStyle>
          <a:p xmlns:a="http://schemas.openxmlformats.org/drawingml/2006/main">
            <a:pPr algn="ctr">
              <a:defRPr sz="1800" b="1">
                <a:solidFill>
                  <a:srgbClr val="E2001A"/>
                </a:solidFill>
                <a:latin typeface="Calibri"/>
                <a:ea typeface="Calibri"/>
                <a:cs typeface="Calibri"/>
              </a:defRPr>
            </a:pPr>
            <a:r>
              <a:rPr sz="1800" b="1">
                <a:solidFill>
                  <a:srgbClr val="E2001A"/>
                </a:solidFill>
                <a:latin typeface="Calibri"/>
                <a:ea typeface="Calibri"/>
                <a:cs typeface="Calibri"/>
              </a:rPr>
              <a:t>Vorab-Gate</a:t>
            </a:r>
          </a:p>
        </p:txBody>
      </p:sp>
      <p:sp>
        <p:nvSpPr>
          <p:cNvPr id="15" name="">
            <a:extLst xmlns:a="http://schemas.openxmlformats.org/drawingml/2006/main">
              <a:ext uri="{FF2B5EF4-FFF2-40B4-BE49-F238E27FC236}">
                <a16:creationId xmlns:a16="http://schemas.microsoft.com/office/drawing/2014/main" id="{D3B466CB-D8ED-44F4-979D-F4D20E0A4A0F}"/>
              </a:ext>
            </a:extLst>
          </p:cNvPr>
          <p:cNvSpPr>
            <a:spLocks xmlns:a="http://schemas.openxmlformats.org/drawingml/2006/main" noGrp="1"/>
          </p:cNvSpPr>
          <p:nvPr/>
        </p:nvSpPr>
        <p:spPr>
          <a:xfrm xmlns:a="http://schemas.openxmlformats.org/drawingml/2006/main">
            <a:off x="666750" y="3810000"/>
            <a:ext cx="3286125" cy="1190625"/>
          </a:xfrm>
          <a:prstGeom xmlns:a="http://schemas.openxmlformats.org/drawingml/2006/main" prst="rect">
            <a:avLst/>
          </a:prstGeom>
          <a:solidFill xmlns:a="http://schemas.openxmlformats.org/drawingml/2006/main">
            <a:srgbClr val="F0F2F3"/>
          </a:solidFill>
          <a:ln xmlns:a="http://schemas.openxmlformats.org/drawingml/2006/main" w="9525">
            <a:solidFill>
              <a:srgbClr val="C4CBCF"/>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63640"/>
                </a:solidFill>
                <a:latin typeface="Calibri"/>
                <a:ea typeface="Calibri"/>
                <a:cs typeface="Calibri"/>
              </a:defRPr>
            </a:defPPr>
          </a:lstStyle>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Build und Image-Scans</a:t>
            </a:r>
          </a:p>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hadolint, Trivy und Dockle</a:t>
            </a:r>
          </a:p>
        </p:txBody>
      </p:sp>
      <p:sp>
        <p:nvSpPr>
          <p:cNvPr id="16" name="">
            <a:extLst xmlns:a="http://schemas.openxmlformats.org/drawingml/2006/main">
              <a:ext uri="{FF2B5EF4-FFF2-40B4-BE49-F238E27FC236}">
                <a16:creationId xmlns:a16="http://schemas.microsoft.com/office/drawing/2014/main" id="{11E7698F-20BB-4CED-9BD5-815508F90874}"/>
              </a:ext>
            </a:extLst>
          </p:cNvPr>
          <p:cNvSpPr>
            <a:spLocks xmlns:a="http://schemas.openxmlformats.org/drawingml/2006/main" noGrp="1"/>
          </p:cNvSpPr>
          <p:nvPr/>
        </p:nvSpPr>
        <p:spPr>
          <a:xfrm xmlns:a="http://schemas.openxmlformats.org/drawingml/2006/main">
            <a:off x="4333875" y="3952875"/>
            <a:ext cx="1714500"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E2001A"/>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E2001A"/>
                </a:solidFill>
                <a:latin typeface="Calibri"/>
                <a:ea typeface="Calibri"/>
                <a:cs typeface="Calibri"/>
              </a:defRPr>
            </a:defPPr>
          </a:lstStyle>
          <a:p xmlns:a="http://schemas.openxmlformats.org/drawingml/2006/main">
            <a:pPr algn="ctr">
              <a:defRPr sz="1800" b="1">
                <a:solidFill>
                  <a:srgbClr val="E2001A"/>
                </a:solidFill>
                <a:latin typeface="Calibri"/>
                <a:ea typeface="Calibri"/>
                <a:cs typeface="Calibri"/>
              </a:defRPr>
            </a:pPr>
            <a:r>
              <a:rPr sz="1800" b="1">
                <a:solidFill>
                  <a:srgbClr val="E2001A"/>
                </a:solidFill>
                <a:latin typeface="Calibri"/>
                <a:ea typeface="Calibri"/>
                <a:cs typeface="Calibri"/>
              </a:rPr>
              <a:t>Image-Gate</a:t>
            </a:r>
          </a:p>
        </p:txBody>
      </p:sp>
      <p:sp>
        <p:nvSpPr>
          <p:cNvPr id="17" name="">
            <a:extLst xmlns:a="http://schemas.openxmlformats.org/drawingml/2006/main">
              <a:ext uri="{FF2B5EF4-FFF2-40B4-BE49-F238E27FC236}">
                <a16:creationId xmlns:a16="http://schemas.microsoft.com/office/drawing/2014/main" id="{74974BDB-1D1F-481B-A853-5DBB19625E71}"/>
              </a:ext>
            </a:extLst>
          </p:cNvPr>
          <p:cNvSpPr>
            <a:spLocks xmlns:a="http://schemas.openxmlformats.org/drawingml/2006/main" noGrp="1"/>
          </p:cNvSpPr>
          <p:nvPr/>
        </p:nvSpPr>
        <p:spPr>
          <a:xfrm xmlns:a="http://schemas.openxmlformats.org/drawingml/2006/main">
            <a:off x="6429375" y="3810000"/>
            <a:ext cx="3048000" cy="1190625"/>
          </a:xfrm>
          <a:prstGeom xmlns:a="http://schemas.openxmlformats.org/drawingml/2006/main" prst="rect">
            <a:avLst/>
          </a:prstGeom>
          <a:solidFill xmlns:a="http://schemas.openxmlformats.org/drawingml/2006/main">
            <a:srgbClr val="F0F2F3"/>
          </a:solidFill>
          <a:ln xmlns:a="http://schemas.openxmlformats.org/drawingml/2006/main" w="9525">
            <a:solidFill>
              <a:srgbClr val="C4CBCF"/>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63640"/>
                </a:solidFill>
                <a:latin typeface="Calibri"/>
                <a:ea typeface="Calibri"/>
                <a:cs typeface="Calibri"/>
              </a:defRPr>
            </a:defPPr>
          </a:lstStyle>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Webdienst und ZAP</a:t>
            </a:r>
          </a:p>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Healthcheck, API-Smoke</a:t>
            </a:r>
          </a:p>
          <a:p xmlns:a="http://schemas.openxmlformats.org/drawingml/2006/main">
            <a:pPr algn="ctr">
              <a:defRPr sz="1800" b="0">
                <a:solidFill>
                  <a:srgbClr val="263640"/>
                </a:solidFill>
                <a:latin typeface="Calibri"/>
                <a:ea typeface="Calibri"/>
                <a:cs typeface="Calibri"/>
              </a:defRPr>
            </a:pPr>
            <a:r>
              <a:rPr sz="1800" b="0">
                <a:solidFill>
                  <a:srgbClr val="263640"/>
                </a:solidFill>
                <a:latin typeface="Calibri"/>
                <a:ea typeface="Calibri"/>
                <a:cs typeface="Calibri"/>
              </a:rPr>
              <a:t>passiver OpenAPI-Scan</a:t>
            </a:r>
          </a:p>
        </p:txBody>
      </p:sp>
      <p:sp>
        <p:nvSpPr>
          <p:cNvPr id="18" name="">
            <a:extLst xmlns:a="http://schemas.openxmlformats.org/drawingml/2006/main">
              <a:ext uri="{FF2B5EF4-FFF2-40B4-BE49-F238E27FC236}">
                <a16:creationId xmlns:a16="http://schemas.microsoft.com/office/drawing/2014/main" id="{0CFEC2BE-6C09-48D9-A631-29F2F487C963}"/>
              </a:ext>
            </a:extLst>
          </p:cNvPr>
          <p:cNvSpPr>
            <a:spLocks xmlns:a="http://schemas.openxmlformats.org/drawingml/2006/main" noGrp="1"/>
          </p:cNvSpPr>
          <p:nvPr/>
        </p:nvSpPr>
        <p:spPr>
          <a:xfrm xmlns:a="http://schemas.openxmlformats.org/drawingml/2006/main">
            <a:off x="9858375" y="3952875"/>
            <a:ext cx="16668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E2001A"/>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E2001A"/>
                </a:solidFill>
                <a:latin typeface="Calibri"/>
                <a:ea typeface="Calibri"/>
                <a:cs typeface="Calibri"/>
              </a:defRPr>
            </a:defPPr>
          </a:lstStyle>
          <a:p xmlns:a="http://schemas.openxmlformats.org/drawingml/2006/main">
            <a:pPr algn="ctr">
              <a:defRPr sz="1800" b="1">
                <a:solidFill>
                  <a:srgbClr val="E2001A"/>
                </a:solidFill>
                <a:latin typeface="Calibri"/>
                <a:ea typeface="Calibri"/>
                <a:cs typeface="Calibri"/>
              </a:defRPr>
            </a:pPr>
            <a:r>
              <a:rPr sz="1800" b="1">
                <a:solidFill>
                  <a:srgbClr val="E2001A"/>
                </a:solidFill>
                <a:latin typeface="Calibri"/>
                <a:ea typeface="Calibri"/>
                <a:cs typeface="Calibri"/>
              </a:rPr>
              <a:t>Abschluss-</a:t>
            </a:r>
          </a:p>
          <a:p xmlns:a="http://schemas.openxmlformats.org/drawingml/2006/main">
            <a:pPr algn="ctr">
              <a:defRPr sz="1800" b="1">
                <a:solidFill>
                  <a:srgbClr val="E2001A"/>
                </a:solidFill>
                <a:latin typeface="Calibri"/>
                <a:ea typeface="Calibri"/>
                <a:cs typeface="Calibri"/>
              </a:defRPr>
            </a:pPr>
            <a:r>
              <a:rPr sz="1800" b="1">
                <a:solidFill>
                  <a:srgbClr val="E2001A"/>
                </a:solidFill>
                <a:latin typeface="Calibri"/>
                <a:ea typeface="Calibri"/>
                <a:cs typeface="Calibri"/>
              </a:rPr>
              <a:t>Gate</a:t>
            </a:r>
          </a:p>
        </p:txBody>
      </p:sp>
      <p:sp>
        <p:nvSpPr>
          <p:cNvPr id="23" name="Nur PASS führt zum nächsten Abschnitt">
            <a:extLst xmlns:a="http://schemas.openxmlformats.org/drawingml/2006/main">
              <a:ext uri="{FF2B5EF4-FFF2-40B4-BE49-F238E27FC236}">
                <a16:creationId xmlns:a16="http://schemas.microsoft.com/office/drawing/2014/main" id="{2EA2741B-324E-4F52-9337-4D3140E4CD53}"/>
              </a:ext>
            </a:extLst>
          </p:cNvPr>
          <p:cNvSpPr>
            <a:spLocks xmlns:a="http://schemas.openxmlformats.org/drawingml/2006/main" noGrp="1"/>
          </p:cNvSpPr>
          <p:nvPr/>
        </p:nvSpPr>
        <p:spPr>
          <a:xfrm xmlns:a="http://schemas.openxmlformats.org/drawingml/2006/main">
            <a:off x="666750" y="52863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E2001A"/>
                </a:solidFill>
                <a:latin typeface="Calibri"/>
                <a:ea typeface="Calibri"/>
                <a:cs typeface="Calibri"/>
              </a:defRPr>
            </a:defPPr>
          </a:lstStyle>
          <a:p xmlns:a="http://schemas.openxmlformats.org/drawingml/2006/main">
            <a:pPr algn="l">
              <a:defRPr sz="2175" b="1">
                <a:solidFill>
                  <a:srgbClr val="E2001A"/>
                </a:solidFill>
                <a:latin typeface="Calibri"/>
                <a:ea typeface="Calibri"/>
                <a:cs typeface="Calibri"/>
              </a:defRPr>
            </a:pPr>
            <a:r>
              <a:rPr sz="2175" b="1">
                <a:solidFill>
                  <a:srgbClr val="E2001A"/>
                </a:solidFill>
                <a:latin typeface="Calibri"/>
                <a:ea typeface="Calibri"/>
                <a:cs typeface="Calibri"/>
              </a:rPr>
              <a:t>Nur PASS führt zum nächsten Abschnitt</a:t>
            </a:r>
          </a:p>
        </p:txBody>
      </p:sp>
      <p:sp>
        <p:nvSpPr>
          <p:cNvPr id="24" name="CLI baut und startet vor dem Vorab-Gate. Ohne HTTP entfällt ">
            <a:extLst xmlns:a="http://schemas.openxmlformats.org/drawingml/2006/main">
              <a:ext uri="{FF2B5EF4-FFF2-40B4-BE49-F238E27FC236}">
                <a16:creationId xmlns:a16="http://schemas.microsoft.com/office/drawing/2014/main" id="{79BB949B-F8D9-4291-BF12-6A0A2D6BE722}"/>
              </a:ext>
            </a:extLst>
          </p:cNvPr>
          <p:cNvSpPr>
            <a:spLocks xmlns:a="http://schemas.openxmlformats.org/drawingml/2006/main" noGrp="1"/>
          </p:cNvSpPr>
          <p:nvPr/>
        </p:nvSpPr>
        <p:spPr>
          <a:xfrm xmlns:a="http://schemas.openxmlformats.org/drawingml/2006/main">
            <a:off x="666750" y="5743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16A"/>
                </a:solidFill>
                <a:latin typeface="Calibri"/>
                <a:ea typeface="Calibri"/>
                <a:cs typeface="Calibri"/>
              </a:defRPr>
            </a:defPPr>
          </a:lstStyle>
          <a:p xmlns:a="http://schemas.openxmlformats.org/drawingml/2006/main">
            <a:pPr algn="l">
              <a:defRPr sz="1575" b="0">
                <a:solidFill>
                  <a:srgbClr val="52616A"/>
                </a:solidFill>
                <a:latin typeface="Calibri"/>
                <a:ea typeface="Calibri"/>
                <a:cs typeface="Calibri"/>
              </a:defRPr>
            </a:pPr>
            <a:r>
              <a:rPr sz="1575" b="0">
                <a:solidFill>
                  <a:srgbClr val="52616A"/>
                </a:solidFill>
                <a:latin typeface="Calibri"/>
                <a:ea typeface="Calibri"/>
                <a:cs typeface="Calibri"/>
              </a:rPr>
              <a:t>CLI baut und startet vor dem Vorab-Gate. Ohne HTTP entfällt ZAP. Abschluss: Reports und Cleanup.</a:t>
            </a:r>
          </a:p>
        </p:txBody>
      </p:sp>
    </p:spTree>
    <p:extLst>
      <p:ext uri="{BB962C8B-B14F-4D97-AF65-F5344CB8AC3E}">
        <p14:creationId xmlns:p14="http://schemas.microsoft.com/office/powerpoint/2010/main" val="157562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8F33E24-858C-425B-819D-5063B3E686E9}"/>
              </a:ext>
            </a:extLst>
          </p:cNvPr>
          <p:cNvPicPr>
            <a:picLocks xmlns:a="http://schemas.openxmlformats.org/drawingml/2006/main" noChangeAspect="1"/>
          </p:cNvPicPr>
          <p:nvPr/>
        </p:nvPicPr>
        <p:blipFill>
          <a:blip xmlns:r="http://schemas.openxmlformats.org/officeDocument/2006/relationships" xmlns:a="http://schemas.openxmlformats.org/drawingml/2006/main" r:embed="R03719e9fdcca420a"/>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Werkzeuge und Bezug zur Vorlesung">
            <a:extLst xmlns:a="http://schemas.openxmlformats.org/drawingml/2006/main">
              <a:ext uri="{FF2B5EF4-FFF2-40B4-BE49-F238E27FC236}">
                <a16:creationId xmlns:a16="http://schemas.microsoft.com/office/drawing/2014/main" id="{FDEAA8DF-94ED-4F6B-B09A-4ABD8546C6E7}"/>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Werkzeuge und Bezug zur Vorlesung</a:t>
            </a:r>
          </a:p>
        </p:txBody>
      </p:sp>
      <p:sp>
        <p:nvSpPr>
          <p:cNvPr id="3" name="">
            <a:extLst xmlns:a="http://schemas.openxmlformats.org/drawingml/2006/main">
              <a:ext uri="{FF2B5EF4-FFF2-40B4-BE49-F238E27FC236}">
                <a16:creationId xmlns:a16="http://schemas.microsoft.com/office/drawing/2014/main" id="{AFF3CCD5-59B8-48EF-B996-AA073E7612AF}"/>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Skript S. 32–33, 37–39 und 46 (PDF-Seiten 33–34, 38–40 und 4">
            <a:extLst xmlns:a="http://schemas.openxmlformats.org/drawingml/2006/main">
              <a:ext uri="{FF2B5EF4-FFF2-40B4-BE49-F238E27FC236}">
                <a16:creationId xmlns:a16="http://schemas.microsoft.com/office/drawing/2014/main" id="{FCD04846-136A-49A9-85BD-7BC15986787F}"/>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Skript S. 32–33, 37–39 und 46 (PDF-Seiten 33–34, 38–40 und 47)</a:t>
            </a:r>
          </a:p>
        </p:txBody>
      </p:sp>
      <p:sp>
        <p:nvSpPr>
          <p:cNvPr id="5" name="">
            <a:extLst xmlns:a="http://schemas.openxmlformats.org/drawingml/2006/main">
              <a:ext uri="{FF2B5EF4-FFF2-40B4-BE49-F238E27FC236}">
                <a16:creationId xmlns:a16="http://schemas.microsoft.com/office/drawing/2014/main" id="{B64380F8-A977-4A74-A742-67FF5A3E27B8}"/>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DB2D58E0-010D-4A7B-82B6-BCB9FD06A99D}"/>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4">
            <a:extLst xmlns:a="http://schemas.openxmlformats.org/drawingml/2006/main">
              <a:ext uri="{FF2B5EF4-FFF2-40B4-BE49-F238E27FC236}">
                <a16:creationId xmlns:a16="http://schemas.microsoft.com/office/drawing/2014/main" id="{D1F9EC16-81DA-4B25-BBDE-A7C8DBA459AD}"/>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4</a:t>
            </a:r>
          </a:p>
        </p:txBody>
      </p:sp>
      <p:graphicFrame>
        <p:nvGraphicFramePr>
          <p:cNvPr id="8" name="">
            <a:extLst xmlns:a="http://schemas.openxmlformats.org/drawingml/2006/main">
              <a:ext uri="{FF2B5EF4-FFF2-40B4-BE49-F238E27FC236}">
                <a16:creationId xmlns:a16="http://schemas.microsoft.com/office/drawing/2014/main" id="{5EF32979-16D6-445D-81E2-ACE01600C3CC}"/>
              </a:ext>
            </a:extLst>
          </p:cNvPr>
          <p:cNvGraphicFramePr/>
          <p:nvPr/>
        </p:nvGraphicFramePr>
        <p:xfrm>
          <a:off xmlns:a="http://schemas.openxmlformats.org/drawingml/2006/main" x="666750" y="1762125"/>
          <a:ext xmlns:a="http://schemas.openxmlformats.org/drawingml/2006/main" cx="10858500" cy="3714750"/>
        </p:xfrm>
        <a:graphic xmlns:a="http://schemas.openxmlformats.org/drawingml/2006/main">
          <a:graphicData uri="http://schemas.openxmlformats.org/drawingml/2006/table">
            <a:tbl>
              <a:tblPr/>
              <a:tblGrid>
                <a:gridCol w="2952750"/>
                <a:gridCol w="3429000"/>
                <a:gridCol w="4476750"/>
              </a:tblGrid>
              <a:tr h="619125">
                <a:tc>
                  <a:txBody>
                    <a:bodyPr lIns="76200" tIns="76200" rIns="76200" bIns="76200"/>
                    <a:lstStyle/>
                    <a:p>
                      <a:r>
                        <a:rPr sz="1800" b="1">
                          <a:solidFill>
                            <a:srgbClr val="FFFFFF"/>
                          </a:solidFill>
                          <a:latin typeface="Calibri"/>
                          <a:ea typeface="Calibri"/>
                          <a:cs typeface="Calibri"/>
                        </a:rPr>
                        <a:t>Prüfbereich</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00" b="1">
                          <a:solidFill>
                            <a:srgbClr val="FFFFFF"/>
                          </a:solidFill>
                          <a:latin typeface="Calibri"/>
                          <a:ea typeface="Calibri"/>
                          <a:cs typeface="Calibri"/>
                        </a:rPr>
                        <a:t>Unsere Werkzeuge</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00" b="1">
                          <a:solidFill>
                            <a:srgbClr val="FFFFFF"/>
                          </a:solidFill>
                          <a:latin typeface="Calibri"/>
                          <a:ea typeface="Calibri"/>
                          <a:cs typeface="Calibri"/>
                        </a:rPr>
                        <a:t>Verbindung zum Skript</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619125">
                <a:tc>
                  <a:txBody>
                    <a:bodyPr lIns="76200" tIns="76200" rIns="76200" bIns="76200"/>
                    <a:lstStyle/>
                    <a:p>
                      <a:r>
                        <a:rPr sz="1800" b="0">
                          <a:solidFill>
                            <a:srgbClr val="263640"/>
                          </a:solidFill>
                          <a:latin typeface="Calibri"/>
                          <a:ea typeface="Calibri"/>
                          <a:cs typeface="Calibri"/>
                        </a:rPr>
                        <a:t>Eigener Code / SAST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Semgrep, Bandit</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Beide ausdrücklich genannt, S. 46</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619125">
                <a:tc>
                  <a:txBody>
                    <a:bodyPr lIns="76200" tIns="76200" rIns="76200" bIns="76200"/>
                    <a:lstStyle/>
                    <a:p>
                      <a:r>
                        <a:rPr sz="1800" b="0">
                          <a:solidFill>
                            <a:srgbClr val="263640"/>
                          </a:solidFill>
                          <a:latin typeface="Calibri"/>
                          <a:ea typeface="Calibri"/>
                          <a:cs typeface="Calibri"/>
                        </a:rPr>
                        <a:t>Komponenten / SCA</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Trivy-FS</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SCA S. 38, Dependency Check S. 46</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619125">
                <a:tc>
                  <a:txBody>
                    <a:bodyPr lIns="76200" tIns="76200" rIns="76200" bIns="76200"/>
                    <a:lstStyle/>
                    <a:p>
                      <a:r>
                        <a:rPr sz="1800" b="0">
                          <a:solidFill>
                            <a:srgbClr val="263640"/>
                          </a:solidFill>
                          <a:latin typeface="Calibri"/>
                          <a:ea typeface="Calibri"/>
                          <a:cs typeface="Calibri"/>
                        </a:rPr>
                        <a:t>Container und Build</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Trivy, hadolint, Dockle</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Trivy S. 46, andere ergänzen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619125">
                <a:tc>
                  <a:txBody>
                    <a:bodyPr lIns="76200" tIns="76200" rIns="76200" bIns="76200"/>
                    <a:lstStyle/>
                    <a:p>
                      <a:r>
                        <a:rPr sz="1800" b="0">
                          <a:solidFill>
                            <a:srgbClr val="263640"/>
                          </a:solidFill>
                          <a:latin typeface="Calibri"/>
                          <a:ea typeface="Calibri"/>
                          <a:cs typeface="Calibri"/>
                        </a:rPr>
                        <a:t>Laufende Webanwendung</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OWASP ZAP, passiv</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ZAP ausdrücklich genannt, S. 46</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619125">
                <a:tc>
                  <a:txBody>
                    <a:bodyPr lIns="76200" tIns="76200" rIns="76200" bIns="76200"/>
                    <a:lstStyle/>
                    <a:p>
                      <a:r>
                        <a:rPr sz="1800" b="0">
                          <a:solidFill>
                            <a:srgbClr val="263640"/>
                          </a:solidFill>
                          <a:latin typeface="Calibri"/>
                          <a:ea typeface="Calibri"/>
                          <a:cs typeface="Calibri"/>
                        </a:rPr>
                        <a:t>Secrets und Inventar</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Gitleaks, Syft / CycloneDX</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Ergänzungen, Vault-Konzept S. 42</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bl>
          </a:graphicData>
        </a:graphic>
      </p:graphicFrame>
      <p:sp>
        <p:nvSpPr>
          <p:cNvPr id="9" name="Syft liefert eine SBOM. Ein Inventar ersetzt keinen Schwachs">
            <a:extLst xmlns:a="http://schemas.openxmlformats.org/drawingml/2006/main">
              <a:ext uri="{FF2B5EF4-FFF2-40B4-BE49-F238E27FC236}">
                <a16:creationId xmlns:a16="http://schemas.microsoft.com/office/drawing/2014/main" id="{8FD998F0-1FFB-4FA4-AAB1-1C71B1E59C98}"/>
              </a:ext>
            </a:extLst>
          </p:cNvPr>
          <p:cNvSpPr>
            <a:spLocks xmlns:a="http://schemas.openxmlformats.org/drawingml/2006/main" noGrp="1"/>
          </p:cNvSpPr>
          <p:nvPr/>
        </p:nvSpPr>
        <p:spPr>
          <a:xfrm xmlns:a="http://schemas.openxmlformats.org/drawingml/2006/main">
            <a:off x="666750" y="57054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A"/>
                </a:solidFill>
                <a:latin typeface="Calibri"/>
                <a:ea typeface="Calibri"/>
                <a:cs typeface="Calibri"/>
              </a:defRPr>
            </a:defPPr>
          </a:lstStyle>
          <a:p xmlns:a="http://schemas.openxmlformats.org/drawingml/2006/main">
            <a:pPr algn="l">
              <a:defRPr sz="1800" b="0">
                <a:solidFill>
                  <a:srgbClr val="52616A"/>
                </a:solidFill>
                <a:latin typeface="Calibri"/>
                <a:ea typeface="Calibri"/>
                <a:cs typeface="Calibri"/>
              </a:defRPr>
            </a:pPr>
            <a:r>
              <a:rPr sz="1800" b="0">
                <a:solidFill>
                  <a:srgbClr val="52616A"/>
                </a:solidFill>
                <a:latin typeface="Calibri"/>
                <a:ea typeface="Calibri"/>
                <a:cs typeface="Calibri"/>
              </a:rPr>
              <a:t>Syft liefert eine SBOM. Ein Inventar ersetzt keinen Schwachstellenscan.</a:t>
            </a:r>
          </a:p>
        </p:txBody>
      </p:sp>
    </p:spTree>
    <p:extLst>
      <p:ext uri="{BB962C8B-B14F-4D97-AF65-F5344CB8AC3E}">
        <p14:creationId xmlns:p14="http://schemas.microsoft.com/office/powerpoint/2010/main" val="21416135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6CD31BA-EB41-4950-B12A-FDB0D09E2731}"/>
              </a:ext>
            </a:extLst>
          </p:cNvPr>
          <p:cNvPicPr>
            <a:picLocks xmlns:a="http://schemas.openxmlformats.org/drawingml/2006/main" noChangeAspect="1"/>
          </p:cNvPicPr>
          <p:nvPr/>
        </p:nvPicPr>
        <p:blipFill>
          <a:blip xmlns:r="http://schemas.openxmlformats.org/officeDocument/2006/relationships" xmlns:a="http://schemas.openxmlformats.org/drawingml/2006/main" r:embed="R4eb2a80b438a4416"/>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Codebeispiel 1: Flask-API und SQL-Injection">
            <a:extLst xmlns:a="http://schemas.openxmlformats.org/drawingml/2006/main">
              <a:ext uri="{FF2B5EF4-FFF2-40B4-BE49-F238E27FC236}">
                <a16:creationId xmlns:a16="http://schemas.microsoft.com/office/drawing/2014/main" id="{A1F2E46D-0048-455E-AF01-293251996328}"/>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Codebeispiel 1: Flask-API und SQL-Injection</a:t>
            </a:r>
          </a:p>
        </p:txBody>
      </p:sp>
      <p:sp>
        <p:nvSpPr>
          <p:cNvPr id="3" name="">
            <a:extLst xmlns:a="http://schemas.openxmlformats.org/drawingml/2006/main">
              <a:ext uri="{FF2B5EF4-FFF2-40B4-BE49-F238E27FC236}">
                <a16:creationId xmlns:a16="http://schemas.microsoft.com/office/drawing/2014/main" id="{430E1E5D-CD97-4C78-B0B1-CD4E3863EFA2}"/>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workloads/01-flask-api/{vulnerable,fixed}/app.py; Ausschnitt">
            <a:extLst xmlns:a="http://schemas.openxmlformats.org/drawingml/2006/main">
              <a:ext uri="{FF2B5EF4-FFF2-40B4-BE49-F238E27FC236}">
                <a16:creationId xmlns:a16="http://schemas.microsoft.com/office/drawing/2014/main" id="{48411E46-59AE-46C3-90E5-A9C782222BBB}"/>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workloads/01-flask-api/{vulnerable,fixed}/app.py; Ausschnitt aus get_user()</a:t>
            </a:r>
          </a:p>
        </p:txBody>
      </p:sp>
      <p:sp>
        <p:nvSpPr>
          <p:cNvPr id="5" name="">
            <a:extLst xmlns:a="http://schemas.openxmlformats.org/drawingml/2006/main">
              <a:ext uri="{FF2B5EF4-FFF2-40B4-BE49-F238E27FC236}">
                <a16:creationId xmlns:a16="http://schemas.microsoft.com/office/drawing/2014/main" id="{A6B4A560-8B96-4FAB-8CF0-0EABA8913C59}"/>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4ADCAAF8-440A-4EF0-9ACC-7175AD7444E4}"/>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5">
            <a:extLst xmlns:a="http://schemas.openxmlformats.org/drawingml/2006/main">
              <a:ext uri="{FF2B5EF4-FFF2-40B4-BE49-F238E27FC236}">
                <a16:creationId xmlns:a16="http://schemas.microsoft.com/office/drawing/2014/main" id="{205ADAE7-0872-4BE2-ABF3-D021DE726324}"/>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5</a:t>
            </a:r>
          </a:p>
        </p:txBody>
      </p:sp>
      <p:sp>
        <p:nvSpPr>
          <p:cNvPr id="8" name="Vulnerable: Eingabe wird SQL-Text">
            <a:extLst xmlns:a="http://schemas.openxmlformats.org/drawingml/2006/main">
              <a:ext uri="{FF2B5EF4-FFF2-40B4-BE49-F238E27FC236}">
                <a16:creationId xmlns:a16="http://schemas.microsoft.com/office/drawing/2014/main" id="{FEEF9A39-5B41-4BD3-923D-ABD9B109466E}"/>
              </a:ext>
            </a:extLst>
          </p:cNvPr>
          <p:cNvSpPr>
            <a:spLocks xmlns:a="http://schemas.openxmlformats.org/drawingml/2006/main" noGrp="1"/>
          </p:cNvSpPr>
          <p:nvPr/>
        </p:nvSpPr>
        <p:spPr>
          <a:xfrm xmlns:a="http://schemas.openxmlformats.org/drawingml/2006/main">
            <a:off x="666750" y="18097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2001A"/>
                </a:solidFill>
                <a:latin typeface="Calibri"/>
                <a:ea typeface="Calibri"/>
                <a:cs typeface="Calibri"/>
              </a:defRPr>
            </a:defPPr>
          </a:lstStyle>
          <a:p xmlns:a="http://schemas.openxmlformats.org/drawingml/2006/main">
            <a:pPr algn="l">
              <a:defRPr sz="1800" b="1">
                <a:solidFill>
                  <a:srgbClr val="E2001A"/>
                </a:solidFill>
                <a:latin typeface="Calibri"/>
                <a:ea typeface="Calibri"/>
                <a:cs typeface="Calibri"/>
              </a:defRPr>
            </a:pPr>
            <a:r>
              <a:rPr sz="1800" b="1">
                <a:solidFill>
                  <a:srgbClr val="E2001A"/>
                </a:solidFill>
                <a:latin typeface="Calibri"/>
                <a:ea typeface="Calibri"/>
                <a:cs typeface="Calibri"/>
              </a:rPr>
              <a:t>Vulnerable: Eingabe wird SQL-Text</a:t>
            </a:r>
          </a:p>
        </p:txBody>
      </p:sp>
      <p:sp>
        <p:nvSpPr>
          <p:cNvPr id="9" name="query = &quot;SELECT id, name, role FROM users WHERE name = '&quot; + ">
            <a:extLst xmlns:a="http://schemas.openxmlformats.org/drawingml/2006/main">
              <a:ext uri="{FF2B5EF4-FFF2-40B4-BE49-F238E27FC236}">
                <a16:creationId xmlns:a16="http://schemas.microsoft.com/office/drawing/2014/main" id="{57A6EE8B-32BA-42DB-9C51-E53671E329F8}"/>
              </a:ext>
            </a:extLst>
          </p:cNvPr>
          <p:cNvSpPr>
            <a:spLocks xmlns:a="http://schemas.openxmlformats.org/drawingml/2006/main" noGrp="1"/>
          </p:cNvSpPr>
          <p:nvPr/>
        </p:nvSpPr>
        <p:spPr>
          <a:xfrm xmlns:a="http://schemas.openxmlformats.org/drawingml/2006/main">
            <a:off x="666750" y="22764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640"/>
                </a:solidFill>
                <a:latin typeface="Consolas"/>
                <a:ea typeface="Consolas"/>
                <a:cs typeface="Consolas"/>
              </a:defRPr>
            </a:defPPr>
          </a:lstStyle>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query = "SELECT id, name, role FROM users WHERE name = '" + name + "'"</a:t>
            </a:r>
          </a:p>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rows = conn.execute(query).fetchall()</a:t>
            </a:r>
          </a:p>
        </p:txBody>
      </p:sp>
      <p:sp>
        <p:nvSpPr>
          <p:cNvPr id="10" name="Fixed: Datenbanktreiber bindet den Parameter">
            <a:extLst xmlns:a="http://schemas.openxmlformats.org/drawingml/2006/main">
              <a:ext uri="{FF2B5EF4-FFF2-40B4-BE49-F238E27FC236}">
                <a16:creationId xmlns:a16="http://schemas.microsoft.com/office/drawing/2014/main" id="{4A8779D7-B8E7-4418-9A72-556D86C20AB3}"/>
              </a:ext>
            </a:extLst>
          </p:cNvPr>
          <p:cNvSpPr>
            <a:spLocks xmlns:a="http://schemas.openxmlformats.org/drawingml/2006/main" noGrp="1"/>
          </p:cNvSpPr>
          <p:nvPr/>
        </p:nvSpPr>
        <p:spPr>
          <a:xfrm xmlns:a="http://schemas.openxmlformats.org/drawingml/2006/main">
            <a:off x="666750" y="33813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646"/>
                </a:solidFill>
                <a:latin typeface="Calibri"/>
                <a:ea typeface="Calibri"/>
                <a:cs typeface="Calibri"/>
              </a:defRPr>
            </a:defPPr>
          </a:lstStyle>
          <a:p xmlns:a="http://schemas.openxmlformats.org/drawingml/2006/main">
            <a:pPr algn="l">
              <a:defRPr sz="1800" b="1">
                <a:solidFill>
                  <a:srgbClr val="236646"/>
                </a:solidFill>
                <a:latin typeface="Calibri"/>
                <a:ea typeface="Calibri"/>
                <a:cs typeface="Calibri"/>
              </a:defRPr>
            </a:pPr>
            <a:r>
              <a:rPr sz="1800" b="1">
                <a:solidFill>
                  <a:srgbClr val="236646"/>
                </a:solidFill>
                <a:latin typeface="Calibri"/>
                <a:ea typeface="Calibri"/>
                <a:cs typeface="Calibri"/>
              </a:rPr>
              <a:t>Fixed: Datenbanktreiber bindet den Parameter</a:t>
            </a:r>
          </a:p>
        </p:txBody>
      </p:sp>
      <p:sp>
        <p:nvSpPr>
          <p:cNvPr id="11" name="rows = conn.execute(&#10;    &quot;SELECT id, name, role FROM users W">
            <a:extLst xmlns:a="http://schemas.openxmlformats.org/drawingml/2006/main">
              <a:ext uri="{FF2B5EF4-FFF2-40B4-BE49-F238E27FC236}">
                <a16:creationId xmlns:a16="http://schemas.microsoft.com/office/drawing/2014/main" id="{2EAE7ED8-BC77-4AAD-B656-3F5856A34E0E}"/>
              </a:ext>
            </a:extLst>
          </p:cNvPr>
          <p:cNvSpPr>
            <a:spLocks xmlns:a="http://schemas.openxmlformats.org/drawingml/2006/main" noGrp="1"/>
          </p:cNvSpPr>
          <p:nvPr/>
        </p:nvSpPr>
        <p:spPr>
          <a:xfrm xmlns:a="http://schemas.openxmlformats.org/drawingml/2006/main">
            <a:off x="666750" y="38481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640"/>
                </a:solidFill>
                <a:latin typeface="Consolas"/>
                <a:ea typeface="Consolas"/>
                <a:cs typeface="Consolas"/>
              </a:defRPr>
            </a:defPPr>
          </a:lstStyle>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rows = conn.execute(</a:t>
            </a:r>
          </a:p>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    "SELECT id, name, role FROM users WHERE name = ?", (name,)</a:t>
            </a:r>
          </a:p>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).fetchall()</a:t>
            </a:r>
          </a:p>
        </p:txBody>
      </p:sp>
      <p:sp>
        <p:nvSpPr>
          <p:cNvPr id="12" name="Weitere Muster: unmaskiertes HTML, Shell-Aufruf, MD5 und Deb">
            <a:extLst xmlns:a="http://schemas.openxmlformats.org/drawingml/2006/main">
              <a:ext uri="{FF2B5EF4-FFF2-40B4-BE49-F238E27FC236}">
                <a16:creationId xmlns:a16="http://schemas.microsoft.com/office/drawing/2014/main" id="{35C9A987-FBD1-4030-910A-610F36BED234}"/>
              </a:ext>
            </a:extLst>
          </p:cNvPr>
          <p:cNvSpPr>
            <a:spLocks xmlns:a="http://schemas.openxmlformats.org/drawingml/2006/main" noGrp="1"/>
          </p:cNvSpPr>
          <p:nvPr/>
        </p:nvSpPr>
        <p:spPr>
          <a:xfrm xmlns:a="http://schemas.openxmlformats.org/drawingml/2006/main">
            <a:off x="666750" y="5286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Weitere Muster: unmaskiertes HTML, Shell-Aufruf, MD5 und Debug-Modus</a:t>
            </a:r>
          </a:p>
        </p:txBody>
      </p:sp>
    </p:spTree>
    <p:extLst>
      <p:ext uri="{BB962C8B-B14F-4D97-AF65-F5344CB8AC3E}">
        <p14:creationId xmlns:p14="http://schemas.microsoft.com/office/powerpoint/2010/main" val="13738914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A241550-955D-4D32-ADFA-AD5521B1F3C0}"/>
              </a:ext>
            </a:extLst>
          </p:cNvPr>
          <p:cNvPicPr>
            <a:picLocks xmlns:a="http://schemas.openxmlformats.org/drawingml/2006/main" noChangeAspect="1"/>
          </p:cNvPicPr>
          <p:nvPr/>
        </p:nvPicPr>
        <p:blipFill>
          <a:blip xmlns:r="http://schemas.openxmlformats.org/officeDocument/2006/relationships" xmlns:a="http://schemas.openxmlformats.org/drawingml/2006/main" r:embed="R93fa69fdfe1949b5"/>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Codebeispiel 2: YAML-CLI und Abhängigkeiten">
            <a:extLst xmlns:a="http://schemas.openxmlformats.org/drawingml/2006/main">
              <a:ext uri="{FF2B5EF4-FFF2-40B4-BE49-F238E27FC236}">
                <a16:creationId xmlns:a16="http://schemas.microsoft.com/office/drawing/2014/main" id="{F0480F94-0995-4449-8E0C-55BC5EEDF89A}"/>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Codebeispiel 2: YAML-CLI und Abhängigkeiten</a:t>
            </a:r>
          </a:p>
        </p:txBody>
      </p:sp>
      <p:sp>
        <p:nvSpPr>
          <p:cNvPr id="3" name="">
            <a:extLst xmlns:a="http://schemas.openxmlformats.org/drawingml/2006/main">
              <a:ext uri="{FF2B5EF4-FFF2-40B4-BE49-F238E27FC236}">
                <a16:creationId xmlns:a16="http://schemas.microsoft.com/office/drawing/2014/main" id="{365C8370-BA0C-4334-AE45-502A92468927}"/>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workloads/02-cli-deps/{vulnerable,fixed}/main.py und require">
            <a:extLst xmlns:a="http://schemas.openxmlformats.org/drawingml/2006/main">
              <a:ext uri="{FF2B5EF4-FFF2-40B4-BE49-F238E27FC236}">
                <a16:creationId xmlns:a16="http://schemas.microsoft.com/office/drawing/2014/main" id="{FFD7ECA2-A3FB-4D08-B892-3CE9F6CA1296}"/>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workloads/02-cli-deps/{vulnerable,fixed}/main.py und requirements.txt; Ausschnitte aus mehreren Funktionen</a:t>
            </a:r>
          </a:p>
        </p:txBody>
      </p:sp>
      <p:sp>
        <p:nvSpPr>
          <p:cNvPr id="5" name="">
            <a:extLst xmlns:a="http://schemas.openxmlformats.org/drawingml/2006/main">
              <a:ext uri="{FF2B5EF4-FFF2-40B4-BE49-F238E27FC236}">
                <a16:creationId xmlns:a16="http://schemas.microsoft.com/office/drawing/2014/main" id="{54D01A7F-3BC4-480B-906C-3D910FEFEE6F}"/>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E20CDB0E-AB07-4CBB-9D99-01EFE3155D18}"/>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6">
            <a:extLst xmlns:a="http://schemas.openxmlformats.org/drawingml/2006/main">
              <a:ext uri="{FF2B5EF4-FFF2-40B4-BE49-F238E27FC236}">
                <a16:creationId xmlns:a16="http://schemas.microsoft.com/office/drawing/2014/main" id="{C9922778-9366-45DA-BE63-3307671DE7C9}"/>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6</a:t>
            </a:r>
          </a:p>
        </p:txBody>
      </p:sp>
      <p:sp>
        <p:nvSpPr>
          <p:cNvPr id="8" name="Vulnerable">
            <a:extLst xmlns:a="http://schemas.openxmlformats.org/drawingml/2006/main">
              <a:ext uri="{FF2B5EF4-FFF2-40B4-BE49-F238E27FC236}">
                <a16:creationId xmlns:a16="http://schemas.microsoft.com/office/drawing/2014/main" id="{93B85CA5-50ED-4044-A26B-A729156313CE}"/>
              </a:ext>
            </a:extLst>
          </p:cNvPr>
          <p:cNvSpPr>
            <a:spLocks xmlns:a="http://schemas.openxmlformats.org/drawingml/2006/main" noGrp="1"/>
          </p:cNvSpPr>
          <p:nvPr/>
        </p:nvSpPr>
        <p:spPr>
          <a:xfrm xmlns:a="http://schemas.openxmlformats.org/drawingml/2006/main">
            <a:off x="666750" y="1857375"/>
            <a:ext cx="581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2001A"/>
                </a:solidFill>
                <a:latin typeface="Calibri"/>
                <a:ea typeface="Calibri"/>
                <a:cs typeface="Calibri"/>
              </a:defRPr>
            </a:defPPr>
          </a:lstStyle>
          <a:p xmlns:a="http://schemas.openxmlformats.org/drawingml/2006/main">
            <a:pPr algn="l">
              <a:defRPr sz="1800" b="1">
                <a:solidFill>
                  <a:srgbClr val="E2001A"/>
                </a:solidFill>
                <a:latin typeface="Calibri"/>
                <a:ea typeface="Calibri"/>
                <a:cs typeface="Calibri"/>
              </a:defRPr>
            </a:pPr>
            <a:r>
              <a:rPr sz="1800" b="1">
                <a:solidFill>
                  <a:srgbClr val="E2001A"/>
                </a:solidFill>
                <a:latin typeface="Calibri"/>
                <a:ea typeface="Calibri"/>
                <a:cs typeface="Calibri"/>
              </a:rPr>
              <a:t>Vulnerable</a:t>
            </a:r>
          </a:p>
        </p:txBody>
      </p:sp>
      <p:sp>
        <p:nvSpPr>
          <p:cNvPr id="9" name="yaml.unsafe_load(fh.read())&#10;requests.get(url, verify=False, ">
            <a:extLst xmlns:a="http://schemas.openxmlformats.org/drawingml/2006/main">
              <a:ext uri="{FF2B5EF4-FFF2-40B4-BE49-F238E27FC236}">
                <a16:creationId xmlns:a16="http://schemas.microsoft.com/office/drawing/2014/main" id="{1CBE8371-9B53-4693-904F-AD38E50F420A}"/>
              </a:ext>
            </a:extLst>
          </p:cNvPr>
          <p:cNvSpPr>
            <a:spLocks xmlns:a="http://schemas.openxmlformats.org/drawingml/2006/main" noGrp="1"/>
          </p:cNvSpPr>
          <p:nvPr/>
        </p:nvSpPr>
        <p:spPr>
          <a:xfrm xmlns:a="http://schemas.openxmlformats.org/drawingml/2006/main">
            <a:off x="666750" y="2324100"/>
            <a:ext cx="5810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640"/>
                </a:solidFill>
                <a:latin typeface="Consolas"/>
                <a:ea typeface="Consolas"/>
                <a:cs typeface="Consolas"/>
              </a:defRPr>
            </a:defPPr>
          </a:lstStyle>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yaml.unsafe_load(fh.read())</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requests.get(url, verify=False, timeout=10)</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tempfile.mktemp(suffix=".cache")</a:t>
            </a:r>
          </a:p>
        </p:txBody>
      </p:sp>
      <p:sp>
        <p:nvSpPr>
          <p:cNvPr id="10" name="Fixed">
            <a:extLst xmlns:a="http://schemas.openxmlformats.org/drawingml/2006/main">
              <a:ext uri="{FF2B5EF4-FFF2-40B4-BE49-F238E27FC236}">
                <a16:creationId xmlns:a16="http://schemas.microsoft.com/office/drawing/2014/main" id="{F28C3283-5B56-4C9D-8DC9-8F6AAB64E091}"/>
              </a:ext>
            </a:extLst>
          </p:cNvPr>
          <p:cNvSpPr>
            <a:spLocks xmlns:a="http://schemas.openxmlformats.org/drawingml/2006/main" noGrp="1"/>
          </p:cNvSpPr>
          <p:nvPr/>
        </p:nvSpPr>
        <p:spPr>
          <a:xfrm xmlns:a="http://schemas.openxmlformats.org/drawingml/2006/main">
            <a:off x="6858000" y="18573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646"/>
                </a:solidFill>
                <a:latin typeface="Calibri"/>
                <a:ea typeface="Calibri"/>
                <a:cs typeface="Calibri"/>
              </a:defRPr>
            </a:defPPr>
          </a:lstStyle>
          <a:p xmlns:a="http://schemas.openxmlformats.org/drawingml/2006/main">
            <a:pPr algn="l">
              <a:defRPr sz="1800" b="1">
                <a:solidFill>
                  <a:srgbClr val="236646"/>
                </a:solidFill>
                <a:latin typeface="Calibri"/>
                <a:ea typeface="Calibri"/>
                <a:cs typeface="Calibri"/>
              </a:defRPr>
            </a:pPr>
            <a:r>
              <a:rPr sz="1800" b="1">
                <a:solidFill>
                  <a:srgbClr val="236646"/>
                </a:solidFill>
                <a:latin typeface="Calibri"/>
                <a:ea typeface="Calibri"/>
                <a:cs typeface="Calibri"/>
              </a:rPr>
              <a:t>Fixed</a:t>
            </a:r>
          </a:p>
        </p:txBody>
      </p:sp>
      <p:sp>
        <p:nvSpPr>
          <p:cNvPr id="11" name="yaml.safe_load(fh.read()) or {}&#10;requests.get(url, timeout=10">
            <a:extLst xmlns:a="http://schemas.openxmlformats.org/drawingml/2006/main">
              <a:ext uri="{FF2B5EF4-FFF2-40B4-BE49-F238E27FC236}">
                <a16:creationId xmlns:a16="http://schemas.microsoft.com/office/drawing/2014/main" id="{86E3204D-5AB9-4620-90FB-F47E16D951FA}"/>
              </a:ext>
            </a:extLst>
          </p:cNvPr>
          <p:cNvSpPr>
            <a:spLocks xmlns:a="http://schemas.openxmlformats.org/drawingml/2006/main" noGrp="1"/>
          </p:cNvSpPr>
          <p:nvPr/>
        </p:nvSpPr>
        <p:spPr>
          <a:xfrm xmlns:a="http://schemas.openxmlformats.org/drawingml/2006/main">
            <a:off x="6858000" y="23241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640"/>
                </a:solidFill>
                <a:latin typeface="Consolas"/>
                <a:ea typeface="Consolas"/>
                <a:cs typeface="Consolas"/>
              </a:defRPr>
            </a:defPPr>
          </a:lstStyle>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yaml.safe_load(fh.read()) or {}</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requests.get(url, timeout=10,</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             verify=True)</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tempfile.NamedTemporaryFile(...)</a:t>
            </a:r>
          </a:p>
        </p:txBody>
      </p:sp>
      <p:sp>
        <p:nvSpPr>
          <p:cNvPr id="12" name="SAST erkennt unsichere Aufrufe">
            <a:extLst xmlns:a="http://schemas.openxmlformats.org/drawingml/2006/main">
              <a:ext uri="{FF2B5EF4-FFF2-40B4-BE49-F238E27FC236}">
                <a16:creationId xmlns:a16="http://schemas.microsoft.com/office/drawing/2014/main" id="{24D72366-2A6A-461C-81EF-081A57E1EEC7}"/>
              </a:ext>
            </a:extLst>
          </p:cNvPr>
          <p:cNvSpPr>
            <a:spLocks xmlns:a="http://schemas.openxmlformats.org/drawingml/2006/main" noGrp="1"/>
          </p:cNvSpPr>
          <p:nvPr/>
        </p:nvSpPr>
        <p:spPr>
          <a:xfrm xmlns:a="http://schemas.openxmlformats.org/drawingml/2006/main">
            <a:off x="666750" y="4191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52616A"/>
                </a:solidFill>
                <a:latin typeface="Calibri"/>
                <a:ea typeface="Calibri"/>
                <a:cs typeface="Calibri"/>
              </a:defRPr>
            </a:defPPr>
          </a:lstStyle>
          <a:p xmlns:a="http://schemas.openxmlformats.org/drawingml/2006/main">
            <a:pPr algn="l">
              <a:defRPr sz="2325" b="1">
                <a:solidFill>
                  <a:srgbClr val="52616A"/>
                </a:solidFill>
                <a:latin typeface="Calibri"/>
                <a:ea typeface="Calibri"/>
                <a:cs typeface="Calibri"/>
              </a:defRPr>
            </a:pPr>
            <a:r>
              <a:rPr sz="2325" b="1">
                <a:solidFill>
                  <a:srgbClr val="52616A"/>
                </a:solidFill>
                <a:latin typeface="Calibri"/>
                <a:ea typeface="Calibri"/>
                <a:cs typeface="Calibri"/>
              </a:rPr>
              <a:t>SAST erkennt unsichere Aufrufe</a:t>
            </a:r>
          </a:p>
        </p:txBody>
      </p:sp>
      <p:sp>
        <p:nvSpPr>
          <p:cNvPr id="13" name="SCA meldet bekannte Lücken alter Paketversionen">
            <a:extLst xmlns:a="http://schemas.openxmlformats.org/drawingml/2006/main">
              <a:ext uri="{FF2B5EF4-FFF2-40B4-BE49-F238E27FC236}">
                <a16:creationId xmlns:a16="http://schemas.microsoft.com/office/drawing/2014/main" id="{30C8096E-86FA-4D52-BB9A-016A50AD72B3}"/>
              </a:ext>
            </a:extLst>
          </p:cNvPr>
          <p:cNvSpPr>
            <a:spLocks xmlns:a="http://schemas.openxmlformats.org/drawingml/2006/main" noGrp="1"/>
          </p:cNvSpPr>
          <p:nvPr/>
        </p:nvSpPr>
        <p:spPr>
          <a:xfrm xmlns:a="http://schemas.openxmlformats.org/drawingml/2006/main">
            <a:off x="666750" y="46958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52616A"/>
                </a:solidFill>
                <a:latin typeface="Calibri"/>
                <a:ea typeface="Calibri"/>
                <a:cs typeface="Calibri"/>
              </a:defRPr>
            </a:defPPr>
          </a:lstStyle>
          <a:p xmlns:a="http://schemas.openxmlformats.org/drawingml/2006/main">
            <a:pPr algn="l">
              <a:defRPr sz="2325" b="1">
                <a:solidFill>
                  <a:srgbClr val="52616A"/>
                </a:solidFill>
                <a:latin typeface="Calibri"/>
                <a:ea typeface="Calibri"/>
                <a:cs typeface="Calibri"/>
              </a:defRPr>
            </a:pPr>
            <a:r>
              <a:rPr sz="2325" b="1">
                <a:solidFill>
                  <a:srgbClr val="52616A"/>
                </a:solidFill>
                <a:latin typeface="Calibri"/>
                <a:ea typeface="Calibri"/>
                <a:cs typeface="Calibri"/>
              </a:rPr>
              <a:t>SCA meldet bekannte Lücken alter Paketversionen</a:t>
            </a:r>
          </a:p>
        </p:txBody>
      </p:sp>
      <p:sp>
        <p:nvSpPr>
          <p:cNvPr id="14" name="main() lädt die Konfiguration. fetch() und cache() laufen im">
            <a:extLst xmlns:a="http://schemas.openxmlformats.org/drawingml/2006/main">
              <a:ext uri="{FF2B5EF4-FFF2-40B4-BE49-F238E27FC236}">
                <a16:creationId xmlns:a16="http://schemas.microsoft.com/office/drawing/2014/main" id="{A166BF7B-EABF-40EB-B4A1-5BA8F6A9310A}"/>
              </a:ext>
            </a:extLst>
          </p:cNvPr>
          <p:cNvSpPr>
            <a:spLocks xmlns:a="http://schemas.openxmlformats.org/drawingml/2006/main" noGrp="1"/>
          </p:cNvSpPr>
          <p:nvPr/>
        </p:nvSpPr>
        <p:spPr>
          <a:xfrm xmlns:a="http://schemas.openxmlformats.org/drawingml/2006/main">
            <a:off x="666750" y="53721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640"/>
                </a:solidFill>
                <a:latin typeface="Calibri"/>
                <a:ea typeface="Calibri"/>
                <a:cs typeface="Calibri"/>
              </a:defRPr>
            </a:defPPr>
          </a:lstStyle>
          <a:p xmlns:a="http://schemas.openxmlformats.org/drawingml/2006/main">
            <a:pPr algn="l">
              <a:defRPr sz="1725" b="0">
                <a:solidFill>
                  <a:srgbClr val="263640"/>
                </a:solidFill>
                <a:latin typeface="Calibri"/>
                <a:ea typeface="Calibri"/>
                <a:cs typeface="Calibri"/>
              </a:defRPr>
            </a:pPr>
            <a:r>
              <a:rPr sz="1725" b="0">
                <a:solidFill>
                  <a:srgbClr val="263640"/>
                </a:solidFill>
                <a:latin typeface="Calibri"/>
                <a:ea typeface="Calibri"/>
                <a:cs typeface="Calibri"/>
              </a:rPr>
              <a:t>main() lädt die Konfiguration. fetch() und cache() laufen im CLI-Smoke nicht.</a:t>
            </a:r>
          </a:p>
          <a:p xmlns:a="http://schemas.openxmlformats.org/drawingml/2006/main">
            <a:pPr algn="l">
              <a:defRPr sz="1725" b="0">
                <a:solidFill>
                  <a:srgbClr val="263640"/>
                </a:solidFill>
                <a:latin typeface="Calibri"/>
                <a:ea typeface="Calibri"/>
                <a:cs typeface="Calibri"/>
              </a:defRPr>
            </a:pPr>
            <a:r>
              <a:rPr sz="1725" b="0">
                <a:solidFill>
                  <a:srgbClr val="263640"/>
                </a:solidFill>
                <a:latin typeface="Calibri"/>
                <a:ea typeface="Calibri"/>
                <a:cs typeface="Calibri"/>
              </a:rPr>
              <a:t>NamedTemporaryFile ist hier gekürzt dargestellt.</a:t>
            </a:r>
          </a:p>
        </p:txBody>
      </p:sp>
    </p:spTree>
    <p:extLst>
      <p:ext uri="{BB962C8B-B14F-4D97-AF65-F5344CB8AC3E}">
        <p14:creationId xmlns:p14="http://schemas.microsoft.com/office/powerpoint/2010/main" val="2002148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674B1C4-124C-47C9-9159-7B167E21158B}"/>
              </a:ext>
            </a:extLst>
          </p:cNvPr>
          <p:cNvPicPr>
            <a:picLocks xmlns:a="http://schemas.openxmlformats.org/drawingml/2006/main" noChangeAspect="1"/>
          </p:cNvPicPr>
          <p:nvPr/>
        </p:nvPicPr>
        <p:blipFill>
          <a:blip xmlns:r="http://schemas.openxmlformats.org/officeDocument/2006/relationships" xmlns:a="http://schemas.openxmlformats.org/drawingml/2006/main" r:embed="Red5b085851fa4e08"/>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Codebeispiel 3: Dateidienst und Secrets">
            <a:extLst xmlns:a="http://schemas.openxmlformats.org/drawingml/2006/main">
              <a:ext uri="{FF2B5EF4-FFF2-40B4-BE49-F238E27FC236}">
                <a16:creationId xmlns:a16="http://schemas.microsoft.com/office/drawing/2014/main" id="{E220B154-79E7-43D0-BF70-F6A362D58AF4}"/>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Codebeispiel 3: Dateidienst und Secrets</a:t>
            </a:r>
          </a:p>
        </p:txBody>
      </p:sp>
      <p:sp>
        <p:nvSpPr>
          <p:cNvPr id="3" name="">
            <a:extLst xmlns:a="http://schemas.openxmlformats.org/drawingml/2006/main">
              <a:ext uri="{FF2B5EF4-FFF2-40B4-BE49-F238E27FC236}">
                <a16:creationId xmlns:a16="http://schemas.microsoft.com/office/drawing/2014/main" id="{5A6536BB-DE14-469B-9D09-ED007B9AE45A}"/>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workloads/03-container-service/{vulnerable,fixed}/app.py; ge">
            <a:extLst xmlns:a="http://schemas.openxmlformats.org/drawingml/2006/main">
              <a:ext uri="{FF2B5EF4-FFF2-40B4-BE49-F238E27FC236}">
                <a16:creationId xmlns:a16="http://schemas.microsoft.com/office/drawing/2014/main" id="{A5C0636D-1991-44E2-8AD6-50B955478FB7}"/>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workloads/03-container-service/{vulnerable,fixed}/app.py; gekürzte Ausschnitte</a:t>
            </a:r>
          </a:p>
        </p:txBody>
      </p:sp>
      <p:sp>
        <p:nvSpPr>
          <p:cNvPr id="5" name="">
            <a:extLst xmlns:a="http://schemas.openxmlformats.org/drawingml/2006/main">
              <a:ext uri="{FF2B5EF4-FFF2-40B4-BE49-F238E27FC236}">
                <a16:creationId xmlns:a16="http://schemas.microsoft.com/office/drawing/2014/main" id="{CBA6204B-BB7D-4DAA-946C-7624CFE13503}"/>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29AE644B-CC48-4EBF-8556-95D9BC8248A7}"/>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7">
            <a:extLst xmlns:a="http://schemas.openxmlformats.org/drawingml/2006/main">
              <a:ext uri="{FF2B5EF4-FFF2-40B4-BE49-F238E27FC236}">
                <a16:creationId xmlns:a16="http://schemas.microsoft.com/office/drawing/2014/main" id="{C1E96CC3-ACAD-4518-89FC-EE622D5D5DEB}"/>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7</a:t>
            </a:r>
          </a:p>
        </p:txBody>
      </p:sp>
      <p:sp>
        <p:nvSpPr>
          <p:cNvPr id="8" name="Vulnerable: ungeprüfter Dateiname">
            <a:extLst xmlns:a="http://schemas.openxmlformats.org/drawingml/2006/main">
              <a:ext uri="{FF2B5EF4-FFF2-40B4-BE49-F238E27FC236}">
                <a16:creationId xmlns:a16="http://schemas.microsoft.com/office/drawing/2014/main" id="{A7BAD312-F461-4E4B-B730-DA69E1E6025E}"/>
              </a:ext>
            </a:extLst>
          </p:cNvPr>
          <p:cNvSpPr>
            <a:spLocks xmlns:a="http://schemas.openxmlformats.org/drawingml/2006/main" noGrp="1"/>
          </p:cNvSpPr>
          <p:nvPr/>
        </p:nvSpPr>
        <p:spPr>
          <a:xfrm xmlns:a="http://schemas.openxmlformats.org/drawingml/2006/main">
            <a:off x="666750" y="18097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2001A"/>
                </a:solidFill>
                <a:latin typeface="Calibri"/>
                <a:ea typeface="Calibri"/>
                <a:cs typeface="Calibri"/>
              </a:defRPr>
            </a:defPPr>
          </a:lstStyle>
          <a:p xmlns:a="http://schemas.openxmlformats.org/drawingml/2006/main">
            <a:pPr algn="l">
              <a:defRPr sz="1800" b="1">
                <a:solidFill>
                  <a:srgbClr val="E2001A"/>
                </a:solidFill>
                <a:latin typeface="Calibri"/>
                <a:ea typeface="Calibri"/>
                <a:cs typeface="Calibri"/>
              </a:defRPr>
            </a:pPr>
            <a:r>
              <a:rPr sz="1800" b="1">
                <a:solidFill>
                  <a:srgbClr val="E2001A"/>
                </a:solidFill>
                <a:latin typeface="Calibri"/>
                <a:ea typeface="Calibri"/>
                <a:cs typeface="Calibri"/>
              </a:rPr>
              <a:t>Vulnerable: ungeprüfter Dateiname</a:t>
            </a:r>
          </a:p>
        </p:txBody>
      </p:sp>
      <p:sp>
        <p:nvSpPr>
          <p:cNvPr id="9" name="with open(&quot;/app/data/&quot; + name, &quot;rb&quot;) as fh:&#10;    ...">
            <a:extLst xmlns:a="http://schemas.openxmlformats.org/drawingml/2006/main">
              <a:ext uri="{FF2B5EF4-FFF2-40B4-BE49-F238E27FC236}">
                <a16:creationId xmlns:a16="http://schemas.microsoft.com/office/drawing/2014/main" id="{BF7E4A2B-A439-4082-BDAF-4887A59F24E4}"/>
              </a:ext>
            </a:extLst>
          </p:cNvPr>
          <p:cNvSpPr>
            <a:spLocks xmlns:a="http://schemas.openxmlformats.org/drawingml/2006/main" noGrp="1"/>
          </p:cNvSpPr>
          <p:nvPr/>
        </p:nvSpPr>
        <p:spPr>
          <a:xfrm xmlns:a="http://schemas.openxmlformats.org/drawingml/2006/main">
            <a:off x="666750" y="22764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640"/>
                </a:solidFill>
                <a:latin typeface="Consolas"/>
                <a:ea typeface="Consolas"/>
                <a:cs typeface="Consolas"/>
              </a:defRPr>
            </a:defPPr>
          </a:lstStyle>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with open("/app/data/" + name, "rb") as fh:</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    ...</a:t>
            </a:r>
          </a:p>
        </p:txBody>
      </p:sp>
      <p:sp>
        <p:nvSpPr>
          <p:cNvPr id="10" name="Fixed: aufgelöster Pfad bleibt im Datenverzeichnis">
            <a:extLst xmlns:a="http://schemas.openxmlformats.org/drawingml/2006/main">
              <a:ext uri="{FF2B5EF4-FFF2-40B4-BE49-F238E27FC236}">
                <a16:creationId xmlns:a16="http://schemas.microsoft.com/office/drawing/2014/main" id="{CB4ED44F-95E9-4CB7-B5B3-B8B05081045F}"/>
              </a:ext>
            </a:extLst>
          </p:cNvPr>
          <p:cNvSpPr>
            <a:spLocks xmlns:a="http://schemas.openxmlformats.org/drawingml/2006/main" noGrp="1"/>
          </p:cNvSpPr>
          <p:nvPr/>
        </p:nvSpPr>
        <p:spPr>
          <a:xfrm xmlns:a="http://schemas.openxmlformats.org/drawingml/2006/main">
            <a:off x="666750" y="3095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646"/>
                </a:solidFill>
                <a:latin typeface="Calibri"/>
                <a:ea typeface="Calibri"/>
                <a:cs typeface="Calibri"/>
              </a:defRPr>
            </a:defPPr>
          </a:lstStyle>
          <a:p xmlns:a="http://schemas.openxmlformats.org/drawingml/2006/main">
            <a:pPr algn="l">
              <a:defRPr sz="1800" b="1">
                <a:solidFill>
                  <a:srgbClr val="236646"/>
                </a:solidFill>
                <a:latin typeface="Calibri"/>
                <a:ea typeface="Calibri"/>
                <a:cs typeface="Calibri"/>
              </a:defRPr>
            </a:pPr>
            <a:r>
              <a:rPr sz="1800" b="1">
                <a:solidFill>
                  <a:srgbClr val="236646"/>
                </a:solidFill>
                <a:latin typeface="Calibri"/>
                <a:ea typeface="Calibri"/>
                <a:cs typeface="Calibri"/>
              </a:rPr>
              <a:t>Fixed: aufgelöster Pfad bleibt im Datenverzeichnis</a:t>
            </a:r>
          </a:p>
        </p:txBody>
      </p:sp>
      <p:sp>
        <p:nvSpPr>
          <p:cNvPr id="11" name="target = (DATA_ROOT / name).resolve()&#10;if not target.is_relat">
            <a:extLst xmlns:a="http://schemas.openxmlformats.org/drawingml/2006/main">
              <a:ext uri="{FF2B5EF4-FFF2-40B4-BE49-F238E27FC236}">
                <a16:creationId xmlns:a16="http://schemas.microsoft.com/office/drawing/2014/main" id="{FDCA307C-343B-41C9-A9B5-CC06AB7C16DC}"/>
              </a:ext>
            </a:extLst>
          </p:cNvPr>
          <p:cNvSpPr>
            <a:spLocks xmlns:a="http://schemas.openxmlformats.org/drawingml/2006/main" noGrp="1"/>
          </p:cNvSpPr>
          <p:nvPr/>
        </p:nvSpPr>
        <p:spPr>
          <a:xfrm xmlns:a="http://schemas.openxmlformats.org/drawingml/2006/main">
            <a:off x="666750" y="3562350"/>
            <a:ext cx="1085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640"/>
                </a:solidFill>
                <a:latin typeface="Consolas"/>
                <a:ea typeface="Consolas"/>
                <a:cs typeface="Consolas"/>
              </a:defRPr>
            </a:defPPr>
          </a:lstStyle>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target = (DATA_ROOT / name).resolve()</a:t>
            </a:r>
          </a:p>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if not target.is_relative_to(DATA_ROOT) or not target.is_file():</a:t>
            </a:r>
          </a:p>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    self._json(404, {"error": "file not found"})</a:t>
            </a:r>
          </a:p>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    return</a:t>
            </a:r>
          </a:p>
        </p:txBody>
      </p:sp>
      <p:sp>
        <p:nvSpPr>
          <p:cNvPr id="12" name="Künstliche Secrets im Code lösen Gitleaks aus.&#10;Fixed liest A">
            <a:extLst xmlns:a="http://schemas.openxmlformats.org/drawingml/2006/main">
              <a:ext uri="{FF2B5EF4-FFF2-40B4-BE49-F238E27FC236}">
                <a16:creationId xmlns:a16="http://schemas.microsoft.com/office/drawing/2014/main" id="{7D6E9FFB-DF5C-4875-9326-69C0DBE64775}"/>
              </a:ext>
            </a:extLst>
          </p:cNvPr>
          <p:cNvSpPr>
            <a:spLocks xmlns:a="http://schemas.openxmlformats.org/drawingml/2006/main" noGrp="1"/>
          </p:cNvSpPr>
          <p:nvPr/>
        </p:nvSpPr>
        <p:spPr>
          <a:xfrm xmlns:a="http://schemas.openxmlformats.org/drawingml/2006/main">
            <a:off x="666750" y="51911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640"/>
                </a:solidFill>
                <a:latin typeface="Calibri"/>
                <a:ea typeface="Calibri"/>
                <a:cs typeface="Calibri"/>
              </a:defRPr>
            </a:defPPr>
          </a:lstStyle>
          <a:p xmlns:a="http://schemas.openxmlformats.org/drawingml/2006/main">
            <a:pPr algn="l">
              <a:defRPr sz="1950" b="0">
                <a:solidFill>
                  <a:srgbClr val="263640"/>
                </a:solidFill>
                <a:latin typeface="Calibri"/>
                <a:ea typeface="Calibri"/>
                <a:cs typeface="Calibri"/>
              </a:defRPr>
            </a:pPr>
            <a:r>
              <a:rPr sz="1950" b="0">
                <a:solidFill>
                  <a:srgbClr val="263640"/>
                </a:solidFill>
                <a:latin typeface="Calibri"/>
                <a:ea typeface="Calibri"/>
                <a:cs typeface="Calibri"/>
              </a:rPr>
              <a:t>Künstliche Secrets im Code lösen Gitleaks aus.</a:t>
            </a:r>
          </a:p>
          <a:p xmlns:a="http://schemas.openxmlformats.org/drawingml/2006/main">
            <a:pPr algn="l">
              <a:defRPr sz="1950" b="0">
                <a:solidFill>
                  <a:srgbClr val="263640"/>
                </a:solidFill>
                <a:latin typeface="Calibri"/>
                <a:ea typeface="Calibri"/>
                <a:cs typeface="Calibri"/>
              </a:defRPr>
            </a:pPr>
            <a:r>
              <a:rPr sz="1950" b="0">
                <a:solidFill>
                  <a:srgbClr val="263640"/>
                </a:solidFill>
                <a:latin typeface="Calibri"/>
                <a:ea typeface="Calibri"/>
                <a:cs typeface="Calibri"/>
              </a:rPr>
              <a:t>Fixed liest API_TOKEN aus der Umgebung, prüft ihn aber nicht pro Request.</a:t>
            </a:r>
          </a:p>
        </p:txBody>
      </p:sp>
    </p:spTree>
    <p:extLst>
      <p:ext uri="{BB962C8B-B14F-4D97-AF65-F5344CB8AC3E}">
        <p14:creationId xmlns:p14="http://schemas.microsoft.com/office/powerpoint/2010/main" val="7534184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75A42A1-8F8F-47C7-98C0-168823F88638}"/>
              </a:ext>
            </a:extLst>
          </p:cNvPr>
          <p:cNvPicPr>
            <a:picLocks xmlns:a="http://schemas.openxmlformats.org/drawingml/2006/main" noChangeAspect="1"/>
          </p:cNvPicPr>
          <p:nvPr/>
        </p:nvPicPr>
        <p:blipFill>
          <a:blip xmlns:r="http://schemas.openxmlformats.org/officeDocument/2006/relationships" xmlns:a="http://schemas.openxmlformats.org/drawingml/2006/main" r:embed="Ra8163f26a6ad4f1e"/>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Automatisierung mit GitHub Actions">
            <a:extLst xmlns:a="http://schemas.openxmlformats.org/drawingml/2006/main">
              <a:ext uri="{FF2B5EF4-FFF2-40B4-BE49-F238E27FC236}">
                <a16:creationId xmlns:a16="http://schemas.microsoft.com/office/drawing/2014/main" id="{7C6618D4-5E7B-4532-92F0-C45C560A7777}"/>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Automatisierung mit GitHub Actions</a:t>
            </a:r>
          </a:p>
        </p:txBody>
      </p:sp>
      <p:sp>
        <p:nvSpPr>
          <p:cNvPr id="3" name="">
            <a:extLst xmlns:a="http://schemas.openxmlformats.org/drawingml/2006/main">
              <a:ext uri="{FF2B5EF4-FFF2-40B4-BE49-F238E27FC236}">
                <a16:creationId xmlns:a16="http://schemas.microsoft.com/office/drawing/2014/main" id="{4B196B99-6E11-43B9-A2F9-1AA78124AF6B}"/>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github/workflows/devsecops.yml; bestätigter Push-Lauf #1 au">
            <a:extLst xmlns:a="http://schemas.openxmlformats.org/drawingml/2006/main">
              <a:ext uri="{FF2B5EF4-FFF2-40B4-BE49-F238E27FC236}">
                <a16:creationId xmlns:a16="http://schemas.microsoft.com/office/drawing/2014/main" id="{60C256CC-C5B8-44D9-AF51-C1C51681A48F}"/>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.github/workflows/devsecops.yml; bestätigter Push-Lauf #1 auf Commit 234b46a</a:t>
            </a:r>
          </a:p>
        </p:txBody>
      </p:sp>
      <p:sp>
        <p:nvSpPr>
          <p:cNvPr id="5" name="">
            <a:extLst xmlns:a="http://schemas.openxmlformats.org/drawingml/2006/main">
              <a:ext uri="{FF2B5EF4-FFF2-40B4-BE49-F238E27FC236}">
                <a16:creationId xmlns:a16="http://schemas.microsoft.com/office/drawing/2014/main" id="{E02DDB68-061C-4C8C-8F9F-0129118DC9C2}"/>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0C1AD140-4607-42AC-B893-7C21B59E585E}"/>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8">
            <a:extLst xmlns:a="http://schemas.openxmlformats.org/drawingml/2006/main">
              <a:ext uri="{FF2B5EF4-FFF2-40B4-BE49-F238E27FC236}">
                <a16:creationId xmlns:a16="http://schemas.microsoft.com/office/drawing/2014/main" id="{212E3733-6947-413A-86F2-B5A359101D25}"/>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8</a:t>
            </a:r>
          </a:p>
        </p:txBody>
      </p:sp>
      <p:sp>
        <p:nvSpPr>
          <p:cNvPr id="8" name="Trigger und sechs Matrixfälle, Auszug">
            <a:extLst xmlns:a="http://schemas.openxmlformats.org/drawingml/2006/main">
              <a:ext uri="{FF2B5EF4-FFF2-40B4-BE49-F238E27FC236}">
                <a16:creationId xmlns:a16="http://schemas.microsoft.com/office/drawing/2014/main" id="{A434FCA5-E4E6-4D33-9081-B6A3C091BD82}"/>
              </a:ext>
            </a:extLst>
          </p:cNvPr>
          <p:cNvSpPr>
            <a:spLocks xmlns:a="http://schemas.openxmlformats.org/drawingml/2006/main" noGrp="1"/>
          </p:cNvSpPr>
          <p:nvPr/>
        </p:nvSpPr>
        <p:spPr>
          <a:xfrm xmlns:a="http://schemas.openxmlformats.org/drawingml/2006/main">
            <a:off x="666750" y="176212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616A"/>
                </a:solidFill>
                <a:latin typeface="Calibri"/>
                <a:ea typeface="Calibri"/>
                <a:cs typeface="Calibri"/>
              </a:defRPr>
            </a:defPPr>
          </a:lstStyle>
          <a:p xmlns:a="http://schemas.openxmlformats.org/drawingml/2006/main">
            <a:pPr algn="l">
              <a:defRPr sz="1800" b="1">
                <a:solidFill>
                  <a:srgbClr val="52616A"/>
                </a:solidFill>
                <a:latin typeface="Calibri"/>
                <a:ea typeface="Calibri"/>
                <a:cs typeface="Calibri"/>
              </a:defRPr>
            </a:pPr>
            <a:r>
              <a:rPr sz="1800" b="1">
                <a:solidFill>
                  <a:srgbClr val="52616A"/>
                </a:solidFill>
                <a:latin typeface="Calibri"/>
                <a:ea typeface="Calibri"/>
                <a:cs typeface="Calibri"/>
              </a:rPr>
              <a:t>Trigger und sechs Matrixfälle, Auszug</a:t>
            </a:r>
          </a:p>
        </p:txBody>
      </p:sp>
      <p:sp>
        <p:nvSpPr>
          <p:cNvPr id="9" name="on:&#10;  push:&#10;  pull_request:&#10;  workflow_dispatch:&#10;&#10;matrix:&#10;  ">
            <a:extLst xmlns:a="http://schemas.openxmlformats.org/drawingml/2006/main">
              <a:ext uri="{FF2B5EF4-FFF2-40B4-BE49-F238E27FC236}">
                <a16:creationId xmlns:a16="http://schemas.microsoft.com/office/drawing/2014/main" id="{397783FD-A7A7-48C2-80ED-E4CF1963B4EC}"/>
              </a:ext>
            </a:extLst>
          </p:cNvPr>
          <p:cNvSpPr>
            <a:spLocks xmlns:a="http://schemas.openxmlformats.org/drawingml/2006/main" noGrp="1"/>
          </p:cNvSpPr>
          <p:nvPr/>
        </p:nvSpPr>
        <p:spPr>
          <a:xfrm xmlns:a="http://schemas.openxmlformats.org/drawingml/2006/main">
            <a:off x="666750" y="2228850"/>
            <a:ext cx="60007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640"/>
                </a:solidFill>
                <a:latin typeface="Consolas"/>
                <a:ea typeface="Consolas"/>
                <a:cs typeface="Consolas"/>
              </a:defRPr>
            </a:defPPr>
          </a:lstStyle>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on:</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  push:</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  pull_request:</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  workflow_dispatch:</a:t>
            </a:r>
          </a:p>
          <a:p xmlns:a="http://schemas.openxmlformats.org/drawingml/2006/main">
            <a:r>
              <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matrix:</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  program: [01-flask-api, 02-cli-deps,</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            03-container-service]</a:t>
            </a:r>
          </a:p>
          <a:p xmlns:a="http://schemas.openxmlformats.org/drawingml/2006/main">
            <a:pPr algn="l">
              <a:defRPr sz="1800" b="0">
                <a:solidFill>
                  <a:srgbClr val="263640"/>
                </a:solidFill>
                <a:latin typeface="Consolas"/>
                <a:ea typeface="Consolas"/>
                <a:cs typeface="Consolas"/>
              </a:defRPr>
            </a:pPr>
            <a:r>
              <a:rPr sz="1800" b="0">
                <a:solidFill>
                  <a:srgbClr val="263640"/>
                </a:solidFill>
                <a:latin typeface="Consolas"/>
                <a:ea typeface="Consolas"/>
                <a:cs typeface="Consolas"/>
              </a:rPr>
              <a:t>  variant: [vulnerable, fixed]</a:t>
            </a:r>
          </a:p>
        </p:txBody>
      </p:sp>
      <p:sp>
        <p:nvSpPr>
          <p:cNvPr id="10" name="Erst Tests, danach die Matrix">
            <a:extLst xmlns:a="http://schemas.openxmlformats.org/drawingml/2006/main">
              <a:ext uri="{FF2B5EF4-FFF2-40B4-BE49-F238E27FC236}">
                <a16:creationId xmlns:a16="http://schemas.microsoft.com/office/drawing/2014/main" id="{B879E519-D2BE-4385-BB61-3B39B657A7C6}"/>
              </a:ext>
            </a:extLst>
          </p:cNvPr>
          <p:cNvSpPr>
            <a:spLocks xmlns:a="http://schemas.openxmlformats.org/drawingml/2006/main" noGrp="1"/>
          </p:cNvSpPr>
          <p:nvPr/>
        </p:nvSpPr>
        <p:spPr>
          <a:xfrm xmlns:a="http://schemas.openxmlformats.org/drawingml/2006/main">
            <a:off x="7239000" y="1857375"/>
            <a:ext cx="428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52616A"/>
                </a:solidFill>
                <a:latin typeface="Calibri"/>
                <a:ea typeface="Calibri"/>
                <a:cs typeface="Calibri"/>
              </a:defRPr>
            </a:defPPr>
          </a:lstStyle>
          <a:p xmlns:a="http://schemas.openxmlformats.org/drawingml/2006/main">
            <a:pPr algn="l">
              <a:defRPr sz="2400" b="1">
                <a:solidFill>
                  <a:srgbClr val="52616A"/>
                </a:solidFill>
                <a:latin typeface="Calibri"/>
                <a:ea typeface="Calibri"/>
                <a:cs typeface="Calibri"/>
              </a:defRPr>
            </a:pPr>
            <a:r>
              <a:rPr sz="2400" b="1">
                <a:solidFill>
                  <a:srgbClr val="52616A"/>
                </a:solidFill>
                <a:latin typeface="Calibri"/>
                <a:ea typeface="Calibri"/>
                <a:cs typeface="Calibri"/>
              </a:rPr>
              <a:t>Erst Tests, danach die Matrix</a:t>
            </a:r>
          </a:p>
        </p:txBody>
      </p:sp>
      <p:sp>
        <p:nvSpPr>
          <p:cNvPr id="11" name="Ein Python-Orchestrator für lokal und CI&#10;&#10;Artefakte auch bei">
            <a:extLst xmlns:a="http://schemas.openxmlformats.org/drawingml/2006/main">
              <a:ext uri="{FF2B5EF4-FFF2-40B4-BE49-F238E27FC236}">
                <a16:creationId xmlns:a16="http://schemas.microsoft.com/office/drawing/2014/main" id="{52C761C8-DC32-4229-8A6B-B75F066EACD5}"/>
              </a:ext>
            </a:extLst>
          </p:cNvPr>
          <p:cNvSpPr>
            <a:spLocks xmlns:a="http://schemas.openxmlformats.org/drawingml/2006/main" noGrp="1"/>
          </p:cNvSpPr>
          <p:nvPr/>
        </p:nvSpPr>
        <p:spPr>
          <a:xfrm xmlns:a="http://schemas.openxmlformats.org/drawingml/2006/main">
            <a:off x="7239000" y="2809875"/>
            <a:ext cx="428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63640"/>
                </a:solidFill>
                <a:latin typeface="Calibri"/>
                <a:ea typeface="Calibri"/>
                <a:cs typeface="Calibri"/>
              </a:defRPr>
            </a:defPPr>
          </a:lstStyle>
          <a:p xmlns:a="http://schemas.openxmlformats.org/drawingml/2006/main">
            <a:pPr algn="l">
              <a:defRPr sz="2025" b="0">
                <a:solidFill>
                  <a:srgbClr val="263640"/>
                </a:solidFill>
                <a:latin typeface="Calibri"/>
                <a:ea typeface="Calibri"/>
                <a:cs typeface="Calibri"/>
              </a:defRPr>
            </a:pPr>
            <a:r>
              <a:rPr sz="2025" b="0">
                <a:solidFill>
                  <a:srgbClr val="263640"/>
                </a:solidFill>
                <a:latin typeface="Calibri"/>
                <a:ea typeface="Calibri"/>
                <a:cs typeface="Calibri"/>
              </a:rPr>
              <a:t>Ein Python-Orchestrator für lokal und CI</a:t>
            </a:r>
          </a:p>
          <a:p xmlns:a="http://schemas.openxmlformats.org/drawingml/2006/main">
            <a:r>
              <a:t/>
            </a:r>
          </a:p>
          <a:p xmlns:a="http://schemas.openxmlformats.org/drawingml/2006/main">
            <a:pPr algn="l">
              <a:defRPr sz="2025" b="0">
                <a:solidFill>
                  <a:srgbClr val="263640"/>
                </a:solidFill>
                <a:latin typeface="Calibri"/>
                <a:ea typeface="Calibri"/>
                <a:cs typeface="Calibri"/>
              </a:defRPr>
            </a:pPr>
            <a:r>
              <a:rPr sz="2025" b="0">
                <a:solidFill>
                  <a:srgbClr val="263640"/>
                </a:solidFill>
                <a:latin typeface="Calibri"/>
                <a:ea typeface="Calibri"/>
                <a:cs typeface="Calibri"/>
              </a:rPr>
              <a:t>Artefakte auch bei fehlgeschlagenen Jobs</a:t>
            </a:r>
          </a:p>
        </p:txBody>
      </p:sp>
      <p:sp>
        <p:nvSpPr>
          <p:cNvPr id="12" name="Nachgewiesener Push-Trigger:&#10;Workflow #1 erfolgreich, 3 min ">
            <a:extLst xmlns:a="http://schemas.openxmlformats.org/drawingml/2006/main">
              <a:ext uri="{FF2B5EF4-FFF2-40B4-BE49-F238E27FC236}">
                <a16:creationId xmlns:a16="http://schemas.microsoft.com/office/drawing/2014/main" id="{F398D53A-6C67-4698-9282-D933B9637D76}"/>
              </a:ext>
            </a:extLst>
          </p:cNvPr>
          <p:cNvSpPr>
            <a:spLocks xmlns:a="http://schemas.openxmlformats.org/drawingml/2006/main" noGrp="1"/>
          </p:cNvSpPr>
          <p:nvPr/>
        </p:nvSpPr>
        <p:spPr>
          <a:xfrm xmlns:a="http://schemas.openxmlformats.org/drawingml/2006/main">
            <a:off x="7239000" y="48196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E2001A"/>
                </a:solidFill>
                <a:latin typeface="Calibri"/>
                <a:ea typeface="Calibri"/>
                <a:cs typeface="Calibri"/>
              </a:defRPr>
            </a:defPPr>
          </a:lstStyle>
          <a:p xmlns:a="http://schemas.openxmlformats.org/drawingml/2006/main">
            <a:pPr algn="l">
              <a:defRPr sz="2025" b="1">
                <a:solidFill>
                  <a:srgbClr val="E2001A"/>
                </a:solidFill>
                <a:latin typeface="Calibri"/>
                <a:ea typeface="Calibri"/>
                <a:cs typeface="Calibri"/>
              </a:defRPr>
            </a:pPr>
            <a:r>
              <a:rPr sz="2025" b="1">
                <a:solidFill>
                  <a:srgbClr val="E2001A"/>
                </a:solidFill>
                <a:latin typeface="Calibri"/>
                <a:ea typeface="Calibri"/>
                <a:cs typeface="Calibri"/>
              </a:rPr>
              <a:t>Nachgewiesener Push-Trigger:</a:t>
            </a:r>
          </a:p>
          <a:p xmlns:a="http://schemas.openxmlformats.org/drawingml/2006/main">
            <a:pPr algn="l">
              <a:defRPr sz="2025" b="1">
                <a:solidFill>
                  <a:srgbClr val="E2001A"/>
                </a:solidFill>
                <a:latin typeface="Calibri"/>
                <a:ea typeface="Calibri"/>
                <a:cs typeface="Calibri"/>
              </a:defRPr>
            </a:pPr>
            <a:r>
              <a:rPr sz="2025" b="1">
                <a:solidFill>
                  <a:srgbClr val="E2001A"/>
                </a:solidFill>
                <a:latin typeface="Calibri"/>
                <a:ea typeface="Calibri"/>
                <a:cs typeface="Calibri"/>
              </a:rPr>
              <a:t>Workflow #1 erfolgreich, 3 min 2 s</a:t>
            </a:r>
          </a:p>
        </p:txBody>
      </p:sp>
    </p:spTree>
    <p:extLst>
      <p:ext uri="{BB962C8B-B14F-4D97-AF65-F5344CB8AC3E}">
        <p14:creationId xmlns:p14="http://schemas.microsoft.com/office/powerpoint/2010/main" val="16649376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BEEBB9A-6771-46A9-B4CE-DF362A96DB7C}"/>
              </a:ext>
            </a:extLst>
          </p:cNvPr>
          <p:cNvPicPr>
            <a:picLocks xmlns:a="http://schemas.openxmlformats.org/drawingml/2006/main" noChangeAspect="1"/>
          </p:cNvPicPr>
          <p:nvPr/>
        </p:nvPicPr>
        <p:blipFill>
          <a:blip xmlns:r="http://schemas.openxmlformats.org/officeDocument/2006/relationships" xmlns:a="http://schemas.openxmlformats.org/drawingml/2006/main" r:embed="Re293377797574f06"/>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Gate-Policy und Fehlerbehandlung">
            <a:extLst xmlns:a="http://schemas.openxmlformats.org/drawingml/2006/main">
              <a:ext uri="{FF2B5EF4-FFF2-40B4-BE49-F238E27FC236}">
                <a16:creationId xmlns:a16="http://schemas.microsoft.com/office/drawing/2014/main" id="{D7848F07-7F01-4EC1-96D4-AC37AB833A0C}"/>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Gate-Policy und Fehlerbehandlung</a:t>
            </a:r>
          </a:p>
        </p:txBody>
      </p:sp>
      <p:sp>
        <p:nvSpPr>
          <p:cNvPr id="3" name="">
            <a:extLst xmlns:a="http://schemas.openxmlformats.org/drawingml/2006/main">
              <a:ext uri="{FF2B5EF4-FFF2-40B4-BE49-F238E27FC236}">
                <a16:creationId xmlns:a16="http://schemas.microsoft.com/office/drawing/2014/main" id="{C492EE38-18C4-4C6D-AC4D-6E39DC0F38B4}"/>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policy/thresholds.yaml; scripts/gate.py; scripts/pipeline.py">
            <a:extLst xmlns:a="http://schemas.openxmlformats.org/drawingml/2006/main">
              <a:ext uri="{FF2B5EF4-FFF2-40B4-BE49-F238E27FC236}">
                <a16:creationId xmlns:a16="http://schemas.microsoft.com/office/drawing/2014/main" id="{5CD7D60B-C403-4E4A-B246-A45E941B04AA}"/>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policy/thresholds.yaml; scripts/gate.py; scripts/pipeline.py: check() und checkpoint()</a:t>
            </a:r>
          </a:p>
        </p:txBody>
      </p:sp>
      <p:sp>
        <p:nvSpPr>
          <p:cNvPr id="5" name="">
            <a:extLst xmlns:a="http://schemas.openxmlformats.org/drawingml/2006/main">
              <a:ext uri="{FF2B5EF4-FFF2-40B4-BE49-F238E27FC236}">
                <a16:creationId xmlns:a16="http://schemas.microsoft.com/office/drawing/2014/main" id="{2D69E3D8-7763-442C-910C-2300EE41B4BD}"/>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27B4699B-5DD9-4565-81AC-64B4F158D927}"/>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9">
            <a:extLst xmlns:a="http://schemas.openxmlformats.org/drawingml/2006/main">
              <a:ext uri="{FF2B5EF4-FFF2-40B4-BE49-F238E27FC236}">
                <a16:creationId xmlns:a16="http://schemas.microsoft.com/office/drawing/2014/main" id="{112E8595-96F8-4492-940B-E4778442E586}"/>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9</a:t>
            </a:r>
          </a:p>
        </p:txBody>
      </p:sp>
      <p:graphicFrame>
        <p:nvGraphicFramePr>
          <p:cNvPr id="8" name="">
            <a:extLst xmlns:a="http://schemas.openxmlformats.org/drawingml/2006/main">
              <a:ext uri="{FF2B5EF4-FFF2-40B4-BE49-F238E27FC236}">
                <a16:creationId xmlns:a16="http://schemas.microsoft.com/office/drawing/2014/main" id="{2840A3B7-4F78-4B07-B767-F15A2887EACE}"/>
              </a:ext>
            </a:extLst>
          </p:cNvPr>
          <p:cNvGraphicFramePr/>
          <p:nvPr/>
        </p:nvGraphicFramePr>
        <p:xfrm>
          <a:off xmlns:a="http://schemas.openxmlformats.org/drawingml/2006/main" x="666750" y="1762125"/>
          <a:ext xmlns:a="http://schemas.openxmlformats.org/drawingml/2006/main" cx="6858000" cy="3619500"/>
        </p:xfrm>
        <a:graphic xmlns:a="http://schemas.openxmlformats.org/drawingml/2006/main">
          <a:graphicData uri="http://schemas.openxmlformats.org/drawingml/2006/table">
            <a:tbl>
              <a:tblPr/>
              <a:tblGrid>
                <a:gridCol w="1952625"/>
                <a:gridCol w="4905375"/>
              </a:tblGrid>
              <a:tr h="603250">
                <a:tc>
                  <a:txBody>
                    <a:bodyPr lIns="76200" tIns="76200" rIns="76200" bIns="76200"/>
                    <a:lstStyle/>
                    <a:p>
                      <a:r>
                        <a:rPr sz="1725" b="1">
                          <a:solidFill>
                            <a:srgbClr val="FFFFFF"/>
                          </a:solidFill>
                          <a:latin typeface="Calibri"/>
                          <a:ea typeface="Calibri"/>
                          <a:cs typeface="Calibri"/>
                        </a:rPr>
                        <a:t>Prüfklasse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725" b="1">
                          <a:solidFill>
                            <a:srgbClr val="FFFFFF"/>
                          </a:solidFill>
                          <a:latin typeface="Calibri"/>
                          <a:ea typeface="Calibri"/>
                          <a:cs typeface="Calibri"/>
                        </a:rPr>
                        <a:t>Automatische Ablehnung</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603250">
                <a:tc>
                  <a:txBody>
                    <a:bodyPr lIns="76200" tIns="76200" rIns="76200" bIns="76200"/>
                    <a:lstStyle/>
                    <a:p>
                      <a:r>
                        <a:rPr sz="1725" b="0">
                          <a:solidFill>
                            <a:srgbClr val="263640"/>
                          </a:solidFill>
                          <a:latin typeface="Calibri"/>
                          <a:ea typeface="Calibri"/>
                          <a:cs typeface="Calibri"/>
                        </a:rPr>
                        <a:t>Secrets</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Jeder gemeldete Schweregrad</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603250">
                <a:tc>
                  <a:txBody>
                    <a:bodyPr lIns="76200" tIns="76200" rIns="76200" bIns="76200"/>
                    <a:lstStyle/>
                    <a:p>
                      <a:r>
                        <a:rPr sz="1725" b="0">
                          <a:solidFill>
                            <a:srgbClr val="263640"/>
                          </a:solidFill>
                          <a:latin typeface="Calibri"/>
                          <a:ea typeface="Calibri"/>
                          <a:cs typeface="Calibri"/>
                        </a:rPr>
                        <a:t>SAST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725" b="0">
                          <a:solidFill>
                            <a:srgbClr val="263640"/>
                          </a:solidFill>
                          <a:latin typeface="Calibri"/>
                          <a:ea typeface="Calibri"/>
                          <a:cs typeface="Calibri"/>
                        </a:rPr>
                        <a:t>HIGH und CRITICAL</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603250">
                <a:tc>
                  <a:txBody>
                    <a:bodyPr lIns="76200" tIns="76200" rIns="76200" bIns="76200"/>
                    <a:lstStyle/>
                    <a:p>
                      <a:r>
                        <a:rPr sz="1725" b="0">
                          <a:solidFill>
                            <a:srgbClr val="263640"/>
                          </a:solidFill>
                          <a:latin typeface="Calibri"/>
                          <a:ea typeface="Calibri"/>
                          <a:cs typeface="Calibri"/>
                        </a:rPr>
                        <a:t>SCA</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CRITICAL</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603250">
                <a:tc>
                  <a:txBody>
                    <a:bodyPr lIns="76200" tIns="76200" rIns="76200" bIns="76200"/>
                    <a:lstStyle/>
                    <a:p>
                      <a:r>
                        <a:rPr sz="1725" b="0">
                          <a:solidFill>
                            <a:srgbClr val="263640"/>
                          </a:solidFill>
                          <a:latin typeface="Calibri"/>
                          <a:ea typeface="Calibri"/>
                          <a:cs typeface="Calibri"/>
                        </a:rPr>
                        <a:t>Image</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725" b="0">
                          <a:solidFill>
                            <a:srgbClr val="263640"/>
                          </a:solidFill>
                          <a:latin typeface="Calibri"/>
                          <a:ea typeface="Calibri"/>
                          <a:cs typeface="Calibri"/>
                        </a:rPr>
                        <a:t>HIGH und CRITICAL</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603250">
                <a:tc>
                  <a:txBody>
                    <a:bodyPr lIns="76200" tIns="76200" rIns="76200" bIns="76200"/>
                    <a:lstStyle/>
                    <a:p>
                      <a:r>
                        <a:rPr sz="1725" b="0">
                          <a:solidFill>
                            <a:srgbClr val="263640"/>
                          </a:solidFill>
                          <a:latin typeface="Calibri"/>
                          <a:ea typeface="Calibri"/>
                          <a:cs typeface="Calibri"/>
                        </a:rPr>
                        <a:t>Passiver DAST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Findings warnen, technische Fehler blockieren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bl>
          </a:graphicData>
        </a:graphic>
      </p:graphicFrame>
      <p:sp>
        <p:nvSpPr>
          <p:cNvPr id="9" name="0   PASS">
            <a:extLst xmlns:a="http://schemas.openxmlformats.org/drawingml/2006/main">
              <a:ext uri="{FF2B5EF4-FFF2-40B4-BE49-F238E27FC236}">
                <a16:creationId xmlns:a16="http://schemas.microsoft.com/office/drawing/2014/main" id="{15870DEB-1AF8-43D9-BCD1-B02FDE76D7DC}"/>
              </a:ext>
            </a:extLst>
          </p:cNvPr>
          <p:cNvSpPr>
            <a:spLocks xmlns:a="http://schemas.openxmlformats.org/drawingml/2006/main" noGrp="1"/>
          </p:cNvSpPr>
          <p:nvPr/>
        </p:nvSpPr>
        <p:spPr>
          <a:xfrm xmlns:a="http://schemas.openxmlformats.org/drawingml/2006/main">
            <a:off x="8096250" y="19050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6646"/>
                </a:solidFill>
                <a:latin typeface="Calibri"/>
                <a:ea typeface="Calibri"/>
                <a:cs typeface="Calibri"/>
              </a:defRPr>
            </a:defPPr>
          </a:lstStyle>
          <a:p xmlns:a="http://schemas.openxmlformats.org/drawingml/2006/main">
            <a:pPr algn="l">
              <a:defRPr sz="2625" b="1">
                <a:solidFill>
                  <a:srgbClr val="236646"/>
                </a:solidFill>
                <a:latin typeface="Calibri"/>
                <a:ea typeface="Calibri"/>
                <a:cs typeface="Calibri"/>
              </a:defRPr>
            </a:pPr>
            <a:r>
              <a:rPr sz="2625" b="1">
                <a:solidFill>
                  <a:srgbClr val="236646"/>
                </a:solidFill>
                <a:latin typeface="Calibri"/>
                <a:ea typeface="Calibri"/>
                <a:cs typeface="Calibri"/>
              </a:rPr>
              <a:t>0   PASS</a:t>
            </a:r>
          </a:p>
        </p:txBody>
      </p:sp>
      <p:sp>
        <p:nvSpPr>
          <p:cNvPr id="10" name="Policy bestanden">
            <a:extLst xmlns:a="http://schemas.openxmlformats.org/drawingml/2006/main">
              <a:ext uri="{FF2B5EF4-FFF2-40B4-BE49-F238E27FC236}">
                <a16:creationId xmlns:a16="http://schemas.microsoft.com/office/drawing/2014/main" id="{5DA5673F-53A2-45F8-9719-AA597B4C7F0C}"/>
              </a:ext>
            </a:extLst>
          </p:cNvPr>
          <p:cNvSpPr>
            <a:spLocks xmlns:a="http://schemas.openxmlformats.org/drawingml/2006/main" noGrp="1"/>
          </p:cNvSpPr>
          <p:nvPr/>
        </p:nvSpPr>
        <p:spPr>
          <a:xfrm xmlns:a="http://schemas.openxmlformats.org/drawingml/2006/main">
            <a:off x="8096250" y="24098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Policy bestanden</a:t>
            </a:r>
          </a:p>
        </p:txBody>
      </p:sp>
      <p:sp>
        <p:nvSpPr>
          <p:cNvPr id="11" name="1   FAIL">
            <a:extLst xmlns:a="http://schemas.openxmlformats.org/drawingml/2006/main">
              <a:ext uri="{FF2B5EF4-FFF2-40B4-BE49-F238E27FC236}">
                <a16:creationId xmlns:a16="http://schemas.microsoft.com/office/drawing/2014/main" id="{F8B41268-A71F-46C5-ADA6-CF8DFA0342FF}"/>
              </a:ext>
            </a:extLst>
          </p:cNvPr>
          <p:cNvSpPr>
            <a:spLocks xmlns:a="http://schemas.openxmlformats.org/drawingml/2006/main" noGrp="1"/>
          </p:cNvSpPr>
          <p:nvPr/>
        </p:nvSpPr>
        <p:spPr>
          <a:xfrm xmlns:a="http://schemas.openxmlformats.org/drawingml/2006/main">
            <a:off x="8096250" y="30956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E2001A"/>
                </a:solidFill>
                <a:latin typeface="Calibri"/>
                <a:ea typeface="Calibri"/>
                <a:cs typeface="Calibri"/>
              </a:defRPr>
            </a:defPPr>
          </a:lstStyle>
          <a:p xmlns:a="http://schemas.openxmlformats.org/drawingml/2006/main">
            <a:pPr algn="l">
              <a:defRPr sz="2625" b="1">
                <a:solidFill>
                  <a:srgbClr val="E2001A"/>
                </a:solidFill>
                <a:latin typeface="Calibri"/>
                <a:ea typeface="Calibri"/>
                <a:cs typeface="Calibri"/>
              </a:defRPr>
            </a:pPr>
            <a:r>
              <a:rPr sz="2625" b="1">
                <a:solidFill>
                  <a:srgbClr val="E2001A"/>
                </a:solidFill>
                <a:latin typeface="Calibri"/>
                <a:ea typeface="Calibri"/>
                <a:cs typeface="Calibri"/>
              </a:rPr>
              <a:t>1   FAIL</a:t>
            </a:r>
          </a:p>
        </p:txBody>
      </p:sp>
      <p:sp>
        <p:nvSpPr>
          <p:cNvPr id="12" name="Blockierendes Finding">
            <a:extLst xmlns:a="http://schemas.openxmlformats.org/drawingml/2006/main">
              <a:ext uri="{FF2B5EF4-FFF2-40B4-BE49-F238E27FC236}">
                <a16:creationId xmlns:a16="http://schemas.microsoft.com/office/drawing/2014/main" id="{B134D1E5-96E2-4DBD-B375-581E2099B3D3}"/>
              </a:ext>
            </a:extLst>
          </p:cNvPr>
          <p:cNvSpPr>
            <a:spLocks xmlns:a="http://schemas.openxmlformats.org/drawingml/2006/main" noGrp="1"/>
          </p:cNvSpPr>
          <p:nvPr/>
        </p:nvSpPr>
        <p:spPr>
          <a:xfrm xmlns:a="http://schemas.openxmlformats.org/drawingml/2006/main">
            <a:off x="8096250" y="36004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Blockierendes Finding</a:t>
            </a:r>
          </a:p>
        </p:txBody>
      </p:sp>
      <p:sp>
        <p:nvSpPr>
          <p:cNvPr id="13" name="2   ERROR">
            <a:extLst xmlns:a="http://schemas.openxmlformats.org/drawingml/2006/main">
              <a:ext uri="{FF2B5EF4-FFF2-40B4-BE49-F238E27FC236}">
                <a16:creationId xmlns:a16="http://schemas.microsoft.com/office/drawing/2014/main" id="{817C54CD-A7E6-42C1-8789-38484865B726}"/>
              </a:ext>
            </a:extLst>
          </p:cNvPr>
          <p:cNvSpPr>
            <a:spLocks xmlns:a="http://schemas.openxmlformats.org/drawingml/2006/main" noGrp="1"/>
          </p:cNvSpPr>
          <p:nvPr/>
        </p:nvSpPr>
        <p:spPr>
          <a:xfrm xmlns:a="http://schemas.openxmlformats.org/drawingml/2006/main">
            <a:off x="8096250" y="4286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925616"/>
                </a:solidFill>
                <a:latin typeface="Calibri"/>
                <a:ea typeface="Calibri"/>
                <a:cs typeface="Calibri"/>
              </a:defRPr>
            </a:defPPr>
          </a:lstStyle>
          <a:p xmlns:a="http://schemas.openxmlformats.org/drawingml/2006/main">
            <a:pPr algn="l">
              <a:defRPr sz="2625" b="1">
                <a:solidFill>
                  <a:srgbClr val="925616"/>
                </a:solidFill>
                <a:latin typeface="Calibri"/>
                <a:ea typeface="Calibri"/>
                <a:cs typeface="Calibri"/>
              </a:defRPr>
            </a:pPr>
            <a:r>
              <a:rPr sz="2625" b="1">
                <a:solidFill>
                  <a:srgbClr val="925616"/>
                </a:solidFill>
                <a:latin typeface="Calibri"/>
                <a:ea typeface="Calibri"/>
                <a:cs typeface="Calibri"/>
              </a:rPr>
              <a:t>2   ERROR</a:t>
            </a:r>
          </a:p>
        </p:txBody>
      </p:sp>
      <p:sp>
        <p:nvSpPr>
          <p:cNvPr id="14" name="Technischer Fehler">
            <a:extLst xmlns:a="http://schemas.openxmlformats.org/drawingml/2006/main">
              <a:ext uri="{FF2B5EF4-FFF2-40B4-BE49-F238E27FC236}">
                <a16:creationId xmlns:a16="http://schemas.microsoft.com/office/drawing/2014/main" id="{3A366879-7EE1-4F73-AD03-E7F8D108D3EF}"/>
              </a:ext>
            </a:extLst>
          </p:cNvPr>
          <p:cNvSpPr>
            <a:spLocks xmlns:a="http://schemas.openxmlformats.org/drawingml/2006/main" noGrp="1"/>
          </p:cNvSpPr>
          <p:nvPr/>
        </p:nvSpPr>
        <p:spPr>
          <a:xfrm xmlns:a="http://schemas.openxmlformats.org/drawingml/2006/main">
            <a:off x="8096250" y="47910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Technischer Fehler</a:t>
            </a:r>
          </a:p>
        </p:txBody>
      </p:sp>
      <p:sp>
        <p:nvSpPr>
          <p:cNvPr id="15" name="Fehlender oder kaputter Pflichtreport führt zu ERROR.">
            <a:extLst xmlns:a="http://schemas.openxmlformats.org/drawingml/2006/main">
              <a:ext uri="{FF2B5EF4-FFF2-40B4-BE49-F238E27FC236}">
                <a16:creationId xmlns:a16="http://schemas.microsoft.com/office/drawing/2014/main" id="{003485A2-0D35-4FC8-9C2C-A34353C18A10}"/>
              </a:ext>
            </a:extLst>
          </p:cNvPr>
          <p:cNvSpPr>
            <a:spLocks xmlns:a="http://schemas.openxmlformats.org/drawingml/2006/main" noGrp="1"/>
          </p:cNvSpPr>
          <p:nvPr/>
        </p:nvSpPr>
        <p:spPr>
          <a:xfrm xmlns:a="http://schemas.openxmlformats.org/drawingml/2006/main">
            <a:off x="666750" y="56483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E2001A"/>
                </a:solidFill>
                <a:latin typeface="Calibri"/>
                <a:ea typeface="Calibri"/>
                <a:cs typeface="Calibri"/>
              </a:defRPr>
            </a:defPPr>
          </a:lstStyle>
          <a:p xmlns:a="http://schemas.openxmlformats.org/drawingml/2006/main">
            <a:pPr algn="l">
              <a:defRPr sz="2025" b="1">
                <a:solidFill>
                  <a:srgbClr val="E2001A"/>
                </a:solidFill>
                <a:latin typeface="Calibri"/>
                <a:ea typeface="Calibri"/>
                <a:cs typeface="Calibri"/>
              </a:defRPr>
            </a:pPr>
            <a:r>
              <a:rPr sz="2025" b="1">
                <a:solidFill>
                  <a:srgbClr val="E2001A"/>
                </a:solidFill>
                <a:latin typeface="Calibri"/>
                <a:ea typeface="Calibri"/>
                <a:cs typeface="Calibri"/>
              </a:rPr>
              <a:t>Fehlender oder kaputter Pflichtreport führt zu ERROR.</a:t>
            </a:r>
          </a:p>
        </p:txBody>
      </p:sp>
    </p:spTree>
    <p:extLst>
      <p:ext uri="{BB962C8B-B14F-4D97-AF65-F5344CB8AC3E}">
        <p14:creationId xmlns:p14="http://schemas.microsoft.com/office/powerpoint/2010/main" val="6534048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27ABAB8-9753-45A0-9B39-5B286566B0CE}"/>
              </a:ext>
            </a:extLst>
          </p:cNvPr>
          <p:cNvPicPr>
            <a:picLocks xmlns:a="http://schemas.openxmlformats.org/drawingml/2006/main" noChangeAspect="1"/>
          </p:cNvPicPr>
          <p:nvPr/>
        </p:nvPicPr>
        <p:blipFill>
          <a:blip xmlns:r="http://schemas.openxmlformats.org/officeDocument/2006/relationships" xmlns:a="http://schemas.openxmlformats.org/drawingml/2006/main" r:embed="R539c7f87e14649d5"/>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Ergebnisse der drei Programme">
            <a:extLst xmlns:a="http://schemas.openxmlformats.org/drawingml/2006/main">
              <a:ext uri="{FF2B5EF4-FFF2-40B4-BE49-F238E27FC236}">
                <a16:creationId xmlns:a16="http://schemas.microsoft.com/office/drawing/2014/main" id="{88B8C5F9-245D-402D-A04A-9A30AED9191D}"/>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Ergebnisse der drei Programme</a:t>
            </a:r>
          </a:p>
        </p:txBody>
      </p:sp>
      <p:sp>
        <p:nvSpPr>
          <p:cNvPr id="3" name="">
            <a:extLst xmlns:a="http://schemas.openxmlformats.org/drawingml/2006/main">
              <a:ext uri="{FF2B5EF4-FFF2-40B4-BE49-F238E27FC236}">
                <a16:creationId xmlns:a16="http://schemas.microsoft.com/office/drawing/2014/main" id="{2A7DE7FD-0F26-44BD-A31D-B91C81BE5923}"/>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Archivierte Offline-Läufe vom 21.10.2026; docs/validation/20">
            <a:extLst xmlns:a="http://schemas.openxmlformats.org/drawingml/2006/main">
              <a:ext uri="{FF2B5EF4-FFF2-40B4-BE49-F238E27FC236}">
                <a16:creationId xmlns:a16="http://schemas.microsoft.com/office/drawing/2014/main" id="{D6BDCAB5-2635-43D8-8E80-C4A3EE429B84}"/>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Archivierte Offline-Läufe vom 21.10.2026; docs/validation/2026-10-21-fixed/results.json</a:t>
            </a:r>
          </a:p>
        </p:txBody>
      </p:sp>
      <p:sp>
        <p:nvSpPr>
          <p:cNvPr id="5" name="">
            <a:extLst xmlns:a="http://schemas.openxmlformats.org/drawingml/2006/main">
              <a:ext uri="{FF2B5EF4-FFF2-40B4-BE49-F238E27FC236}">
                <a16:creationId xmlns:a16="http://schemas.microsoft.com/office/drawing/2014/main" id="{4FF262FA-0C40-4A8F-8AEF-C6B95ED00338}"/>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67BE5C87-287F-4F34-9D55-BC3DC9910106}"/>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0">
            <a:extLst xmlns:a="http://schemas.openxmlformats.org/drawingml/2006/main">
              <a:ext uri="{FF2B5EF4-FFF2-40B4-BE49-F238E27FC236}">
                <a16:creationId xmlns:a16="http://schemas.microsoft.com/office/drawing/2014/main" id="{0BA7E965-4A6D-4490-BB38-ACEB97E7D0E5}"/>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10</a:t>
            </a:r>
          </a:p>
        </p:txBody>
      </p:sp>
      <p:graphicFrame>
        <p:nvGraphicFramePr>
          <p:cNvPr id="8" name="">
            <a:extLst xmlns:a="http://schemas.openxmlformats.org/drawingml/2006/main">
              <a:ext uri="{FF2B5EF4-FFF2-40B4-BE49-F238E27FC236}">
                <a16:creationId xmlns:a16="http://schemas.microsoft.com/office/drawing/2014/main" id="{74099423-69B5-44C6-A472-CDBB36514BA2}"/>
              </a:ext>
            </a:extLst>
          </p:cNvPr>
          <p:cNvGraphicFramePr/>
          <p:nvPr/>
        </p:nvGraphicFramePr>
        <p:xfrm>
          <a:off xmlns:a="http://schemas.openxmlformats.org/drawingml/2006/main" x="666750" y="1762125"/>
          <a:ext xmlns:a="http://schemas.openxmlformats.org/drawingml/2006/main" cx="10858500" cy="2714625"/>
        </p:xfrm>
        <a:graphic xmlns:a="http://schemas.openxmlformats.org/drawingml/2006/main">
          <a:graphicData uri="http://schemas.openxmlformats.org/drawingml/2006/table">
            <a:tbl>
              <a:tblPr/>
              <a:tblGrid>
                <a:gridCol w="2333625"/>
                <a:gridCol w="3238500"/>
                <a:gridCol w="3238500"/>
                <a:gridCol w="2047875"/>
              </a:tblGrid>
              <a:tr h="678656">
                <a:tc>
                  <a:txBody>
                    <a:bodyPr lIns="76200" tIns="76200" rIns="76200" bIns="76200"/>
                    <a:lstStyle/>
                    <a:p>
                      <a:r>
                        <a:rPr sz="1950" b="1">
                          <a:solidFill>
                            <a:srgbClr val="FFFFFF"/>
                          </a:solidFill>
                          <a:latin typeface="Calibri"/>
                          <a:ea typeface="Calibri"/>
                          <a:cs typeface="Calibri"/>
                        </a:rPr>
                        <a:t>Programm</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950" b="1">
                          <a:solidFill>
                            <a:srgbClr val="FFFFFF"/>
                          </a:solidFill>
                          <a:latin typeface="Calibri"/>
                          <a:ea typeface="Calibri"/>
                          <a:cs typeface="Calibri"/>
                        </a:rPr>
                        <a:t>Vulnerable</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950" b="1">
                          <a:solidFill>
                            <a:srgbClr val="FFFFFF"/>
                          </a:solidFill>
                          <a:latin typeface="Calibri"/>
                          <a:ea typeface="Calibri"/>
                          <a:cs typeface="Calibri"/>
                        </a:rPr>
                        <a:t>Fixed</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950" b="1">
                          <a:solidFill>
                            <a:srgbClr val="FFFFFF"/>
                          </a:solidFill>
                          <a:latin typeface="Calibri"/>
                          <a:ea typeface="Calibri"/>
                          <a:cs typeface="Calibri"/>
                        </a:rPr>
                        <a:t>Ausnahmen</a:t>
                      </a:r>
                    </a:p>
                    <a:p>
                      <a:r>
                        <a:rPr sz="1950" b="1">
                          <a:solidFill>
                            <a:srgbClr val="FFFFFF"/>
                          </a:solidFill>
                          <a:latin typeface="Calibri"/>
                          <a:ea typeface="Calibri"/>
                          <a:cs typeface="Calibri"/>
                        </a:rPr>
                        <a:t>bei Fixed</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678656">
                <a:tc>
                  <a:txBody>
                    <a:bodyPr lIns="76200" tIns="76200" rIns="76200" bIns="76200"/>
                    <a:lstStyle/>
                    <a:p>
                      <a:r>
                        <a:rPr sz="1950" b="0">
                          <a:solidFill>
                            <a:srgbClr val="263640"/>
                          </a:solidFill>
                          <a:latin typeface="Calibri"/>
                          <a:ea typeface="Calibri"/>
                          <a:cs typeface="Calibri"/>
                        </a:rPr>
                        <a:t>Flask-API</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950" b="1">
                          <a:solidFill>
                            <a:srgbClr val="E2001A"/>
                          </a:solidFill>
                          <a:latin typeface="Calibri"/>
                          <a:ea typeface="Calibri"/>
                          <a:cs typeface="Calibri"/>
                        </a:rPr>
                        <a:t>FAIL / 8 blockierend</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950" b="1">
                          <a:solidFill>
                            <a:srgbClr val="236646"/>
                          </a:solidFill>
                          <a:latin typeface="Calibri"/>
                          <a:ea typeface="Calibri"/>
                          <a:cs typeface="Calibri"/>
                        </a:rPr>
                        <a:t>PASS / 0 blockierend</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950" b="0">
                          <a:solidFill>
                            <a:srgbClr val="263640"/>
                          </a:solidFill>
                          <a:latin typeface="Calibri"/>
                          <a:ea typeface="Calibri"/>
                          <a:cs typeface="Calibri"/>
                        </a:rPr>
                        <a:t>1</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678656">
                <a:tc>
                  <a:txBody>
                    <a:bodyPr lIns="76200" tIns="76200" rIns="76200" bIns="76200"/>
                    <a:lstStyle/>
                    <a:p>
                      <a:r>
                        <a:rPr sz="1950" b="0">
                          <a:solidFill>
                            <a:srgbClr val="263640"/>
                          </a:solidFill>
                          <a:latin typeface="Calibri"/>
                          <a:ea typeface="Calibri"/>
                          <a:cs typeface="Calibri"/>
                        </a:rPr>
                        <a:t>YAML-CLI</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950" b="1">
                          <a:solidFill>
                            <a:srgbClr val="E2001A"/>
                          </a:solidFill>
                          <a:latin typeface="Calibri"/>
                          <a:ea typeface="Calibri"/>
                          <a:cs typeface="Calibri"/>
                        </a:rPr>
                        <a:t>FAIL / 4 blockierend</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950" b="1">
                          <a:solidFill>
                            <a:srgbClr val="236646"/>
                          </a:solidFill>
                          <a:latin typeface="Calibri"/>
                          <a:ea typeface="Calibri"/>
                          <a:cs typeface="Calibri"/>
                        </a:rPr>
                        <a:t>PASS / 0 blockierend</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950" b="0">
                          <a:solidFill>
                            <a:srgbClr val="263640"/>
                          </a:solidFill>
                          <a:latin typeface="Calibri"/>
                          <a:ea typeface="Calibri"/>
                          <a:cs typeface="Calibri"/>
                        </a:rPr>
                        <a:t>1</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678656">
                <a:tc>
                  <a:txBody>
                    <a:bodyPr lIns="76200" tIns="76200" rIns="76200" bIns="76200"/>
                    <a:lstStyle/>
                    <a:p>
                      <a:r>
                        <a:rPr sz="1950" b="0">
                          <a:solidFill>
                            <a:srgbClr val="263640"/>
                          </a:solidFill>
                          <a:latin typeface="Calibri"/>
                          <a:ea typeface="Calibri"/>
                          <a:cs typeface="Calibri"/>
                        </a:rPr>
                        <a:t>Dateidienst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950" b="1">
                          <a:solidFill>
                            <a:srgbClr val="E2001A"/>
                          </a:solidFill>
                          <a:latin typeface="Calibri"/>
                          <a:ea typeface="Calibri"/>
                          <a:cs typeface="Calibri"/>
                        </a:rPr>
                        <a:t>FAIL / 10 blockierend</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950" b="1">
                          <a:solidFill>
                            <a:srgbClr val="236646"/>
                          </a:solidFill>
                          <a:latin typeface="Calibri"/>
                          <a:ea typeface="Calibri"/>
                          <a:cs typeface="Calibri"/>
                        </a:rPr>
                        <a:t>PASS / 0 blockierend</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950" b="0">
                          <a:solidFill>
                            <a:srgbClr val="263640"/>
                          </a:solidFill>
                          <a:latin typeface="Calibri"/>
                          <a:ea typeface="Calibri"/>
                          <a:cs typeface="Calibri"/>
                        </a:rPr>
                        <a:t>1</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bl>
          </a:graphicData>
        </a:graphic>
      </p:graphicFrame>
      <p:sp>
        <p:nvSpPr>
          <p:cNvPr id="9" name="12 echte Security-Läufe: 6 online und 6 offline">
            <a:extLst xmlns:a="http://schemas.openxmlformats.org/drawingml/2006/main">
              <a:ext uri="{FF2B5EF4-FFF2-40B4-BE49-F238E27FC236}">
                <a16:creationId xmlns:a16="http://schemas.microsoft.com/office/drawing/2014/main" id="{C1366F50-770A-4B30-B976-CBD9DFEC102F}"/>
              </a:ext>
            </a:extLst>
          </p:cNvPr>
          <p:cNvSpPr>
            <a:spLocks xmlns:a="http://schemas.openxmlformats.org/drawingml/2006/main" noGrp="1"/>
          </p:cNvSpPr>
          <p:nvPr/>
        </p:nvSpPr>
        <p:spPr>
          <a:xfrm xmlns:a="http://schemas.openxmlformats.org/drawingml/2006/main">
            <a:off x="666750" y="48291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2616A"/>
                </a:solidFill>
                <a:latin typeface="Calibri"/>
                <a:ea typeface="Calibri"/>
                <a:cs typeface="Calibri"/>
              </a:defRPr>
            </a:defPPr>
          </a:lstStyle>
          <a:p xmlns:a="http://schemas.openxmlformats.org/drawingml/2006/main">
            <a:pPr algn="l">
              <a:defRPr sz="2250" b="1">
                <a:solidFill>
                  <a:srgbClr val="52616A"/>
                </a:solidFill>
                <a:latin typeface="Calibri"/>
                <a:ea typeface="Calibri"/>
                <a:cs typeface="Calibri"/>
              </a:defRPr>
            </a:pPr>
            <a:r>
              <a:rPr sz="2250" b="1">
                <a:solidFill>
                  <a:srgbClr val="52616A"/>
                </a:solidFill>
                <a:latin typeface="Calibri"/>
                <a:ea typeface="Calibri"/>
                <a:cs typeface="Calibri"/>
              </a:rPr>
              <a:t>12 echte Security-Läufe: 6 online und 6 offline</a:t>
            </a:r>
          </a:p>
        </p:txBody>
      </p:sp>
      <p:sp>
        <p:nvSpPr>
          <p:cNvPr id="10" name="6 Smoke-Tests und 41 aktuelle Tests der Pipeline-Logik besta">
            <a:extLst xmlns:a="http://schemas.openxmlformats.org/drawingml/2006/main">
              <a:ext uri="{FF2B5EF4-FFF2-40B4-BE49-F238E27FC236}">
                <a16:creationId xmlns:a16="http://schemas.microsoft.com/office/drawing/2014/main" id="{73327309-DB5F-4925-BCAA-8DFA0F3E80AE}"/>
              </a:ext>
            </a:extLst>
          </p:cNvPr>
          <p:cNvSpPr>
            <a:spLocks xmlns:a="http://schemas.openxmlformats.org/drawingml/2006/main" noGrp="1"/>
          </p:cNvSpPr>
          <p:nvPr/>
        </p:nvSpPr>
        <p:spPr>
          <a:xfrm xmlns:a="http://schemas.openxmlformats.org/drawingml/2006/main">
            <a:off x="666750" y="5381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6 Smoke-Tests und 41 aktuelle Tests der Pipeline-Logik bestanden.</a:t>
            </a:r>
          </a:p>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PASS erlaubt weiterhin Warnungen und die geprüfte Dockle-Ausnahme.</a:t>
            </a:r>
          </a:p>
        </p:txBody>
      </p:sp>
    </p:spTree>
    <p:extLst>
      <p:ext uri="{BB962C8B-B14F-4D97-AF65-F5344CB8AC3E}">
        <p14:creationId xmlns:p14="http://schemas.microsoft.com/office/powerpoint/2010/main" val="15716498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E7F8668-7AB6-49E5-B6CC-9AE67B2D2BA7}"/>
              </a:ext>
            </a:extLst>
          </p:cNvPr>
          <p:cNvPicPr>
            <a:picLocks xmlns:a="http://schemas.openxmlformats.org/drawingml/2006/main" noChangeAspect="1"/>
          </p:cNvPicPr>
          <p:nvPr/>
        </p:nvPicPr>
        <p:blipFill>
          <a:blip xmlns:r="http://schemas.openxmlformats.org/officeDocument/2006/relationships" xmlns:a="http://schemas.openxmlformats.org/drawingml/2006/main" r:embed="R219733a83d27474f"/>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Probleme während der Implementierung">
            <a:extLst xmlns:a="http://schemas.openxmlformats.org/drawingml/2006/main">
              <a:ext uri="{FF2B5EF4-FFF2-40B4-BE49-F238E27FC236}">
                <a16:creationId xmlns:a16="http://schemas.microsoft.com/office/drawing/2014/main" id="{F08D2FAD-8C0D-42A2-A172-3CB8F6998641}"/>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Probleme während der Implementierung</a:t>
            </a:r>
          </a:p>
        </p:txBody>
      </p:sp>
      <p:sp>
        <p:nvSpPr>
          <p:cNvPr id="3" name="">
            <a:extLst xmlns:a="http://schemas.openxmlformats.org/drawingml/2006/main">
              <a:ext uri="{FF2B5EF4-FFF2-40B4-BE49-F238E27FC236}">
                <a16:creationId xmlns:a16="http://schemas.microsoft.com/office/drawing/2014/main" id="{E39CDA2A-C2CC-436E-BC60-2A2A4D7F542C}"/>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Historische Erstvalidierung und Nachprüfung der zehn Befundg">
            <a:extLst xmlns:a="http://schemas.openxmlformats.org/drawingml/2006/main">
              <a:ext uri="{FF2B5EF4-FFF2-40B4-BE49-F238E27FC236}">
                <a16:creationId xmlns:a16="http://schemas.microsoft.com/office/drawing/2014/main" id="{6CF97580-6CF8-4FF4-8F36-09F162CCF6B2}"/>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Historische Erstvalidierung und Nachprüfung der zehn Befundgruppen</a:t>
            </a:r>
          </a:p>
        </p:txBody>
      </p:sp>
      <p:sp>
        <p:nvSpPr>
          <p:cNvPr id="5" name="">
            <a:extLst xmlns:a="http://schemas.openxmlformats.org/drawingml/2006/main">
              <a:ext uri="{FF2B5EF4-FFF2-40B4-BE49-F238E27FC236}">
                <a16:creationId xmlns:a16="http://schemas.microsoft.com/office/drawing/2014/main" id="{F7AC748D-CA8A-4CA4-9762-CC9ED7F02511}"/>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B7D94DAF-E9B3-4E0F-B51C-68E52A5058A2}"/>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1">
            <a:extLst xmlns:a="http://schemas.openxmlformats.org/drawingml/2006/main">
              <a:ext uri="{FF2B5EF4-FFF2-40B4-BE49-F238E27FC236}">
                <a16:creationId xmlns:a16="http://schemas.microsoft.com/office/drawing/2014/main" id="{F9E7574F-516B-4F76-97B7-3EEDD39271F0}"/>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11</a:t>
            </a:r>
          </a:p>
        </p:txBody>
      </p:sp>
      <p:graphicFrame>
        <p:nvGraphicFramePr>
          <p:cNvPr id="8" name="">
            <a:extLst xmlns:a="http://schemas.openxmlformats.org/drawingml/2006/main">
              <a:ext uri="{FF2B5EF4-FFF2-40B4-BE49-F238E27FC236}">
                <a16:creationId xmlns:a16="http://schemas.microsoft.com/office/drawing/2014/main" id="{6C0AFCC2-2988-4247-9BD0-63B7BD4D6C51}"/>
              </a:ext>
            </a:extLst>
          </p:cNvPr>
          <p:cNvGraphicFramePr/>
          <p:nvPr/>
        </p:nvGraphicFramePr>
        <p:xfrm>
          <a:off xmlns:a="http://schemas.openxmlformats.org/drawingml/2006/main" x="666750" y="1762125"/>
          <a:ext xmlns:a="http://schemas.openxmlformats.org/drawingml/2006/main" cx="10858500" cy="3952875"/>
        </p:xfrm>
        <a:graphic xmlns:a="http://schemas.openxmlformats.org/drawingml/2006/main">
          <a:graphicData uri="http://schemas.openxmlformats.org/drawingml/2006/table">
            <a:tbl>
              <a:tblPr/>
              <a:tblGrid>
                <a:gridCol w="3333750"/>
                <a:gridCol w="4333875"/>
                <a:gridCol w="3190875"/>
              </a:tblGrid>
              <a:tr h="790575">
                <a:tc>
                  <a:txBody>
                    <a:bodyPr lIns="76200" tIns="76200" rIns="76200" bIns="76200"/>
                    <a:lstStyle/>
                    <a:p>
                      <a:r>
                        <a:rPr sz="1800" b="1">
                          <a:solidFill>
                            <a:srgbClr val="FFFFFF"/>
                          </a:solidFill>
                          <a:latin typeface="Calibri"/>
                          <a:ea typeface="Calibri"/>
                          <a:cs typeface="Calibri"/>
                        </a:rPr>
                        <a:t>Problem</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00" b="1">
                          <a:solidFill>
                            <a:srgbClr val="FFFFFF"/>
                          </a:solidFill>
                          <a:latin typeface="Calibri"/>
                          <a:ea typeface="Calibri"/>
                          <a:cs typeface="Calibri"/>
                        </a:rPr>
                        <a:t>Korrektur</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00" b="1">
                          <a:solidFill>
                            <a:srgbClr val="FFFFFF"/>
                          </a:solidFill>
                          <a:latin typeface="Calibri"/>
                          <a:ea typeface="Calibri"/>
                          <a:cs typeface="Calibri"/>
                        </a:rPr>
                        <a:t>Nachweis</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790575">
                <a:tc>
                  <a:txBody>
                    <a:bodyPr lIns="76200" tIns="76200" rIns="76200" bIns="76200"/>
                    <a:lstStyle/>
                    <a:p>
                      <a:r>
                        <a:rPr sz="1800" b="0">
                          <a:solidFill>
                            <a:srgbClr val="263640"/>
                          </a:solidFill>
                          <a:latin typeface="Calibri"/>
                          <a:ea typeface="Calibri"/>
                          <a:cs typeface="Calibri"/>
                        </a:rPr>
                        <a:t>CI-Pfade und Git-Stamm falsch</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CI-Dateien an den Git-Stamm, richtiges Arbeitsverzeichnis</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Bestätigter GitHub-Push-Lauf</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790575">
                <a:tc>
                  <a:txBody>
                    <a:bodyPr lIns="76200" tIns="76200" rIns="76200" bIns="76200"/>
                    <a:lstStyle/>
                    <a:p>
                      <a:r>
                        <a:rPr sz="1800" b="0">
                          <a:solidFill>
                            <a:srgbClr val="263640"/>
                          </a:solidFill>
                          <a:latin typeface="Calibri"/>
                          <a:ea typeface="Calibri"/>
                          <a:cs typeface="Calibri"/>
                        </a:rPr>
                        <a:t>Scanner-Ausfall konnte PASS liefern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Checkzustand und Pflichtreport validieren</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Runtime-Ausfall ergibt ERROR / 2</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790575">
                <a:tc>
                  <a:txBody>
                    <a:bodyPr lIns="76200" tIns="76200" rIns="76200" bIns="76200"/>
                    <a:lstStyle/>
                    <a:p>
                      <a:r>
                        <a:rPr sz="1800" b="0">
                          <a:solidFill>
                            <a:srgbClr val="263640"/>
                          </a:solidFill>
                          <a:latin typeface="Calibri"/>
                          <a:ea typeface="Calibri"/>
                          <a:cs typeface="Calibri"/>
                        </a:rPr>
                        <a:t>Alte CLI war nicht lauffähig</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Kompatible Pins und echte Container-Ausführung</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Beide CLI-Smoke-Tests erfolgreich</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790575">
                <a:tc>
                  <a:txBody>
                    <a:bodyPr lIns="76200" tIns="76200" rIns="76200" bIns="76200"/>
                    <a:lstStyle/>
                    <a:p>
                      <a:r>
                        <a:rPr sz="1800" b="0">
                          <a:solidFill>
                            <a:srgbClr val="263640"/>
                          </a:solidFill>
                          <a:latin typeface="Calibri"/>
                          <a:ea typeface="Calibri"/>
                          <a:cs typeface="Calibri"/>
                        </a:rPr>
                        <a:t>Deduplizierung verlor Image-Kontext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Finding-ID und Testklasse als Schlüssel</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Strengere Image-Policy bleibt wirksam</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8641252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5F866EF-FD58-404E-A9AE-2E3F5275EC72}"/>
              </a:ext>
            </a:extLst>
          </p:cNvPr>
          <p:cNvPicPr>
            <a:picLocks xmlns:a="http://schemas.openxmlformats.org/drawingml/2006/main" noChangeAspect="1"/>
          </p:cNvPicPr>
          <p:nvPr/>
        </p:nvPicPr>
        <p:blipFill>
          <a:blip xmlns:r="http://schemas.openxmlformats.org/officeDocument/2006/relationships" xmlns:a="http://schemas.openxmlformats.org/drawingml/2006/main" r:embed="R14e0f8ec281a4e97"/>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Findings bewerten und Ausnahmen begrenzen">
            <a:extLst xmlns:a="http://schemas.openxmlformats.org/drawingml/2006/main">
              <a:ext uri="{FF2B5EF4-FFF2-40B4-BE49-F238E27FC236}">
                <a16:creationId xmlns:a16="http://schemas.microsoft.com/office/drawing/2014/main" id="{D85D518C-C085-4224-A50A-4953578E1027}"/>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Findings bewerten und Ausnahmen begrenzen</a:t>
            </a:r>
          </a:p>
        </p:txBody>
      </p:sp>
      <p:sp>
        <p:nvSpPr>
          <p:cNvPr id="3" name="">
            <a:extLst xmlns:a="http://schemas.openxmlformats.org/drawingml/2006/main">
              <a:ext uri="{FF2B5EF4-FFF2-40B4-BE49-F238E27FC236}">
                <a16:creationId xmlns:a16="http://schemas.microsoft.com/office/drawing/2014/main" id="{0DE17A52-FB44-41D4-B933-10AB4C3328DE}"/>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policy/suppressions.json; docs/FINDINGS_BEWERTUNG.md; Ausnah">
            <a:extLst xmlns:a="http://schemas.openxmlformats.org/drawingml/2006/main">
              <a:ext uri="{FF2B5EF4-FFF2-40B4-BE49-F238E27FC236}">
                <a16:creationId xmlns:a16="http://schemas.microsoft.com/office/drawing/2014/main" id="{ED4D3C33-1AF2-4FEF-9EA6-2A9F0BCEA0EF}"/>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policy/suppressions.json; docs/FINDINGS_BEWERTUNG.md; Ausnahme gültig bis 20.11.2026</a:t>
            </a:r>
          </a:p>
        </p:txBody>
      </p:sp>
      <p:sp>
        <p:nvSpPr>
          <p:cNvPr id="5" name="">
            <a:extLst xmlns:a="http://schemas.openxmlformats.org/drawingml/2006/main">
              <a:ext uri="{FF2B5EF4-FFF2-40B4-BE49-F238E27FC236}">
                <a16:creationId xmlns:a16="http://schemas.microsoft.com/office/drawing/2014/main" id="{48D90F9F-29FD-4B00-8185-10F350B69112}"/>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82C5F1F5-5961-43B4-813C-D021EDC6C3E1}"/>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2">
            <a:extLst xmlns:a="http://schemas.openxmlformats.org/drawingml/2006/main">
              <a:ext uri="{FF2B5EF4-FFF2-40B4-BE49-F238E27FC236}">
                <a16:creationId xmlns:a16="http://schemas.microsoft.com/office/drawing/2014/main" id="{39B40181-D350-4556-87EF-CE7031367D4B}"/>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12</a:t>
            </a:r>
          </a:p>
        </p:txBody>
      </p:sp>
      <p:sp>
        <p:nvSpPr>
          <p:cNvPr id="8" name="Dockle DKL-DI-0004 im geerbten Python-Basisimage">
            <a:extLst xmlns:a="http://schemas.openxmlformats.org/drawingml/2006/main">
              <a:ext uri="{FF2B5EF4-FFF2-40B4-BE49-F238E27FC236}">
                <a16:creationId xmlns:a16="http://schemas.microsoft.com/office/drawing/2014/main" id="{A5DFC7A0-202C-4D95-BFAF-067B96DD113B}"/>
              </a:ext>
            </a:extLst>
          </p:cNvPr>
          <p:cNvSpPr>
            <a:spLocks xmlns:a="http://schemas.openxmlformats.org/drawingml/2006/main" noGrp="1"/>
          </p:cNvSpPr>
          <p:nvPr/>
        </p:nvSpPr>
        <p:spPr>
          <a:xfrm xmlns:a="http://schemas.openxmlformats.org/drawingml/2006/main">
            <a:off x="666750" y="1809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52616A"/>
                </a:solidFill>
                <a:latin typeface="Calibri"/>
                <a:ea typeface="Calibri"/>
                <a:cs typeface="Calibri"/>
              </a:defRPr>
            </a:defPPr>
          </a:lstStyle>
          <a:p xmlns:a="http://schemas.openxmlformats.org/drawingml/2006/main">
            <a:pPr algn="l">
              <a:defRPr sz="2550" b="1">
                <a:solidFill>
                  <a:srgbClr val="52616A"/>
                </a:solidFill>
                <a:latin typeface="Calibri"/>
                <a:ea typeface="Calibri"/>
                <a:cs typeface="Calibri"/>
              </a:defRPr>
            </a:pPr>
            <a:r>
              <a:rPr sz="2550" b="1">
                <a:solidFill>
                  <a:srgbClr val="52616A"/>
                </a:solidFill>
                <a:latin typeface="Calibri"/>
                <a:ea typeface="Calibri"/>
                <a:cs typeface="Calibri"/>
              </a:rPr>
              <a:t>Dockle DKL-DI-0004 im geerbten Python-Basisimage</a:t>
            </a:r>
          </a:p>
        </p:txBody>
      </p:sp>
      <p:graphicFrame>
        <p:nvGraphicFramePr>
          <p:cNvPr id="9" name="">
            <a:extLst xmlns:a="http://schemas.openxmlformats.org/drawingml/2006/main">
              <a:ext uri="{FF2B5EF4-FFF2-40B4-BE49-F238E27FC236}">
                <a16:creationId xmlns:a16="http://schemas.microsoft.com/office/drawing/2014/main" id="{ED35B14B-B31D-4474-A0A8-CC8A738251E7}"/>
              </a:ext>
            </a:extLst>
          </p:cNvPr>
          <p:cNvGraphicFramePr/>
          <p:nvPr/>
        </p:nvGraphicFramePr>
        <p:xfrm>
          <a:off xmlns:a="http://schemas.openxmlformats.org/drawingml/2006/main" x="666750" y="2667000"/>
          <a:ext xmlns:a="http://schemas.openxmlformats.org/drawingml/2006/main" cx="10858500" cy="2762250"/>
        </p:xfrm>
        <a:graphic xmlns:a="http://schemas.openxmlformats.org/drawingml/2006/main">
          <a:graphicData uri="http://schemas.openxmlformats.org/drawingml/2006/table">
            <a:tbl>
              <a:tblPr/>
              <a:tblGrid>
                <a:gridCol w="5429250"/>
                <a:gridCol w="5429250"/>
              </a:tblGrid>
              <a:tr h="552450">
                <a:tc>
                  <a:txBody>
                    <a:bodyPr lIns="76200" tIns="76200" rIns="76200" bIns="76200"/>
                    <a:lstStyle/>
                    <a:p>
                      <a:r>
                        <a:rPr sz="1800" b="1">
                          <a:solidFill>
                            <a:srgbClr val="FFFFFF"/>
                          </a:solidFill>
                          <a:latin typeface="Calibri"/>
                          <a:ea typeface="Calibri"/>
                          <a:cs typeface="Calibri"/>
                        </a:rPr>
                        <a:t>Beobachtung</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00" b="1">
                          <a:solidFill>
                            <a:srgbClr val="FFFFFF"/>
                          </a:solidFill>
                          <a:latin typeface="Calibri"/>
                          <a:ea typeface="Calibri"/>
                          <a:cs typeface="Calibri"/>
                        </a:rPr>
                        <a:t>Behandlung</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552450">
                <a:tc>
                  <a:txBody>
                    <a:bodyPr lIns="76200" tIns="76200" rIns="76200" bIns="76200"/>
                    <a:lstStyle/>
                    <a:p>
                      <a:r>
                        <a:rPr sz="1800" b="0">
                          <a:solidFill>
                            <a:srgbClr val="263640"/>
                          </a:solidFill>
                          <a:latin typeface="Calibri"/>
                          <a:ea typeface="Calibri"/>
                          <a:cs typeface="Calibri"/>
                        </a:rPr>
                        <a:t>Geerbter apk-Aufruf löst Regel aus</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Buildzeile und leeren Paketcache prüfen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52450">
                <a:tc>
                  <a:txBody>
                    <a:bodyPr lIns="76200" tIns="76200" rIns="76200" bIns="76200"/>
                    <a:lstStyle/>
                    <a:p>
                      <a:r>
                        <a:rPr sz="1800" b="0">
                          <a:solidFill>
                            <a:srgbClr val="263640"/>
                          </a:solidFill>
                          <a:latin typeface="Calibri"/>
                          <a:ea typeface="Calibri"/>
                          <a:cs typeface="Calibri"/>
                        </a:rPr>
                        <a:t>Ausnahme auf Kontext begrenzen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Fixed-Workloads und exakter Basis-Digest</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552450">
                <a:tc>
                  <a:txBody>
                    <a:bodyPr lIns="76200" tIns="76200" rIns="76200" bIns="76200"/>
                    <a:lstStyle/>
                    <a:p>
                      <a:r>
                        <a:rPr sz="1800" b="0">
                          <a:solidFill>
                            <a:srgbClr val="263640"/>
                          </a:solidFill>
                          <a:latin typeface="Calibri"/>
                          <a:ea typeface="Calibri"/>
                          <a:cs typeface="Calibri"/>
                        </a:rPr>
                        <a:t>Bewertung dokumentieren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Owner, Begründung und Ablaufdatum</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52450">
                <a:tc>
                  <a:txBody>
                    <a:bodyPr lIns="76200" tIns="76200" rIns="76200" bIns="76200"/>
                    <a:lstStyle/>
                    <a:p>
                      <a:r>
                        <a:rPr sz="1800" b="0">
                          <a:solidFill>
                            <a:srgbClr val="263640"/>
                          </a:solidFill>
                          <a:latin typeface="Calibri"/>
                          <a:ea typeface="Calibri"/>
                          <a:cs typeface="Calibri"/>
                        </a:rPr>
                        <a:t>Zusätzlichen Nachweis erzwingen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Erfolgreicher Check package-cache-empty</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10" name="Rohbefund bleibt sichtbar. Nach Ablauf wirkt das Finding wie">
            <a:extLst xmlns:a="http://schemas.openxmlformats.org/drawingml/2006/main">
              <a:ext uri="{FF2B5EF4-FFF2-40B4-BE49-F238E27FC236}">
                <a16:creationId xmlns:a16="http://schemas.microsoft.com/office/drawing/2014/main" id="{F12B6587-38F1-4FA7-9D1F-988AFA2F68F4}"/>
              </a:ext>
            </a:extLst>
          </p:cNvPr>
          <p:cNvSpPr>
            <a:spLocks xmlns:a="http://schemas.openxmlformats.org/drawingml/2006/main" noGrp="1"/>
          </p:cNvSpPr>
          <p:nvPr/>
        </p:nvSpPr>
        <p:spPr>
          <a:xfrm xmlns:a="http://schemas.openxmlformats.org/drawingml/2006/main">
            <a:off x="666750" y="56483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E2001A"/>
                </a:solidFill>
                <a:latin typeface="Calibri"/>
                <a:ea typeface="Calibri"/>
                <a:cs typeface="Calibri"/>
              </a:defRPr>
            </a:defPPr>
          </a:lstStyle>
          <a:p xmlns:a="http://schemas.openxmlformats.org/drawingml/2006/main">
            <a:pPr algn="l">
              <a:defRPr sz="1950" b="1">
                <a:solidFill>
                  <a:srgbClr val="E2001A"/>
                </a:solidFill>
                <a:latin typeface="Calibri"/>
                <a:ea typeface="Calibri"/>
                <a:cs typeface="Calibri"/>
              </a:defRPr>
            </a:pPr>
            <a:r>
              <a:rPr sz="1950" b="1">
                <a:solidFill>
                  <a:srgbClr val="E2001A"/>
                </a:solidFill>
                <a:latin typeface="Calibri"/>
                <a:ea typeface="Calibri"/>
                <a:cs typeface="Calibri"/>
              </a:rPr>
              <a:t>Rohbefund bleibt sichtbar. Nach Ablauf wirkt das Finding wieder.</a:t>
            </a:r>
          </a:p>
        </p:txBody>
      </p:sp>
    </p:spTree>
    <p:extLst>
      <p:ext uri="{BB962C8B-B14F-4D97-AF65-F5344CB8AC3E}">
        <p14:creationId xmlns:p14="http://schemas.microsoft.com/office/powerpoint/2010/main" val="8845184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930C898-C4E8-475A-99DF-FCD46811357F}"/>
              </a:ext>
            </a:extLst>
          </p:cNvPr>
          <p:cNvPicPr>
            <a:picLocks xmlns:a="http://schemas.openxmlformats.org/drawingml/2006/main" noChangeAspect="1"/>
          </p:cNvPicPr>
          <p:nvPr/>
        </p:nvPicPr>
        <p:blipFill>
          <a:blip xmlns:r="http://schemas.openxmlformats.org/officeDocument/2006/relationships" xmlns:a="http://schemas.openxmlformats.org/drawingml/2006/main" r:embed="Rc6216a0386d8419d"/>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Demo: Code, Finding und Gateentscheidung">
            <a:extLst xmlns:a="http://schemas.openxmlformats.org/drawingml/2006/main">
              <a:ext uri="{FF2B5EF4-FFF2-40B4-BE49-F238E27FC236}">
                <a16:creationId xmlns:a16="http://schemas.microsoft.com/office/drawing/2014/main" id="{59D8D306-FAD1-4CB5-9B85-A743D8151FDC}"/>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Demo: Code, Finding und Gateentscheidung</a:t>
            </a:r>
          </a:p>
        </p:txBody>
      </p:sp>
      <p:sp>
        <p:nvSpPr>
          <p:cNvPr id="3" name="">
            <a:extLst xmlns:a="http://schemas.openxmlformats.org/drawingml/2006/main">
              <a:ext uri="{FF2B5EF4-FFF2-40B4-BE49-F238E27FC236}">
                <a16:creationId xmlns:a16="http://schemas.microsoft.com/office/drawing/2014/main" id="{BC0B5891-D093-4E2C-88DC-54D3068F8E54}"/>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Befehle im Verzeichnis devsecops-pipeline; vollständige Nach">
            <a:extLst xmlns:a="http://schemas.openxmlformats.org/drawingml/2006/main">
              <a:ext uri="{FF2B5EF4-FFF2-40B4-BE49-F238E27FC236}">
                <a16:creationId xmlns:a16="http://schemas.microsoft.com/office/drawing/2014/main" id="{9C8791BA-80FA-4954-B5C7-4D6AFFBC91ED}"/>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Befehle im Verzeichnis devsecops-pipeline; vollständige Nachweise aller drei Programme liegen im Archiv</a:t>
            </a:r>
          </a:p>
        </p:txBody>
      </p:sp>
      <p:sp>
        <p:nvSpPr>
          <p:cNvPr id="5" name="">
            <a:extLst xmlns:a="http://schemas.openxmlformats.org/drawingml/2006/main">
              <a:ext uri="{FF2B5EF4-FFF2-40B4-BE49-F238E27FC236}">
                <a16:creationId xmlns:a16="http://schemas.microsoft.com/office/drawing/2014/main" id="{C026F64B-845B-4BFC-B78B-1DDD4E4FBD28}"/>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6CFF63CF-4BC9-4114-AA7F-790F8DE39C40}"/>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3">
            <a:extLst xmlns:a="http://schemas.openxmlformats.org/drawingml/2006/main">
              <a:ext uri="{FF2B5EF4-FFF2-40B4-BE49-F238E27FC236}">
                <a16:creationId xmlns:a16="http://schemas.microsoft.com/office/drawing/2014/main" id="{C6A5EF6F-ED79-4EEA-B6F4-AEBD4F095DBF}"/>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13</a:t>
            </a:r>
          </a:p>
        </p:txBody>
      </p:sp>
      <p:sp>
        <p:nvSpPr>
          <p:cNvPr id="8" name="1  Automatischen Push-Lauf in GitHub Actions zeigen">
            <a:extLst xmlns:a="http://schemas.openxmlformats.org/drawingml/2006/main">
              <a:ext uri="{FF2B5EF4-FFF2-40B4-BE49-F238E27FC236}">
                <a16:creationId xmlns:a16="http://schemas.microsoft.com/office/drawing/2014/main" id="{A2CF11E9-A81D-4D4F-9AED-64A424F3448B}"/>
              </a:ext>
            </a:extLst>
          </p:cNvPr>
          <p:cNvSpPr>
            <a:spLocks xmlns:a="http://schemas.openxmlformats.org/drawingml/2006/main" noGrp="1"/>
          </p:cNvSpPr>
          <p:nvPr/>
        </p:nvSpPr>
        <p:spPr>
          <a:xfrm xmlns:a="http://schemas.openxmlformats.org/drawingml/2006/main">
            <a:off x="666750" y="18097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2616A"/>
                </a:solidFill>
                <a:latin typeface="Calibri"/>
                <a:ea typeface="Calibri"/>
                <a:cs typeface="Calibri"/>
              </a:defRPr>
            </a:defPPr>
          </a:lstStyle>
          <a:p xmlns:a="http://schemas.openxmlformats.org/drawingml/2006/main">
            <a:pPr algn="l">
              <a:defRPr sz="2250" b="1">
                <a:solidFill>
                  <a:srgbClr val="52616A"/>
                </a:solidFill>
                <a:latin typeface="Calibri"/>
                <a:ea typeface="Calibri"/>
                <a:cs typeface="Calibri"/>
              </a:defRPr>
            </a:pPr>
            <a:r>
              <a:rPr sz="2250" b="1">
                <a:solidFill>
                  <a:srgbClr val="52616A"/>
                </a:solidFill>
                <a:latin typeface="Calibri"/>
                <a:ea typeface="Calibri"/>
                <a:cs typeface="Calibri"/>
              </a:rPr>
              <a:t>1  Automatischen Push-Lauf in GitHub Actions zeigen</a:t>
            </a:r>
          </a:p>
        </p:txBody>
      </p:sp>
      <p:sp>
        <p:nvSpPr>
          <p:cNvPr id="9" name="2  Dateidienst unsicher und bereinigt vergleichen">
            <a:extLst xmlns:a="http://schemas.openxmlformats.org/drawingml/2006/main">
              <a:ext uri="{FF2B5EF4-FFF2-40B4-BE49-F238E27FC236}">
                <a16:creationId xmlns:a16="http://schemas.microsoft.com/office/drawing/2014/main" id="{0077D0D7-D932-485F-BD02-10A47B06B5DB}"/>
              </a:ext>
            </a:extLst>
          </p:cNvPr>
          <p:cNvSpPr>
            <a:spLocks xmlns:a="http://schemas.openxmlformats.org/drawingml/2006/main" noGrp="1"/>
          </p:cNvSpPr>
          <p:nvPr/>
        </p:nvSpPr>
        <p:spPr>
          <a:xfrm xmlns:a="http://schemas.openxmlformats.org/drawingml/2006/main">
            <a:off x="666750" y="25431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2616A"/>
                </a:solidFill>
                <a:latin typeface="Calibri"/>
                <a:ea typeface="Calibri"/>
                <a:cs typeface="Calibri"/>
              </a:defRPr>
            </a:defPPr>
          </a:lstStyle>
          <a:p xmlns:a="http://schemas.openxmlformats.org/drawingml/2006/main">
            <a:pPr algn="l">
              <a:defRPr sz="2250" b="1">
                <a:solidFill>
                  <a:srgbClr val="52616A"/>
                </a:solidFill>
                <a:latin typeface="Calibri"/>
                <a:ea typeface="Calibri"/>
                <a:cs typeface="Calibri"/>
              </a:defRPr>
            </a:pPr>
            <a:r>
              <a:rPr sz="2250" b="1">
                <a:solidFill>
                  <a:srgbClr val="52616A"/>
                </a:solidFill>
                <a:latin typeface="Calibri"/>
                <a:ea typeface="Calibri"/>
                <a:cs typeface="Calibri"/>
              </a:rPr>
              <a:t>2  Dateidienst unsicher und bereinigt vergleichen</a:t>
            </a:r>
          </a:p>
        </p:txBody>
      </p:sp>
      <p:sp>
        <p:nvSpPr>
          <p:cNvPr id="10" name="python scripts/pipeline.py workloads/03-container-service/vu">
            <a:extLst xmlns:a="http://schemas.openxmlformats.org/drawingml/2006/main">
              <a:ext uri="{FF2B5EF4-FFF2-40B4-BE49-F238E27FC236}">
                <a16:creationId xmlns:a16="http://schemas.microsoft.com/office/drawing/2014/main" id="{3BA056BF-46D8-4E38-BD3B-2B05E948985D}"/>
              </a:ext>
            </a:extLst>
          </p:cNvPr>
          <p:cNvSpPr>
            <a:spLocks xmlns:a="http://schemas.openxmlformats.org/drawingml/2006/main" noGrp="1"/>
          </p:cNvSpPr>
          <p:nvPr/>
        </p:nvSpPr>
        <p:spPr>
          <a:xfrm xmlns:a="http://schemas.openxmlformats.org/drawingml/2006/main">
            <a:off x="666750" y="3200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640"/>
                </a:solidFill>
                <a:latin typeface="Consolas"/>
                <a:ea typeface="Consolas"/>
                <a:cs typeface="Consolas"/>
              </a:defRPr>
            </a:defPPr>
          </a:lstStyle>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python scripts/pipeline.py workloads/03-container-service/vulnerable</a:t>
            </a:r>
          </a:p>
          <a:p xmlns:a="http://schemas.openxmlformats.org/drawingml/2006/main">
            <a:pPr algn="l">
              <a:defRPr sz="1725" b="0">
                <a:solidFill>
                  <a:srgbClr val="263640"/>
                </a:solidFill>
                <a:latin typeface="Consolas"/>
                <a:ea typeface="Consolas"/>
                <a:cs typeface="Consolas"/>
              </a:defRPr>
            </a:pPr>
            <a:r>
              <a:rPr sz="1725" b="0">
                <a:solidFill>
                  <a:srgbClr val="263640"/>
                </a:solidFill>
                <a:latin typeface="Consolas"/>
                <a:ea typeface="Consolas"/>
                <a:cs typeface="Consolas"/>
              </a:rPr>
              <a:t>python scripts/pipeline.py workloads/03-container-service/fixed</a:t>
            </a:r>
          </a:p>
        </p:txBody>
      </p:sp>
      <p:sp>
        <p:nvSpPr>
          <p:cNvPr id="11" name="3  Bericht und Gate-Datei öffnen">
            <a:extLst xmlns:a="http://schemas.openxmlformats.org/drawingml/2006/main">
              <a:ext uri="{FF2B5EF4-FFF2-40B4-BE49-F238E27FC236}">
                <a16:creationId xmlns:a16="http://schemas.microsoft.com/office/drawing/2014/main" id="{4F168B44-30C1-4F60-AFEE-7ED651EE531A}"/>
              </a:ext>
            </a:extLst>
          </p:cNvPr>
          <p:cNvSpPr>
            <a:spLocks xmlns:a="http://schemas.openxmlformats.org/drawingml/2006/main" noGrp="1"/>
          </p:cNvSpPr>
          <p:nvPr/>
        </p:nvSpPr>
        <p:spPr>
          <a:xfrm xmlns:a="http://schemas.openxmlformats.org/drawingml/2006/main">
            <a:off x="666750" y="43434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2616A"/>
                </a:solidFill>
                <a:latin typeface="Calibri"/>
                <a:ea typeface="Calibri"/>
                <a:cs typeface="Calibri"/>
              </a:defRPr>
            </a:defPPr>
          </a:lstStyle>
          <a:p xmlns:a="http://schemas.openxmlformats.org/drawingml/2006/main">
            <a:pPr algn="l">
              <a:defRPr sz="2250" b="1">
                <a:solidFill>
                  <a:srgbClr val="52616A"/>
                </a:solidFill>
                <a:latin typeface="Calibri"/>
                <a:ea typeface="Calibri"/>
                <a:cs typeface="Calibri"/>
              </a:defRPr>
            </a:pPr>
            <a:r>
              <a:rPr sz="2250" b="1">
                <a:solidFill>
                  <a:srgbClr val="52616A"/>
                </a:solidFill>
                <a:latin typeface="Calibri"/>
                <a:ea typeface="Calibri"/>
                <a:cs typeface="Calibri"/>
              </a:rPr>
              <a:t>3  Bericht und Gate-Datei öffnen</a:t>
            </a:r>
          </a:p>
        </p:txBody>
      </p:sp>
      <p:sp>
        <p:nvSpPr>
          <p:cNvPr id="12" name="run.json erklärt den Ablauf, raw/ zeigt den Toolbefund, gate">
            <a:extLst xmlns:a="http://schemas.openxmlformats.org/drawingml/2006/main">
              <a:ext uri="{FF2B5EF4-FFF2-40B4-BE49-F238E27FC236}">
                <a16:creationId xmlns:a16="http://schemas.microsoft.com/office/drawing/2014/main" id="{861BCAA6-DE37-4202-89DF-69B37E345EAD}"/>
              </a:ext>
            </a:extLst>
          </p:cNvPr>
          <p:cNvSpPr>
            <a:spLocks xmlns:a="http://schemas.openxmlformats.org/drawingml/2006/main" noGrp="1"/>
          </p:cNvSpPr>
          <p:nvPr/>
        </p:nvSpPr>
        <p:spPr>
          <a:xfrm xmlns:a="http://schemas.openxmlformats.org/drawingml/2006/main">
            <a:off x="666750" y="49625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640"/>
                </a:solidFill>
                <a:latin typeface="Calibri"/>
                <a:ea typeface="Calibri"/>
                <a:cs typeface="Calibri"/>
              </a:defRPr>
            </a:defPPr>
          </a:lstStyle>
          <a:p xmlns:a="http://schemas.openxmlformats.org/drawingml/2006/main">
            <a:pPr algn="l">
              <a:defRPr sz="1950" b="0">
                <a:solidFill>
                  <a:srgbClr val="263640"/>
                </a:solidFill>
                <a:latin typeface="Calibri"/>
                <a:ea typeface="Calibri"/>
                <a:cs typeface="Calibri"/>
              </a:defRPr>
            </a:pPr>
            <a:r>
              <a:rPr sz="1950" b="0">
                <a:solidFill>
                  <a:srgbClr val="263640"/>
                </a:solidFill>
                <a:latin typeface="Calibri"/>
                <a:ea typeface="Calibri"/>
                <a:cs typeface="Calibri"/>
              </a:rPr>
              <a:t>run.json erklärt den Ablauf, raw/ zeigt den Toolbefund, gate.json die Entscheidung.</a:t>
            </a:r>
          </a:p>
        </p:txBody>
      </p:sp>
      <p:sp>
        <p:nvSpPr>
          <p:cNvPr id="13" name="Demo-Job grün: vulnerable wird abgelehnt, fixed besteht die ">
            <a:extLst xmlns:a="http://schemas.openxmlformats.org/drawingml/2006/main">
              <a:ext uri="{FF2B5EF4-FFF2-40B4-BE49-F238E27FC236}">
                <a16:creationId xmlns:a16="http://schemas.microsoft.com/office/drawing/2014/main" id="{77E9109A-B340-4413-A6F2-1BD423FECD65}"/>
              </a:ext>
            </a:extLst>
          </p:cNvPr>
          <p:cNvSpPr>
            <a:spLocks xmlns:a="http://schemas.openxmlformats.org/drawingml/2006/main" noGrp="1"/>
          </p:cNvSpPr>
          <p:nvPr/>
        </p:nvSpPr>
        <p:spPr>
          <a:xfrm xmlns:a="http://schemas.openxmlformats.org/drawingml/2006/main">
            <a:off x="666750" y="56197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2001A"/>
                </a:solidFill>
                <a:latin typeface="Calibri"/>
                <a:ea typeface="Calibri"/>
                <a:cs typeface="Calibri"/>
              </a:defRPr>
            </a:defPPr>
          </a:lstStyle>
          <a:p xmlns:a="http://schemas.openxmlformats.org/drawingml/2006/main">
            <a:pPr algn="l">
              <a:defRPr sz="1875" b="1">
                <a:solidFill>
                  <a:srgbClr val="E2001A"/>
                </a:solidFill>
                <a:latin typeface="Calibri"/>
                <a:ea typeface="Calibri"/>
                <a:cs typeface="Calibri"/>
              </a:defRPr>
            </a:pPr>
            <a:r>
              <a:rPr sz="1875" b="1">
                <a:solidFill>
                  <a:srgbClr val="E2001A"/>
                </a:solidFill>
                <a:latin typeface="Calibri"/>
                <a:ea typeface="Calibri"/>
                <a:cs typeface="Calibri"/>
              </a:rPr>
              <a:t>Demo-Job grün: vulnerable wird abgelehnt, fixed besteht die Policy.</a:t>
            </a:r>
          </a:p>
        </p:txBody>
      </p:sp>
    </p:spTree>
    <p:extLst>
      <p:ext uri="{BB962C8B-B14F-4D97-AF65-F5344CB8AC3E}">
        <p14:creationId xmlns:p14="http://schemas.microsoft.com/office/powerpoint/2010/main" val="7969761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7B12B22-F7F3-48FA-8335-CF317514CFA1}"/>
              </a:ext>
            </a:extLst>
          </p:cNvPr>
          <p:cNvPicPr>
            <a:picLocks xmlns:a="http://schemas.openxmlformats.org/drawingml/2006/main" noChangeAspect="1"/>
          </p:cNvPicPr>
          <p:nvPr/>
        </p:nvPicPr>
        <p:blipFill>
          <a:blip xmlns:r="http://schemas.openxmlformats.org/officeDocument/2006/relationships" xmlns:a="http://schemas.openxmlformats.org/drawingml/2006/main" r:embed="Rb4c5cca2110441e2"/>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Lessons Learned">
            <a:extLst xmlns:a="http://schemas.openxmlformats.org/drawingml/2006/main">
              <a:ext uri="{FF2B5EF4-FFF2-40B4-BE49-F238E27FC236}">
                <a16:creationId xmlns:a16="http://schemas.microsoft.com/office/drawing/2014/main" id="{0E478E56-8760-4133-8793-560E7E9D6C5B}"/>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Lessons Learned</a:t>
            </a:r>
          </a:p>
        </p:txBody>
      </p:sp>
      <p:sp>
        <p:nvSpPr>
          <p:cNvPr id="3" name="">
            <a:extLst xmlns:a="http://schemas.openxmlformats.org/drawingml/2006/main">
              <a:ext uri="{FF2B5EF4-FFF2-40B4-BE49-F238E27FC236}">
                <a16:creationId xmlns:a16="http://schemas.microsoft.com/office/drawing/2014/main" id="{558E53D8-F173-4AAA-A3E8-9ABEAF21DBCC}"/>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Eigene Erkenntnisse aus Validierung, Korrekturen und manuell">
            <a:extLst xmlns:a="http://schemas.openxmlformats.org/drawingml/2006/main">
              <a:ext uri="{FF2B5EF4-FFF2-40B4-BE49-F238E27FC236}">
                <a16:creationId xmlns:a16="http://schemas.microsoft.com/office/drawing/2014/main" id="{F456A422-0B3C-402B-B66B-339FC3B8CDBA}"/>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Eigene Erkenntnisse aus Validierung, Korrekturen und manueller Findingsbewertung</a:t>
            </a:r>
          </a:p>
        </p:txBody>
      </p:sp>
      <p:sp>
        <p:nvSpPr>
          <p:cNvPr id="5" name="">
            <a:extLst xmlns:a="http://schemas.openxmlformats.org/drawingml/2006/main">
              <a:ext uri="{FF2B5EF4-FFF2-40B4-BE49-F238E27FC236}">
                <a16:creationId xmlns:a16="http://schemas.microsoft.com/office/drawing/2014/main" id="{FA27FEB3-49DB-466B-AEF3-CCF0FC618A15}"/>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6A5EC28D-278C-4C18-8B30-2C014A3E7F85}"/>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4">
            <a:extLst xmlns:a="http://schemas.openxmlformats.org/drawingml/2006/main">
              <a:ext uri="{FF2B5EF4-FFF2-40B4-BE49-F238E27FC236}">
                <a16:creationId xmlns:a16="http://schemas.microsoft.com/office/drawing/2014/main" id="{F99A416A-EF85-456C-8E3C-7399569E10A2}"/>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14</a:t>
            </a:r>
          </a:p>
        </p:txBody>
      </p:sp>
      <p:sp>
        <p:nvSpPr>
          <p:cNvPr id="8" name="Ein gestarteter Scanner ist noch kein erfolgreicher Check">
            <a:extLst xmlns:a="http://schemas.openxmlformats.org/drawingml/2006/main">
              <a:ext uri="{FF2B5EF4-FFF2-40B4-BE49-F238E27FC236}">
                <a16:creationId xmlns:a16="http://schemas.microsoft.com/office/drawing/2014/main" id="{02F99B40-24FD-400E-A222-426C9A02D36F}"/>
              </a:ext>
            </a:extLst>
          </p:cNvPr>
          <p:cNvSpPr>
            <a:spLocks xmlns:a="http://schemas.openxmlformats.org/drawingml/2006/main" noGrp="1"/>
          </p:cNvSpPr>
          <p:nvPr/>
        </p:nvSpPr>
        <p:spPr>
          <a:xfrm xmlns:a="http://schemas.openxmlformats.org/drawingml/2006/main">
            <a:off x="666750" y="18288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2616A"/>
                </a:solidFill>
                <a:latin typeface="Calibri"/>
                <a:ea typeface="Calibri"/>
                <a:cs typeface="Calibri"/>
              </a:defRPr>
            </a:defPPr>
          </a:lstStyle>
          <a:p xmlns:a="http://schemas.openxmlformats.org/drawingml/2006/main">
            <a:pPr algn="l">
              <a:defRPr sz="2175" b="1">
                <a:solidFill>
                  <a:srgbClr val="52616A"/>
                </a:solidFill>
                <a:latin typeface="Calibri"/>
                <a:ea typeface="Calibri"/>
                <a:cs typeface="Calibri"/>
              </a:defRPr>
            </a:pPr>
            <a:r>
              <a:rPr sz="2175" b="1">
                <a:solidFill>
                  <a:srgbClr val="52616A"/>
                </a:solidFill>
                <a:latin typeface="Calibri"/>
                <a:ea typeface="Calibri"/>
                <a:cs typeface="Calibri"/>
              </a:rPr>
              <a:t>Ein gestarteter Scanner ist noch kein erfolgreicher Check</a:t>
            </a:r>
          </a:p>
        </p:txBody>
      </p:sp>
      <p:sp>
        <p:nvSpPr>
          <p:cNvPr id="9" name="Exit-Code, Checkstatus und Report müssen zusammenpassen.">
            <a:extLst xmlns:a="http://schemas.openxmlformats.org/drawingml/2006/main">
              <a:ext uri="{FF2B5EF4-FFF2-40B4-BE49-F238E27FC236}">
                <a16:creationId xmlns:a16="http://schemas.microsoft.com/office/drawing/2014/main" id="{C2FE91A8-64D9-448D-8E52-869C68CABB57}"/>
              </a:ext>
            </a:extLst>
          </p:cNvPr>
          <p:cNvSpPr>
            <a:spLocks xmlns:a="http://schemas.openxmlformats.org/drawingml/2006/main" noGrp="1"/>
          </p:cNvSpPr>
          <p:nvPr/>
        </p:nvSpPr>
        <p:spPr>
          <a:xfrm xmlns:a="http://schemas.openxmlformats.org/drawingml/2006/main">
            <a:off x="666750" y="22669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Exit-Code, Checkstatus und Report müssen zusammenpassen.</a:t>
            </a:r>
          </a:p>
        </p:txBody>
      </p:sp>
      <p:sp>
        <p:nvSpPr>
          <p:cNvPr id="10" name="Lauffähigkeit und Sicherheitsfreigabe sind getrennte Nachwei">
            <a:extLst xmlns:a="http://schemas.openxmlformats.org/drawingml/2006/main">
              <a:ext uri="{FF2B5EF4-FFF2-40B4-BE49-F238E27FC236}">
                <a16:creationId xmlns:a16="http://schemas.microsoft.com/office/drawing/2014/main" id="{CE4AB84C-9F15-46E0-86E3-221755543DD3}"/>
              </a:ext>
            </a:extLst>
          </p:cNvPr>
          <p:cNvSpPr>
            <a:spLocks xmlns:a="http://schemas.openxmlformats.org/drawingml/2006/main" noGrp="1"/>
          </p:cNvSpPr>
          <p:nvPr/>
        </p:nvSpPr>
        <p:spPr>
          <a:xfrm xmlns:a="http://schemas.openxmlformats.org/drawingml/2006/main">
            <a:off x="666750" y="28479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2616A"/>
                </a:solidFill>
                <a:latin typeface="Calibri"/>
                <a:ea typeface="Calibri"/>
                <a:cs typeface="Calibri"/>
              </a:defRPr>
            </a:defPPr>
          </a:lstStyle>
          <a:p xmlns:a="http://schemas.openxmlformats.org/drawingml/2006/main">
            <a:pPr algn="l">
              <a:defRPr sz="2175" b="1">
                <a:solidFill>
                  <a:srgbClr val="52616A"/>
                </a:solidFill>
                <a:latin typeface="Calibri"/>
                <a:ea typeface="Calibri"/>
                <a:cs typeface="Calibri"/>
              </a:defRPr>
            </a:pPr>
            <a:r>
              <a:rPr sz="2175" b="1">
                <a:solidFill>
                  <a:srgbClr val="52616A"/>
                </a:solidFill>
                <a:latin typeface="Calibri"/>
                <a:ea typeface="Calibri"/>
                <a:cs typeface="Calibri"/>
              </a:rPr>
              <a:t>Lauffähigkeit und Sicherheitsfreigabe sind getrennte Nachweise</a:t>
            </a:r>
          </a:p>
        </p:txBody>
      </p:sp>
      <p:sp>
        <p:nvSpPr>
          <p:cNvPr id="11" name="Negativbeispiele müssen starten können und trotzdem am Gate ">
            <a:extLst xmlns:a="http://schemas.openxmlformats.org/drawingml/2006/main">
              <a:ext uri="{FF2B5EF4-FFF2-40B4-BE49-F238E27FC236}">
                <a16:creationId xmlns:a16="http://schemas.microsoft.com/office/drawing/2014/main" id="{0FB44CCF-CD79-4019-BB27-833A2A35C356}"/>
              </a:ext>
            </a:extLst>
          </p:cNvPr>
          <p:cNvSpPr>
            <a:spLocks xmlns:a="http://schemas.openxmlformats.org/drawingml/2006/main" noGrp="1"/>
          </p:cNvSpPr>
          <p:nvPr/>
        </p:nvSpPr>
        <p:spPr>
          <a:xfrm xmlns:a="http://schemas.openxmlformats.org/drawingml/2006/main">
            <a:off x="666750" y="3286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Negativbeispiele müssen starten können und trotzdem am Gate scheitern.</a:t>
            </a:r>
          </a:p>
        </p:txBody>
      </p:sp>
      <p:sp>
        <p:nvSpPr>
          <p:cNvPr id="12" name="Der Anwendungskontext bestimmt die Bewertung">
            <a:extLst xmlns:a="http://schemas.openxmlformats.org/drawingml/2006/main">
              <a:ext uri="{FF2B5EF4-FFF2-40B4-BE49-F238E27FC236}">
                <a16:creationId xmlns:a16="http://schemas.microsoft.com/office/drawing/2014/main" id="{429B36C2-28E5-487F-BD6B-3D0F027C2B7A}"/>
              </a:ext>
            </a:extLst>
          </p:cNvPr>
          <p:cNvSpPr>
            <a:spLocks xmlns:a="http://schemas.openxmlformats.org/drawingml/2006/main" noGrp="1"/>
          </p:cNvSpPr>
          <p:nvPr/>
        </p:nvSpPr>
        <p:spPr>
          <a:xfrm xmlns:a="http://schemas.openxmlformats.org/drawingml/2006/main">
            <a:off x="666750" y="38671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2616A"/>
                </a:solidFill>
                <a:latin typeface="Calibri"/>
                <a:ea typeface="Calibri"/>
                <a:cs typeface="Calibri"/>
              </a:defRPr>
            </a:defPPr>
          </a:lstStyle>
          <a:p xmlns:a="http://schemas.openxmlformats.org/drawingml/2006/main">
            <a:pPr algn="l">
              <a:defRPr sz="2175" b="1">
                <a:solidFill>
                  <a:srgbClr val="52616A"/>
                </a:solidFill>
                <a:latin typeface="Calibri"/>
                <a:ea typeface="Calibri"/>
                <a:cs typeface="Calibri"/>
              </a:defRPr>
            </a:pPr>
            <a:r>
              <a:rPr sz="2175" b="1">
                <a:solidFill>
                  <a:srgbClr val="52616A"/>
                </a:solidFill>
                <a:latin typeface="Calibri"/>
                <a:ea typeface="Calibri"/>
                <a:cs typeface="Calibri"/>
              </a:rPr>
              <a:t>Der Anwendungskontext bestimmt die Bewertung</a:t>
            </a:r>
          </a:p>
        </p:txBody>
      </p:sp>
      <p:sp>
        <p:nvSpPr>
          <p:cNvPr id="13" name="Paketmeldung, konkreter Codefehler und Fehlalarm sind unters">
            <a:extLst xmlns:a="http://schemas.openxmlformats.org/drawingml/2006/main">
              <a:ext uri="{FF2B5EF4-FFF2-40B4-BE49-F238E27FC236}">
                <a16:creationId xmlns:a16="http://schemas.microsoft.com/office/drawing/2014/main" id="{65BD34DA-88C8-40A8-A9D0-875A6E398823}"/>
              </a:ext>
            </a:extLst>
          </p:cNvPr>
          <p:cNvSpPr>
            <a:spLocks xmlns:a="http://schemas.openxmlformats.org/drawingml/2006/main" noGrp="1"/>
          </p:cNvSpPr>
          <p:nvPr/>
        </p:nvSpPr>
        <p:spPr>
          <a:xfrm xmlns:a="http://schemas.openxmlformats.org/drawingml/2006/main">
            <a:off x="666750" y="43053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Paketmeldung, konkreter Codefehler und Fehlalarm sind unterschiedliche Fälle.</a:t>
            </a:r>
          </a:p>
        </p:txBody>
      </p:sp>
      <p:sp>
        <p:nvSpPr>
          <p:cNvPr id="14" name="Reproduzierbarkeit braucht mehr als feste Toolversionen">
            <a:extLst xmlns:a="http://schemas.openxmlformats.org/drawingml/2006/main">
              <a:ext uri="{FF2B5EF4-FFF2-40B4-BE49-F238E27FC236}">
                <a16:creationId xmlns:a16="http://schemas.microsoft.com/office/drawing/2014/main" id="{91EB59DC-8994-4038-A4E9-B8032F56D14D}"/>
              </a:ext>
            </a:extLst>
          </p:cNvPr>
          <p:cNvSpPr>
            <a:spLocks xmlns:a="http://schemas.openxmlformats.org/drawingml/2006/main" noGrp="1"/>
          </p:cNvSpPr>
          <p:nvPr/>
        </p:nvSpPr>
        <p:spPr>
          <a:xfrm xmlns:a="http://schemas.openxmlformats.org/drawingml/2006/main">
            <a:off x="666750" y="48863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2616A"/>
                </a:solidFill>
                <a:latin typeface="Calibri"/>
                <a:ea typeface="Calibri"/>
                <a:cs typeface="Calibri"/>
              </a:defRPr>
            </a:defPPr>
          </a:lstStyle>
          <a:p xmlns:a="http://schemas.openxmlformats.org/drawingml/2006/main">
            <a:pPr algn="l">
              <a:defRPr sz="2175" b="1">
                <a:solidFill>
                  <a:srgbClr val="52616A"/>
                </a:solidFill>
                <a:latin typeface="Calibri"/>
                <a:ea typeface="Calibri"/>
                <a:cs typeface="Calibri"/>
              </a:defRPr>
            </a:pPr>
            <a:r>
              <a:rPr sz="2175" b="1">
                <a:solidFill>
                  <a:srgbClr val="52616A"/>
                </a:solidFill>
                <a:latin typeface="Calibri"/>
                <a:ea typeface="Calibri"/>
                <a:cs typeface="Calibri"/>
              </a:rPr>
              <a:t>Reproduzierbarkeit braucht mehr als feste Toolversionen</a:t>
            </a:r>
          </a:p>
        </p:txBody>
      </p:sp>
      <p:sp>
        <p:nvSpPr>
          <p:cNvPr id="15" name="Regeln, Quellen, Images, CVE-Datenbank und Cache beeinflusse">
            <a:extLst xmlns:a="http://schemas.openxmlformats.org/drawingml/2006/main">
              <a:ext uri="{FF2B5EF4-FFF2-40B4-BE49-F238E27FC236}">
                <a16:creationId xmlns:a16="http://schemas.microsoft.com/office/drawing/2014/main" id="{3E2668C7-ED55-4D4B-AAEF-C342684A6387}"/>
              </a:ext>
            </a:extLst>
          </p:cNvPr>
          <p:cNvSpPr>
            <a:spLocks xmlns:a="http://schemas.openxmlformats.org/drawingml/2006/main" noGrp="1"/>
          </p:cNvSpPr>
          <p:nvPr/>
        </p:nvSpPr>
        <p:spPr>
          <a:xfrm xmlns:a="http://schemas.openxmlformats.org/drawingml/2006/main">
            <a:off x="666750" y="53244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Regeln, Quellen, Images, CVE-Datenbank und Cache beeinflussen das Ergebnis.</a:t>
            </a:r>
          </a:p>
        </p:txBody>
      </p:sp>
    </p:spTree>
    <p:extLst>
      <p:ext uri="{BB962C8B-B14F-4D97-AF65-F5344CB8AC3E}">
        <p14:creationId xmlns:p14="http://schemas.microsoft.com/office/powerpoint/2010/main" val="129715780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8DB331A-0A5F-42C2-BEA6-C981C5B90695}"/>
              </a:ext>
            </a:extLst>
          </p:cNvPr>
          <p:cNvPicPr>
            <a:picLocks xmlns:a="http://schemas.openxmlformats.org/drawingml/2006/main" noChangeAspect="1"/>
          </p:cNvPicPr>
          <p:nvPr/>
        </p:nvPicPr>
        <p:blipFill>
          <a:blip xmlns:r="http://schemas.openxmlformats.org/officeDocument/2006/relationships" xmlns:a="http://schemas.openxmlformats.org/drawingml/2006/main" r:embed="Ra3a7610ed36b4a49"/>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Bewertung für den produktiven Einsatz">
            <a:extLst xmlns:a="http://schemas.openxmlformats.org/drawingml/2006/main">
              <a:ext uri="{FF2B5EF4-FFF2-40B4-BE49-F238E27FC236}">
                <a16:creationId xmlns:a16="http://schemas.microsoft.com/office/drawing/2014/main" id="{A8215175-2A5E-480A-88BC-E11BF7489CB0}"/>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Bewertung für den produktiven Einsatz</a:t>
            </a:r>
          </a:p>
        </p:txBody>
      </p:sp>
      <p:sp>
        <p:nvSpPr>
          <p:cNvPr id="3" name="">
            <a:extLst xmlns:a="http://schemas.openxmlformats.org/drawingml/2006/main">
              <a:ext uri="{FF2B5EF4-FFF2-40B4-BE49-F238E27FC236}">
                <a16:creationId xmlns:a16="http://schemas.microsoft.com/office/drawing/2014/main" id="{5131D3A4-B02D-4AF2-96EF-EC2E8D134BAB}"/>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Eigene Bewertung des Projektstands; Maßstab: Vorlesung S. 17">
            <a:extLst xmlns:a="http://schemas.openxmlformats.org/drawingml/2006/main">
              <a:ext uri="{FF2B5EF4-FFF2-40B4-BE49-F238E27FC236}">
                <a16:creationId xmlns:a16="http://schemas.microsoft.com/office/drawing/2014/main" id="{068B267D-0E23-4CE6-B766-FB68B47D68DC}"/>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Eigene Bewertung des Projektstands; Maßstab: Vorlesung S. 17, 33–34, 36 und OWASP CI/CD Security</a:t>
            </a:r>
          </a:p>
        </p:txBody>
      </p:sp>
      <p:sp>
        <p:nvSpPr>
          <p:cNvPr id="5" name="">
            <a:extLst xmlns:a="http://schemas.openxmlformats.org/drawingml/2006/main">
              <a:ext uri="{FF2B5EF4-FFF2-40B4-BE49-F238E27FC236}">
                <a16:creationId xmlns:a16="http://schemas.microsoft.com/office/drawing/2014/main" id="{D95F89D6-1BF5-4201-B40D-0C82CB46959C}"/>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8DD48577-EEE7-4DE9-AF62-0D12F6171D24}"/>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5">
            <a:extLst xmlns:a="http://schemas.openxmlformats.org/drawingml/2006/main">
              <a:ext uri="{FF2B5EF4-FFF2-40B4-BE49-F238E27FC236}">
                <a16:creationId xmlns:a16="http://schemas.microsoft.com/office/drawing/2014/main" id="{C74ACB1B-C731-4D49-A652-3BABF572384F}"/>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15</a:t>
            </a:r>
          </a:p>
        </p:txBody>
      </p:sp>
      <p:sp>
        <p:nvSpPr>
          <p:cNvPr id="8" name="Geeignete Grundlage für CI-Prüfungen, noch keine Produktions">
            <a:extLst xmlns:a="http://schemas.openxmlformats.org/drawingml/2006/main">
              <a:ext uri="{FF2B5EF4-FFF2-40B4-BE49-F238E27FC236}">
                <a16:creationId xmlns:a16="http://schemas.microsoft.com/office/drawing/2014/main" id="{23A1F6EB-3A5B-4693-8903-CACF8933B09F}"/>
              </a:ext>
            </a:extLst>
          </p:cNvPr>
          <p:cNvSpPr>
            <a:spLocks xmlns:a="http://schemas.openxmlformats.org/drawingml/2006/main" noGrp="1"/>
          </p:cNvSpPr>
          <p:nvPr/>
        </p:nvSpPr>
        <p:spPr>
          <a:xfrm xmlns:a="http://schemas.openxmlformats.org/drawingml/2006/main">
            <a:off x="666750" y="17335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E2001A"/>
                </a:solidFill>
                <a:latin typeface="Calibri"/>
                <a:ea typeface="Calibri"/>
                <a:cs typeface="Calibri"/>
              </a:defRPr>
            </a:defPPr>
          </a:lstStyle>
          <a:p xmlns:a="http://schemas.openxmlformats.org/drawingml/2006/main">
            <a:pPr algn="l">
              <a:defRPr sz="2625" b="1">
                <a:solidFill>
                  <a:srgbClr val="E2001A"/>
                </a:solidFill>
                <a:latin typeface="Calibri"/>
                <a:ea typeface="Calibri"/>
                <a:cs typeface="Calibri"/>
              </a:defRPr>
            </a:pPr>
            <a:r>
              <a:rPr sz="2625" b="1">
                <a:solidFill>
                  <a:srgbClr val="E2001A"/>
                </a:solidFill>
                <a:latin typeface="Calibri"/>
                <a:ea typeface="Calibri"/>
                <a:cs typeface="Calibri"/>
              </a:rPr>
              <a:t>Geeignete Grundlage für CI-Prüfungen, noch keine Produktionsfreigabe</a:t>
            </a:r>
          </a:p>
        </p:txBody>
      </p:sp>
      <p:graphicFrame>
        <p:nvGraphicFramePr>
          <p:cNvPr id="9" name="">
            <a:extLst xmlns:a="http://schemas.openxmlformats.org/drawingml/2006/main">
              <a:ext uri="{FF2B5EF4-FFF2-40B4-BE49-F238E27FC236}">
                <a16:creationId xmlns:a16="http://schemas.microsoft.com/office/drawing/2014/main" id="{F15F10B4-55CE-48FD-9009-71829100D583}"/>
              </a:ext>
            </a:extLst>
          </p:cNvPr>
          <p:cNvGraphicFramePr/>
          <p:nvPr/>
        </p:nvGraphicFramePr>
        <p:xfrm>
          <a:off xmlns:a="http://schemas.openxmlformats.org/drawingml/2006/main" x="666750" y="2667000"/>
          <a:ext xmlns:a="http://schemas.openxmlformats.org/drawingml/2006/main" cx="10858500" cy="3286125"/>
        </p:xfrm>
        <a:graphic xmlns:a="http://schemas.openxmlformats.org/drawingml/2006/main">
          <a:graphicData uri="http://schemas.openxmlformats.org/drawingml/2006/table">
            <a:tbl>
              <a:tblPr/>
              <a:tblGrid>
                <a:gridCol w="4476750"/>
                <a:gridCol w="6381750"/>
              </a:tblGrid>
              <a:tr h="547688">
                <a:tc>
                  <a:txBody>
                    <a:bodyPr lIns="76200" tIns="76200" rIns="76200" bIns="76200"/>
                    <a:lstStyle/>
                    <a:p>
                      <a:r>
                        <a:rPr sz="1800" b="1">
                          <a:solidFill>
                            <a:srgbClr val="FFFFFF"/>
                          </a:solidFill>
                          <a:latin typeface="Calibri"/>
                          <a:ea typeface="Calibri"/>
                          <a:cs typeface="Calibri"/>
                        </a:rPr>
                        <a:t>Bereits vorhanden</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00" b="1">
                          <a:solidFill>
                            <a:srgbClr val="FFFFFF"/>
                          </a:solidFill>
                          <a:latin typeface="Calibri"/>
                          <a:ea typeface="Calibri"/>
                          <a:cs typeface="Calibri"/>
                        </a:rPr>
                        <a:t>Für Produktion ergänzen</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547688">
                <a:tc>
                  <a:txBody>
                    <a:bodyPr lIns="76200" tIns="76200" rIns="76200" bIns="76200"/>
                    <a:lstStyle/>
                    <a:p>
                      <a:r>
                        <a:rPr sz="1800" b="0">
                          <a:solidFill>
                            <a:srgbClr val="263640"/>
                          </a:solidFill>
                          <a:latin typeface="Calibri"/>
                          <a:ea typeface="Calibri"/>
                          <a:cs typeface="Calibri"/>
                        </a:rPr>
                        <a:t>Automatisierte Security-Gates</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Branchschutz und verbindliche Freigaben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47688">
                <a:tc>
                  <a:txBody>
                    <a:bodyPr lIns="76200" tIns="76200" rIns="76200" bIns="76200"/>
                    <a:lstStyle/>
                    <a:p>
                      <a:r>
                        <a:rPr sz="1800" b="0">
                          <a:solidFill>
                            <a:srgbClr val="263640"/>
                          </a:solidFill>
                          <a:latin typeface="Calibri"/>
                          <a:ea typeface="Calibri"/>
                          <a:cs typeface="Calibri"/>
                        </a:rPr>
                        <a:t>Feste Tool- und Paketversionen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Actions an SHA binden und Updates prüfen</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547688">
                <a:tc>
                  <a:txBody>
                    <a:bodyPr lIns="76200" tIns="76200" rIns="76200" bIns="76200"/>
                    <a:lstStyle/>
                    <a:p>
                      <a:r>
                        <a:rPr sz="1800" b="0">
                          <a:solidFill>
                            <a:srgbClr val="263640"/>
                          </a:solidFill>
                          <a:latin typeface="Calibri"/>
                          <a:ea typeface="Calibri"/>
                          <a:cs typeface="Calibri"/>
                        </a:rPr>
                        <a:t>Isolierte Tests und Rohreports</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Authentifizierung und aktive Tests</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47688">
                <a:tc>
                  <a:txBody>
                    <a:bodyPr lIns="76200" tIns="76200" rIns="76200" bIns="76200"/>
                    <a:lstStyle/>
                    <a:p>
                      <a:r>
                        <a:rPr sz="1800" b="0">
                          <a:solidFill>
                            <a:srgbClr val="263640"/>
                          </a:solidFill>
                          <a:latin typeface="Calibri"/>
                          <a:ea typeface="Calibri"/>
                          <a:cs typeface="Calibri"/>
                        </a:rPr>
                        <a:t>Begründete befristete Ausnahme</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00" b="0">
                          <a:solidFill>
                            <a:srgbClr val="263640"/>
                          </a:solidFill>
                          <a:latin typeface="Calibri"/>
                          <a:ea typeface="Calibri"/>
                          <a:cs typeface="Calibri"/>
                        </a:rPr>
                        <a:t>Triage-Verantwortliche und Patchfristen</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547688">
                <a:tc>
                  <a:txBody>
                    <a:bodyPr lIns="76200" tIns="76200" rIns="76200" bIns="76200"/>
                    <a:lstStyle/>
                    <a:p>
                      <a:r>
                        <a:rPr sz="1800" b="0">
                          <a:solidFill>
                            <a:srgbClr val="263640"/>
                          </a:solidFill>
                          <a:latin typeface="Calibri"/>
                          <a:ea typeface="Calibri"/>
                          <a:cs typeface="Calibri"/>
                        </a:rPr>
                        <a:t>Temporäres Testdeployment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00" b="0">
                          <a:solidFill>
                            <a:srgbClr val="263640"/>
                          </a:solidFill>
                          <a:latin typeface="Calibri"/>
                          <a:ea typeface="Calibri"/>
                          <a:cs typeface="Calibri"/>
                        </a:rPr>
                        <a:t>Secrets, Monitoring und sicherer Rollout</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bl>
          </a:graphicData>
        </a:graphic>
      </p:graphicFrame>
    </p:spTree>
    <p:extLst>
      <p:ext uri="{BB962C8B-B14F-4D97-AF65-F5344CB8AC3E}">
        <p14:creationId xmlns:p14="http://schemas.microsoft.com/office/powerpoint/2010/main" val="3681218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6C28E94-3872-487C-955A-9C41F339E42D}"/>
              </a:ext>
            </a:extLst>
          </p:cNvPr>
          <p:cNvPicPr>
            <a:picLocks xmlns:a="http://schemas.openxmlformats.org/drawingml/2006/main" noChangeAspect="1"/>
          </p:cNvPicPr>
          <p:nvPr/>
        </p:nvPicPr>
        <p:blipFill>
          <a:blip xmlns:r="http://schemas.openxmlformats.org/officeDocument/2006/relationships" xmlns:a="http://schemas.openxmlformats.org/drawingml/2006/main" r:embed="R989a6fc59b1e4160"/>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Ergebnis und nächste Schritte">
            <a:extLst xmlns:a="http://schemas.openxmlformats.org/drawingml/2006/main">
              <a:ext uri="{FF2B5EF4-FFF2-40B4-BE49-F238E27FC236}">
                <a16:creationId xmlns:a16="http://schemas.microsoft.com/office/drawing/2014/main" id="{47EEAB33-71E6-48AB-942D-B1A2218D5152}"/>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Ergebnis und nächste Schritte</a:t>
            </a:r>
          </a:p>
        </p:txBody>
      </p:sp>
      <p:sp>
        <p:nvSpPr>
          <p:cNvPr id="3" name="">
            <a:extLst xmlns:a="http://schemas.openxmlformats.org/drawingml/2006/main">
              <a:ext uri="{FF2B5EF4-FFF2-40B4-BE49-F238E27FC236}">
                <a16:creationId xmlns:a16="http://schemas.microsoft.com/office/drawing/2014/main" id="{8BE2AD47-85F6-46A5-A990-FD72FD9D6901}"/>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Projektstand 21.10.2026; vollständige Details in README_PIPE">
            <a:extLst xmlns:a="http://schemas.openxmlformats.org/drawingml/2006/main">
              <a:ext uri="{FF2B5EF4-FFF2-40B4-BE49-F238E27FC236}">
                <a16:creationId xmlns:a16="http://schemas.microsoft.com/office/drawing/2014/main" id="{58915733-851E-4AD4-B655-D0F068E39F33}"/>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Projektstand 21.10.2026; vollständige Details in README_PIPELINE_ERKLAERT.md und NACHPRUEFUNG.md</a:t>
            </a:r>
          </a:p>
        </p:txBody>
      </p:sp>
      <p:sp>
        <p:nvSpPr>
          <p:cNvPr id="5" name="">
            <a:extLst xmlns:a="http://schemas.openxmlformats.org/drawingml/2006/main">
              <a:ext uri="{FF2B5EF4-FFF2-40B4-BE49-F238E27FC236}">
                <a16:creationId xmlns:a16="http://schemas.microsoft.com/office/drawing/2014/main" id="{97BF0254-A893-4FEA-9D78-B9566086E3B8}"/>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73BFB48E-575A-4AC7-B41C-947EFF4761C1}"/>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6">
            <a:extLst xmlns:a="http://schemas.openxmlformats.org/drawingml/2006/main">
              <a:ext uri="{FF2B5EF4-FFF2-40B4-BE49-F238E27FC236}">
                <a16:creationId xmlns:a16="http://schemas.microsoft.com/office/drawing/2014/main" id="{9CEAA022-74CC-415D-BE24-AAF2AC1D1571}"/>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16</a:t>
            </a:r>
          </a:p>
        </p:txBody>
      </p:sp>
      <p:sp>
        <p:nvSpPr>
          <p:cNvPr id="8" name="Die Pipeline erkennt die vorgesehenen Negativfälle">
            <a:extLst xmlns:a="http://schemas.openxmlformats.org/drawingml/2006/main">
              <a:ext uri="{FF2B5EF4-FFF2-40B4-BE49-F238E27FC236}">
                <a16:creationId xmlns:a16="http://schemas.microsoft.com/office/drawing/2014/main" id="{462E48D6-D4B0-4631-B979-6AF53759A288}"/>
              </a:ext>
            </a:extLst>
          </p:cNvPr>
          <p:cNvSpPr>
            <a:spLocks xmlns:a="http://schemas.openxmlformats.org/drawingml/2006/main" noGrp="1"/>
          </p:cNvSpPr>
          <p:nvPr/>
        </p:nvSpPr>
        <p:spPr>
          <a:xfrm xmlns:a="http://schemas.openxmlformats.org/drawingml/2006/main">
            <a:off x="666750" y="19526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E2001A"/>
                </a:solidFill>
                <a:latin typeface="Calibri"/>
                <a:ea typeface="Calibri"/>
                <a:cs typeface="Calibri"/>
              </a:defRPr>
            </a:defPPr>
          </a:lstStyle>
          <a:p xmlns:a="http://schemas.openxmlformats.org/drawingml/2006/main">
            <a:pPr algn="l">
              <a:defRPr sz="2550" b="1">
                <a:solidFill>
                  <a:srgbClr val="E2001A"/>
                </a:solidFill>
                <a:latin typeface="Calibri"/>
                <a:ea typeface="Calibri"/>
                <a:cs typeface="Calibri"/>
              </a:defRPr>
            </a:pPr>
            <a:r>
              <a:rPr sz="2550" b="1">
                <a:solidFill>
                  <a:srgbClr val="E2001A"/>
                </a:solidFill>
                <a:latin typeface="Calibri"/>
                <a:ea typeface="Calibri"/>
                <a:cs typeface="Calibri"/>
              </a:rPr>
              <a:t>Die Pipeline erkennt die vorgesehenen Negativfälle</a:t>
            </a:r>
          </a:p>
        </p:txBody>
      </p:sp>
      <p:sp>
        <p:nvSpPr>
          <p:cNvPr id="9" name="Drei Programme, sechs Varianten und ein nachgewiesener autom">
            <a:extLst xmlns:a="http://schemas.openxmlformats.org/drawingml/2006/main">
              <a:ext uri="{FF2B5EF4-FFF2-40B4-BE49-F238E27FC236}">
                <a16:creationId xmlns:a16="http://schemas.microsoft.com/office/drawing/2014/main" id="{E684DEF8-E2B6-455C-B7F9-07970AD135D4}"/>
              </a:ext>
            </a:extLst>
          </p:cNvPr>
          <p:cNvSpPr>
            <a:spLocks xmlns:a="http://schemas.openxmlformats.org/drawingml/2006/main" noGrp="1"/>
          </p:cNvSpPr>
          <p:nvPr/>
        </p:nvSpPr>
        <p:spPr>
          <a:xfrm xmlns:a="http://schemas.openxmlformats.org/drawingml/2006/main">
            <a:off x="666750" y="26574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63640"/>
                </a:solidFill>
                <a:latin typeface="Calibri"/>
                <a:ea typeface="Calibri"/>
                <a:cs typeface="Calibri"/>
              </a:defRPr>
            </a:defPPr>
          </a:lstStyle>
          <a:p xmlns:a="http://schemas.openxmlformats.org/drawingml/2006/main">
            <a:pPr algn="l">
              <a:defRPr sz="2100" b="0">
                <a:solidFill>
                  <a:srgbClr val="263640"/>
                </a:solidFill>
                <a:latin typeface="Calibri"/>
                <a:ea typeface="Calibri"/>
                <a:cs typeface="Calibri"/>
              </a:defRPr>
            </a:pPr>
            <a:r>
              <a:rPr sz="2100" b="0">
                <a:solidFill>
                  <a:srgbClr val="263640"/>
                </a:solidFill>
                <a:latin typeface="Calibri"/>
                <a:ea typeface="Calibri"/>
                <a:cs typeface="Calibri"/>
              </a:rPr>
              <a:t>Drei Programme, sechs Varianten und ein nachgewiesener automatischer Push-Trigger.</a:t>
            </a:r>
          </a:p>
        </p:txBody>
      </p:sp>
      <p:sp>
        <p:nvSpPr>
          <p:cNvPr id="10" name="Jede Freigabe bleibt an Policy und Prüfumfang gebunden">
            <a:extLst xmlns:a="http://schemas.openxmlformats.org/drawingml/2006/main">
              <a:ext uri="{FF2B5EF4-FFF2-40B4-BE49-F238E27FC236}">
                <a16:creationId xmlns:a16="http://schemas.microsoft.com/office/drawing/2014/main" id="{BBE969EF-D231-46F6-AC12-E7ACD686E712}"/>
              </a:ext>
            </a:extLst>
          </p:cNvPr>
          <p:cNvSpPr>
            <a:spLocks xmlns:a="http://schemas.openxmlformats.org/drawingml/2006/main" noGrp="1"/>
          </p:cNvSpPr>
          <p:nvPr/>
        </p:nvSpPr>
        <p:spPr>
          <a:xfrm xmlns:a="http://schemas.openxmlformats.org/drawingml/2006/main">
            <a:off x="666750" y="38671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52616A"/>
                </a:solidFill>
                <a:latin typeface="Calibri"/>
                <a:ea typeface="Calibri"/>
                <a:cs typeface="Calibri"/>
              </a:defRPr>
            </a:defPPr>
          </a:lstStyle>
          <a:p xmlns:a="http://schemas.openxmlformats.org/drawingml/2006/main">
            <a:pPr algn="l">
              <a:defRPr sz="2550" b="1">
                <a:solidFill>
                  <a:srgbClr val="52616A"/>
                </a:solidFill>
                <a:latin typeface="Calibri"/>
                <a:ea typeface="Calibri"/>
                <a:cs typeface="Calibri"/>
              </a:defRPr>
            </a:pPr>
            <a:r>
              <a:rPr sz="2550" b="1">
                <a:solidFill>
                  <a:srgbClr val="52616A"/>
                </a:solidFill>
                <a:latin typeface="Calibri"/>
                <a:ea typeface="Calibri"/>
                <a:cs typeface="Calibri"/>
              </a:rPr>
              <a:t>Jede Freigabe bleibt an Policy und Prüfumfang gebunden</a:t>
            </a:r>
          </a:p>
        </p:txBody>
      </p:sp>
      <p:sp>
        <p:nvSpPr>
          <p:cNvPr id="11" name="Nächster Ausbau: breitere Tests und verbindlicher Betriebspr">
            <a:extLst xmlns:a="http://schemas.openxmlformats.org/drawingml/2006/main">
              <a:ext uri="{FF2B5EF4-FFF2-40B4-BE49-F238E27FC236}">
                <a16:creationId xmlns:a16="http://schemas.microsoft.com/office/drawing/2014/main" id="{235BC851-FD07-4193-8A1D-741112CB2F46}"/>
              </a:ext>
            </a:extLst>
          </p:cNvPr>
          <p:cNvSpPr>
            <a:spLocks xmlns:a="http://schemas.openxmlformats.org/drawingml/2006/main" noGrp="1"/>
          </p:cNvSpPr>
          <p:nvPr/>
        </p:nvSpPr>
        <p:spPr>
          <a:xfrm xmlns:a="http://schemas.openxmlformats.org/drawingml/2006/main">
            <a:off x="666750" y="49434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640"/>
                </a:solidFill>
                <a:latin typeface="Calibri"/>
                <a:ea typeface="Calibri"/>
                <a:cs typeface="Calibri"/>
              </a:defRPr>
            </a:defPPr>
          </a:lstStyle>
          <a:p xmlns:a="http://schemas.openxmlformats.org/drawingml/2006/main">
            <a:pPr algn="l">
              <a:defRPr sz="2175" b="0">
                <a:solidFill>
                  <a:srgbClr val="263640"/>
                </a:solidFill>
                <a:latin typeface="Calibri"/>
                <a:ea typeface="Calibri"/>
                <a:cs typeface="Calibri"/>
              </a:defRPr>
            </a:pPr>
            <a:r>
              <a:rPr sz="2175" b="0">
                <a:solidFill>
                  <a:srgbClr val="263640"/>
                </a:solidFill>
                <a:latin typeface="Calibri"/>
                <a:ea typeface="Calibri"/>
                <a:cs typeface="Calibri"/>
              </a:rPr>
              <a:t>Nächster Ausbau: breitere Tests und verbindlicher Betriebsprozess</a:t>
            </a:r>
          </a:p>
        </p:txBody>
      </p:sp>
    </p:spTree>
    <p:extLst>
      <p:ext uri="{BB962C8B-B14F-4D97-AF65-F5344CB8AC3E}">
        <p14:creationId xmlns:p14="http://schemas.microsoft.com/office/powerpoint/2010/main" val="174024715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5063CB9-DF56-4192-978C-9F775C8C39F1}"/>
              </a:ext>
            </a:extLst>
          </p:cNvPr>
          <p:cNvPicPr>
            <a:picLocks xmlns:a="http://schemas.openxmlformats.org/drawingml/2006/main" noChangeAspect="1"/>
          </p:cNvPicPr>
          <p:nvPr/>
        </p:nvPicPr>
        <p:blipFill>
          <a:blip xmlns:r="http://schemas.openxmlformats.org/officeDocument/2006/relationships" xmlns:a="http://schemas.openxmlformats.org/drawingml/2006/main" r:embed="Rcf6e9f33d5e148a7"/>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Reserve: vollständige Gate-Matrix">
            <a:extLst xmlns:a="http://schemas.openxmlformats.org/drawingml/2006/main">
              <a:ext uri="{FF2B5EF4-FFF2-40B4-BE49-F238E27FC236}">
                <a16:creationId xmlns:a16="http://schemas.microsoft.com/office/drawing/2014/main" id="{8065BA01-18C5-4B67-AE78-4C719769AA86}"/>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Reserve: vollständige Gate-Matrix</a:t>
            </a:r>
          </a:p>
        </p:txBody>
      </p:sp>
      <p:sp>
        <p:nvSpPr>
          <p:cNvPr id="3" name="">
            <a:extLst xmlns:a="http://schemas.openxmlformats.org/drawingml/2006/main">
              <a:ext uri="{FF2B5EF4-FFF2-40B4-BE49-F238E27FC236}">
                <a16:creationId xmlns:a16="http://schemas.microsoft.com/office/drawing/2014/main" id="{01EFE864-B5FC-46B3-883A-5F2A782A9E49}"/>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policy/thresholds.yaml; technische Fehler führen unabhängig ">
            <a:extLst xmlns:a="http://schemas.openxmlformats.org/drawingml/2006/main">
              <a:ext uri="{FF2B5EF4-FFF2-40B4-BE49-F238E27FC236}">
                <a16:creationId xmlns:a16="http://schemas.microsoft.com/office/drawing/2014/main" id="{0392C0D4-4425-4A76-A635-2A92344B796A}"/>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policy/thresholds.yaml; technische Fehler führen unabhängig von der Finding-Severity zu ERROR</a:t>
            </a:r>
          </a:p>
        </p:txBody>
      </p:sp>
      <p:sp>
        <p:nvSpPr>
          <p:cNvPr id="5" name="">
            <a:extLst xmlns:a="http://schemas.openxmlformats.org/drawingml/2006/main">
              <a:ext uri="{FF2B5EF4-FFF2-40B4-BE49-F238E27FC236}">
                <a16:creationId xmlns:a16="http://schemas.microsoft.com/office/drawing/2014/main" id="{62DBAF80-2B91-405B-AA46-A13B74C4120E}"/>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8B644FA7-AA04-410E-AA9D-917B5A5591D8}"/>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Anhang 1">
            <a:extLst xmlns:a="http://schemas.openxmlformats.org/drawingml/2006/main">
              <a:ext uri="{FF2B5EF4-FFF2-40B4-BE49-F238E27FC236}">
                <a16:creationId xmlns:a16="http://schemas.microsoft.com/office/drawing/2014/main" id="{225119B6-11A4-4252-BFED-3C23F364FEF3}"/>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Anhang 1</a:t>
            </a:r>
          </a:p>
        </p:txBody>
      </p:sp>
      <p:graphicFrame>
        <p:nvGraphicFramePr>
          <p:cNvPr id="8" name="">
            <a:extLst xmlns:a="http://schemas.openxmlformats.org/drawingml/2006/main">
              <a:ext uri="{FF2B5EF4-FFF2-40B4-BE49-F238E27FC236}">
                <a16:creationId xmlns:a16="http://schemas.microsoft.com/office/drawing/2014/main" id="{9321CCF5-29BB-408F-B0C9-5C9450E8F914}"/>
              </a:ext>
            </a:extLst>
          </p:cNvPr>
          <p:cNvGraphicFramePr/>
          <p:nvPr/>
        </p:nvGraphicFramePr>
        <p:xfrm>
          <a:off xmlns:a="http://schemas.openxmlformats.org/drawingml/2006/main" x="666750" y="1762125"/>
          <a:ext xmlns:a="http://schemas.openxmlformats.org/drawingml/2006/main" cx="10858500" cy="3762375"/>
        </p:xfrm>
        <a:graphic xmlns:a="http://schemas.openxmlformats.org/drawingml/2006/main">
          <a:graphicData uri="http://schemas.openxmlformats.org/drawingml/2006/table">
            <a:tbl>
              <a:tblPr/>
              <a:tblGrid>
                <a:gridCol w="2476500"/>
                <a:gridCol w="2095500"/>
                <a:gridCol w="2095500"/>
                <a:gridCol w="2095500"/>
                <a:gridCol w="2095500"/>
              </a:tblGrid>
              <a:tr h="537482">
                <a:tc>
                  <a:txBody>
                    <a:bodyPr lIns="76200" tIns="76200" rIns="76200" bIns="76200"/>
                    <a:lstStyle/>
                    <a:p>
                      <a:r>
                        <a:rPr sz="1875" b="1">
                          <a:solidFill>
                            <a:srgbClr val="FFFFFF"/>
                          </a:solidFill>
                          <a:latin typeface="Calibri"/>
                          <a:ea typeface="Calibri"/>
                          <a:cs typeface="Calibri"/>
                        </a:rPr>
                        <a:t>Klasse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75" b="1">
                          <a:solidFill>
                            <a:srgbClr val="FFFFFF"/>
                          </a:solidFill>
                          <a:latin typeface="Calibri"/>
                          <a:ea typeface="Calibri"/>
                          <a:cs typeface="Calibri"/>
                        </a:rPr>
                        <a:t>CRITICAL</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75" b="1">
                          <a:solidFill>
                            <a:srgbClr val="FFFFFF"/>
                          </a:solidFill>
                          <a:latin typeface="Calibri"/>
                          <a:ea typeface="Calibri"/>
                          <a:cs typeface="Calibri"/>
                        </a:rPr>
                        <a:t>HIGH</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75" b="1">
                          <a:solidFill>
                            <a:srgbClr val="FFFFFF"/>
                          </a:solidFill>
                          <a:latin typeface="Calibri"/>
                          <a:ea typeface="Calibri"/>
                          <a:cs typeface="Calibri"/>
                        </a:rPr>
                        <a:t>MEDIUM</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875" b="1">
                          <a:solidFill>
                            <a:srgbClr val="FFFFFF"/>
                          </a:solidFill>
                          <a:latin typeface="Calibri"/>
                          <a:ea typeface="Calibri"/>
                          <a:cs typeface="Calibri"/>
                        </a:rPr>
                        <a:t>LOW / INFO</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537482">
                <a:tc>
                  <a:txBody>
                    <a:bodyPr lIns="76200" tIns="76200" rIns="76200" bIns="76200"/>
                    <a:lstStyle/>
                    <a:p>
                      <a:r>
                        <a:rPr sz="1875" b="0">
                          <a:solidFill>
                            <a:srgbClr val="263640"/>
                          </a:solidFill>
                          <a:latin typeface="Calibri"/>
                          <a:ea typeface="Calibri"/>
                          <a:cs typeface="Calibri"/>
                        </a:rPr>
                        <a:t>Secrets</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37482">
                <a:tc>
                  <a:txBody>
                    <a:bodyPr lIns="76200" tIns="76200" rIns="76200" bIns="76200"/>
                    <a:lstStyle/>
                    <a:p>
                      <a:r>
                        <a:rPr sz="1875" b="0">
                          <a:solidFill>
                            <a:srgbClr val="263640"/>
                          </a:solidFill>
                          <a:latin typeface="Calibri"/>
                          <a:ea typeface="Calibri"/>
                          <a:cs typeface="Calibri"/>
                        </a:rPr>
                        <a:t>SAST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warn</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info</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537482">
                <a:tc>
                  <a:txBody>
                    <a:bodyPr lIns="76200" tIns="76200" rIns="76200" bIns="76200"/>
                    <a:lstStyle/>
                    <a:p>
                      <a:r>
                        <a:rPr sz="1875" b="0">
                          <a:solidFill>
                            <a:srgbClr val="263640"/>
                          </a:solidFill>
                          <a:latin typeface="Calibri"/>
                          <a:ea typeface="Calibri"/>
                          <a:cs typeface="Calibri"/>
                        </a:rPr>
                        <a:t>SCA</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warn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warn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info</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37482">
                <a:tc>
                  <a:txBody>
                    <a:bodyPr lIns="76200" tIns="76200" rIns="76200" bIns="76200"/>
                    <a:lstStyle/>
                    <a:p>
                      <a:r>
                        <a:rPr sz="1875" b="0">
                          <a:solidFill>
                            <a:srgbClr val="263640"/>
                          </a:solidFill>
                          <a:latin typeface="Calibri"/>
                          <a:ea typeface="Calibri"/>
                          <a:cs typeface="Calibri"/>
                        </a:rPr>
                        <a:t>Image</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warn</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info</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537482">
                <a:tc>
                  <a:txBody>
                    <a:bodyPr lIns="76200" tIns="76200" rIns="76200" bIns="76200"/>
                    <a:lstStyle/>
                    <a:p>
                      <a:r>
                        <a:rPr sz="1875" b="0">
                          <a:solidFill>
                            <a:srgbClr val="263640"/>
                          </a:solidFill>
                          <a:latin typeface="Calibri"/>
                          <a:ea typeface="Calibri"/>
                          <a:cs typeface="Calibri"/>
                        </a:rPr>
                        <a:t>DAST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warn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warn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warn</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875" b="0">
                          <a:solidFill>
                            <a:srgbClr val="263640"/>
                          </a:solidFill>
                          <a:latin typeface="Calibri"/>
                          <a:ea typeface="Calibri"/>
                          <a:cs typeface="Calibri"/>
                        </a:rPr>
                        <a:t>info</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37482">
                <a:tc>
                  <a:txBody>
                    <a:bodyPr lIns="76200" tIns="76200" rIns="76200" bIns="76200"/>
                    <a:lstStyle/>
                    <a:p>
                      <a:r>
                        <a:rPr sz="1875" b="0">
                          <a:solidFill>
                            <a:srgbClr val="263640"/>
                          </a:solidFill>
                          <a:latin typeface="Calibri"/>
                          <a:ea typeface="Calibri"/>
                          <a:cs typeface="Calibri"/>
                        </a:rPr>
                        <a:t>Default</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block</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warn</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info</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875" b="0">
                          <a:solidFill>
                            <a:srgbClr val="263640"/>
                          </a:solidFill>
                          <a:latin typeface="Calibri"/>
                          <a:ea typeface="Calibri"/>
                          <a:cs typeface="Calibri"/>
                        </a:rPr>
                        <a:t>info</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9" name="Die Schwellenwerte sind eine Lehrprojekt-Policy und erforder">
            <a:extLst xmlns:a="http://schemas.openxmlformats.org/drawingml/2006/main">
              <a:ext uri="{FF2B5EF4-FFF2-40B4-BE49-F238E27FC236}">
                <a16:creationId xmlns:a16="http://schemas.microsoft.com/office/drawing/2014/main" id="{AE79F47E-D34F-409F-A24C-AD11584DB0E7}"/>
              </a:ext>
            </a:extLst>
          </p:cNvPr>
          <p:cNvSpPr>
            <a:spLocks xmlns:a="http://schemas.openxmlformats.org/drawingml/2006/main" noGrp="1"/>
          </p:cNvSpPr>
          <p:nvPr/>
        </p:nvSpPr>
        <p:spPr>
          <a:xfrm xmlns:a="http://schemas.openxmlformats.org/drawingml/2006/main">
            <a:off x="666750" y="57340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Die Schwellenwerte sind eine Lehrprojekt-Policy und erfordern fachliche Triage.</a:t>
            </a:r>
          </a:p>
        </p:txBody>
      </p:sp>
    </p:spTree>
    <p:extLst>
      <p:ext uri="{BB962C8B-B14F-4D97-AF65-F5344CB8AC3E}">
        <p14:creationId xmlns:p14="http://schemas.microsoft.com/office/powerpoint/2010/main" val="33946480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2FA9CD5-2B78-459A-B674-ECD8729C4F96}"/>
              </a:ext>
            </a:extLst>
          </p:cNvPr>
          <p:cNvPicPr>
            <a:picLocks xmlns:a="http://schemas.openxmlformats.org/drawingml/2006/main" noChangeAspect="1"/>
          </p:cNvPicPr>
          <p:nvPr/>
        </p:nvPicPr>
        <p:blipFill>
          <a:blip xmlns:r="http://schemas.openxmlformats.org/officeDocument/2006/relationships" xmlns:a="http://schemas.openxmlformats.org/drawingml/2006/main" r:embed="Rc0b1242b0f894982"/>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Reserve: Code und Ergebnisdateien">
            <a:extLst xmlns:a="http://schemas.openxmlformats.org/drawingml/2006/main">
              <a:ext uri="{FF2B5EF4-FFF2-40B4-BE49-F238E27FC236}">
                <a16:creationId xmlns:a16="http://schemas.microsoft.com/office/drawing/2014/main" id="{06AB099E-2429-449E-BF84-A9D911651AF1}"/>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Reserve: Code und Ergebnisdateien</a:t>
            </a:r>
          </a:p>
        </p:txBody>
      </p:sp>
      <p:sp>
        <p:nvSpPr>
          <p:cNvPr id="3" name="">
            <a:extLst xmlns:a="http://schemas.openxmlformats.org/drawingml/2006/main">
              <a:ext uri="{FF2B5EF4-FFF2-40B4-BE49-F238E27FC236}">
                <a16:creationId xmlns:a16="http://schemas.microsoft.com/office/drawing/2014/main" id="{F8C3A734-78A6-4F85-9C32-98176CB42970}"/>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scripts/pipeline.py, collect.py, normalize.py, gate.py und r">
            <a:extLst xmlns:a="http://schemas.openxmlformats.org/drawingml/2006/main">
              <a:ext uri="{FF2B5EF4-FFF2-40B4-BE49-F238E27FC236}">
                <a16:creationId xmlns:a16="http://schemas.microsoft.com/office/drawing/2014/main" id="{447CAFD0-8D5F-4045-BDDA-5994BE839C9E}"/>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scripts/pipeline.py, collect.py, normalize.py, gate.py und report.py</a:t>
            </a:r>
          </a:p>
        </p:txBody>
      </p:sp>
      <p:sp>
        <p:nvSpPr>
          <p:cNvPr id="5" name="">
            <a:extLst xmlns:a="http://schemas.openxmlformats.org/drawingml/2006/main">
              <a:ext uri="{FF2B5EF4-FFF2-40B4-BE49-F238E27FC236}">
                <a16:creationId xmlns:a16="http://schemas.microsoft.com/office/drawing/2014/main" id="{DFB00CC7-4402-4136-B4D6-6AA7787C6005}"/>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5D08A81B-A751-467A-B8E6-66927DABD35A}"/>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Anhang 2">
            <a:extLst xmlns:a="http://schemas.openxmlformats.org/drawingml/2006/main">
              <a:ext uri="{FF2B5EF4-FFF2-40B4-BE49-F238E27FC236}">
                <a16:creationId xmlns:a16="http://schemas.microsoft.com/office/drawing/2014/main" id="{77D9C37C-9AE5-4943-99D5-E636BD2D8381}"/>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Anhang 2</a:t>
            </a:r>
          </a:p>
        </p:txBody>
      </p:sp>
      <p:graphicFrame>
        <p:nvGraphicFramePr>
          <p:cNvPr id="8" name="">
            <a:extLst xmlns:a="http://schemas.openxmlformats.org/drawingml/2006/main">
              <a:ext uri="{FF2B5EF4-FFF2-40B4-BE49-F238E27FC236}">
                <a16:creationId xmlns:a16="http://schemas.microsoft.com/office/drawing/2014/main" id="{786D0F2A-45A1-4A87-A698-BBD7C26A1D2E}"/>
              </a:ext>
            </a:extLst>
          </p:cNvPr>
          <p:cNvGraphicFramePr/>
          <p:nvPr/>
        </p:nvGraphicFramePr>
        <p:xfrm>
          <a:off xmlns:a="http://schemas.openxmlformats.org/drawingml/2006/main" x="666750" y="1762125"/>
          <a:ext xmlns:a="http://schemas.openxmlformats.org/drawingml/2006/main" cx="10858500" cy="3905250"/>
        </p:xfrm>
        <a:graphic xmlns:a="http://schemas.openxmlformats.org/drawingml/2006/main">
          <a:graphicData uri="http://schemas.openxmlformats.org/drawingml/2006/table">
            <a:tbl>
              <a:tblPr/>
              <a:tblGrid>
                <a:gridCol w="4572000"/>
                <a:gridCol w="2476500"/>
                <a:gridCol w="3810000"/>
              </a:tblGrid>
              <a:tr h="557893">
                <a:tc>
                  <a:txBody>
                    <a:bodyPr lIns="76200" tIns="76200" rIns="76200" bIns="76200"/>
                    <a:lstStyle/>
                    <a:p>
                      <a:r>
                        <a:rPr sz="1725" b="1">
                          <a:solidFill>
                            <a:srgbClr val="FFFFFF"/>
                          </a:solidFill>
                          <a:latin typeface="Calibri"/>
                          <a:ea typeface="Calibri"/>
                          <a:cs typeface="Calibri"/>
                        </a:rPr>
                        <a:t>Verantwortung</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725" b="1">
                          <a:solidFill>
                            <a:srgbClr val="FFFFFF"/>
                          </a:solidFill>
                          <a:latin typeface="Calibri"/>
                          <a:ea typeface="Calibri"/>
                          <a:cs typeface="Calibri"/>
                        </a:rPr>
                        <a:t>Datei</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lIns="76200" tIns="76200" rIns="76200" bIns="76200"/>
                    <a:lstStyle/>
                    <a:p>
                      <a:r>
                        <a:rPr sz="1725" b="1">
                          <a:solidFill>
                            <a:srgbClr val="FFFFFF"/>
                          </a:solidFill>
                          <a:latin typeface="Calibri"/>
                          <a:ea typeface="Calibri"/>
                          <a:cs typeface="Calibri"/>
                        </a:rPr>
                        <a:t>Ausgabe</a:t>
                      </a:r>
                    </a:p>
                  </a:txBody>
                  <a:tcPr marL="114300" marR="114300" marT="95250" marB="76200" anchor="ctr">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r>
              <a:tr h="557893">
                <a:tc>
                  <a:txBody>
                    <a:bodyPr lIns="76200" tIns="76200" rIns="76200" bIns="76200"/>
                    <a:lstStyle/>
                    <a:p>
                      <a:r>
                        <a:rPr sz="1725" b="0">
                          <a:solidFill>
                            <a:srgbClr val="263640"/>
                          </a:solidFill>
                          <a:latin typeface="Calibri"/>
                          <a:ea typeface="Calibri"/>
                          <a:cs typeface="Calibri"/>
                        </a:rPr>
                        <a:t>Ablauf und Prozesskontrolle</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pipeline.py</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run.json, timings.json, raw/</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57893">
                <a:tc>
                  <a:txBody>
                    <a:bodyPr lIns="76200" tIns="76200" rIns="76200" bIns="76200"/>
                    <a:lstStyle/>
                    <a:p>
                      <a:r>
                        <a:rPr sz="1725" b="0">
                          <a:solidFill>
                            <a:srgbClr val="263640"/>
                          </a:solidFill>
                          <a:latin typeface="Calibri"/>
                          <a:ea typeface="Calibri"/>
                          <a:cs typeface="Calibri"/>
                        </a:rPr>
                        <a:t>Reports zuordnen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725" b="0">
                          <a:solidFill>
                            <a:srgbClr val="263640"/>
                          </a:solidFill>
                          <a:latin typeface="Calibri"/>
                          <a:ea typeface="Calibri"/>
                          <a:cs typeface="Calibri"/>
                        </a:rPr>
                        <a:t>collect.py</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725" b="0">
                          <a:solidFill>
                            <a:srgbClr val="263640"/>
                          </a:solidFill>
                          <a:latin typeface="Calibri"/>
                          <a:ea typeface="Calibri"/>
                          <a:cs typeface="Calibri"/>
                        </a:rPr>
                        <a:t>findings.json</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557893">
                <a:tc>
                  <a:txBody>
                    <a:bodyPr lIns="76200" tIns="76200" rIns="76200" bIns="76200"/>
                    <a:lstStyle/>
                    <a:p>
                      <a:r>
                        <a:rPr sz="1725" b="0">
                          <a:solidFill>
                            <a:srgbClr val="263640"/>
                          </a:solidFill>
                          <a:latin typeface="Calibri"/>
                          <a:ea typeface="Calibri"/>
                          <a:cs typeface="Calibri"/>
                        </a:rPr>
                        <a:t>Formate und Severity angleichen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normalize.py</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Gemeinsames Finding-Modell</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57893">
                <a:tc>
                  <a:txBody>
                    <a:bodyPr lIns="76200" tIns="76200" rIns="76200" bIns="76200"/>
                    <a:lstStyle/>
                    <a:p>
                      <a:r>
                        <a:rPr sz="1725" b="0">
                          <a:solidFill>
                            <a:srgbClr val="263640"/>
                          </a:solidFill>
                          <a:latin typeface="Calibri"/>
                          <a:ea typeface="Calibri"/>
                          <a:cs typeface="Calibri"/>
                        </a:rPr>
                        <a:t>Policy und Ausnahmen auswerten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725" b="0">
                          <a:solidFill>
                            <a:srgbClr val="263640"/>
                          </a:solidFill>
                          <a:latin typeface="Calibri"/>
                          <a:ea typeface="Calibri"/>
                          <a:cs typeface="Calibri"/>
                        </a:rPr>
                        <a:t>gate.py</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725" b="0">
                          <a:solidFill>
                            <a:srgbClr val="263640"/>
                          </a:solidFill>
                          <a:latin typeface="Calibri"/>
                          <a:ea typeface="Calibri"/>
                          <a:cs typeface="Calibri"/>
                        </a:rPr>
                        <a:t>gate.json: PASS / FAIL / ERROR</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r h="557893">
                <a:tc>
                  <a:txBody>
                    <a:bodyPr lIns="76200" tIns="76200" rIns="76200" bIns="76200"/>
                    <a:lstStyle/>
                    <a:p>
                      <a:r>
                        <a:rPr sz="1725" b="0">
                          <a:solidFill>
                            <a:srgbClr val="263640"/>
                          </a:solidFill>
                          <a:latin typeface="Calibri"/>
                          <a:ea typeface="Calibri"/>
                          <a:cs typeface="Calibri"/>
                        </a:rPr>
                        <a:t>Bericht erzeugen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report.py</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c>
                  <a:txBody>
                    <a:bodyPr lIns="76200" tIns="76200" rIns="76200" bIns="76200"/>
                    <a:lstStyle/>
                    <a:p>
                      <a:r>
                        <a:rPr sz="1725" b="0">
                          <a:solidFill>
                            <a:srgbClr val="263640"/>
                          </a:solidFill>
                          <a:latin typeface="Calibri"/>
                          <a:ea typeface="Calibri"/>
                          <a:cs typeface="Calibri"/>
                        </a:rPr>
                        <a:t>FINDINGS_REPORT.md, metrics.csv</a:t>
                      </a:r>
                    </a:p>
                  </a:txBody>
                  <a:tcPr marL="114300" marR="114300" marT="95250" marB="76200" anchor="ctr">
                    <a:lnR w="19050">
                      <a:solidFill>
                        <a:srgbClr val="FFFFFF"/>
                      </a:solidFill>
                      <a:prstDash val="solid"/>
                    </a:lnR>
                    <a:lnB w="19050">
                      <a:solidFill>
                        <a:srgbClr val="FFFFFF"/>
                      </a:solidFill>
                      <a:prstDash val="solid"/>
                    </a:lnB>
                    <a:solidFill>
                      <a:srgbClr val="F0F2F3"/>
                    </a:solidFill>
                  </a:tcPr>
                </a:tc>
              </a:tr>
              <a:tr h="557893">
                <a:tc>
                  <a:txBody>
                    <a:bodyPr lIns="76200" tIns="76200" rIns="76200" bIns="76200"/>
                    <a:lstStyle/>
                    <a:p>
                      <a:r>
                        <a:rPr sz="1725" b="0">
                          <a:solidFill>
                            <a:srgbClr val="263640"/>
                          </a:solidFill>
                          <a:latin typeface="Calibri"/>
                          <a:ea typeface="Calibri"/>
                          <a:cs typeface="Calibri"/>
                        </a:rPr>
                        <a:t>Erwartete Gateentscheidungen prüfen</a:t>
                      </a:r>
                    </a:p>
                  </a:txBody>
                  <a:tcPr marL="114300" marR="114300" marT="95250" marB="7620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725" b="0">
                          <a:solidFill>
                            <a:srgbClr val="263640"/>
                          </a:solidFill>
                          <a:latin typeface="Calibri"/>
                          <a:ea typeface="Calibri"/>
                          <a:cs typeface="Calibri"/>
                        </a:rPr>
                        <a:t>demo.py</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c>
                  <a:txBody>
                    <a:bodyPr lIns="76200" tIns="76200" rIns="76200" bIns="76200"/>
                    <a:lstStyle/>
                    <a:p>
                      <a:r>
                        <a:rPr sz="1725" b="0">
                          <a:solidFill>
                            <a:srgbClr val="263640"/>
                          </a:solidFill>
                          <a:latin typeface="Calibri"/>
                          <a:ea typeface="Calibri"/>
                          <a:cs typeface="Calibri"/>
                        </a:rPr>
                        <a:t>demo-results.json</a:t>
                      </a:r>
                    </a:p>
                  </a:txBody>
                  <a:tcPr marL="114300" marR="114300" marT="95250" marB="76200" anchor="ctr">
                    <a:lnR w="19050">
                      <a:solidFill>
                        <a:srgbClr val="FFFFFF"/>
                      </a:solidFill>
                      <a:prstDash val="solid"/>
                    </a:lnR>
                    <a:lnB w="1905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124118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E9B2D73-924E-4C57-A511-670DF4CC2B7F}"/>
              </a:ext>
            </a:extLst>
          </p:cNvPr>
          <p:cNvPicPr>
            <a:picLocks xmlns:a="http://schemas.openxmlformats.org/drawingml/2006/main" noChangeAspect="1"/>
          </p:cNvPicPr>
          <p:nvPr/>
        </p:nvPicPr>
        <p:blipFill>
          <a:blip xmlns:r="http://schemas.openxmlformats.org/officeDocument/2006/relationships" xmlns:a="http://schemas.openxmlformats.org/drawingml/2006/main" r:embed="R79496499e39b4327"/>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Reserve: Demo-Vorbereitung und Grenzen">
            <a:extLst xmlns:a="http://schemas.openxmlformats.org/drawingml/2006/main">
              <a:ext uri="{FF2B5EF4-FFF2-40B4-BE49-F238E27FC236}">
                <a16:creationId xmlns:a16="http://schemas.microsoft.com/office/drawing/2014/main" id="{036A1860-CD2E-4D63-BD73-0EECEB320471}"/>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Reserve: Demo-Vorbereitung und Grenzen</a:t>
            </a:r>
          </a:p>
        </p:txBody>
      </p:sp>
      <p:sp>
        <p:nvSpPr>
          <p:cNvPr id="3" name="">
            <a:extLst xmlns:a="http://schemas.openxmlformats.org/drawingml/2006/main">
              <a:ext uri="{FF2B5EF4-FFF2-40B4-BE49-F238E27FC236}">
                <a16:creationId xmlns:a16="http://schemas.microsoft.com/office/drawing/2014/main" id="{DA881FCA-BD92-4DC7-985A-8B81B26EDA3B}"/>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docs/DEMO_SCRIPT.md und docs/NACHPRUEFUNG.md">
            <a:extLst xmlns:a="http://schemas.openxmlformats.org/drawingml/2006/main">
              <a:ext uri="{FF2B5EF4-FFF2-40B4-BE49-F238E27FC236}">
                <a16:creationId xmlns:a16="http://schemas.microsoft.com/office/drawing/2014/main" id="{99E694D2-00DA-4BD0-929F-0A01A3721EDB}"/>
              </a:ext>
            </a:extLst>
          </p:cNvPr>
          <p:cNvSpPr>
            <a:spLocks xmlns:a="http://schemas.openxmlformats.org/drawingml/2006/main" noGrp="1"/>
          </p:cNvSpPr>
          <p:nvPr/>
        </p:nvSpPr>
        <p:spPr>
          <a:xfrm xmlns:a="http://schemas.openxmlformats.org/drawingml/2006/main">
            <a:off x="666750" y="6096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6A"/>
                </a:solidFill>
                <a:latin typeface="Calibri"/>
                <a:ea typeface="Calibri"/>
                <a:cs typeface="Calibri"/>
              </a:defRPr>
            </a:defPPr>
          </a:lstStyle>
          <a:p xmlns:a="http://schemas.openxmlformats.org/drawingml/2006/main">
            <a:pPr algn="l">
              <a:defRPr sz="1200" b="0">
                <a:solidFill>
                  <a:srgbClr val="52616A"/>
                </a:solidFill>
                <a:latin typeface="Calibri"/>
                <a:ea typeface="Calibri"/>
                <a:cs typeface="Calibri"/>
              </a:defRPr>
            </a:pPr>
            <a:r>
              <a:rPr sz="1200" b="0">
                <a:solidFill>
                  <a:srgbClr val="52616A"/>
                </a:solidFill>
                <a:latin typeface="Calibri"/>
                <a:ea typeface="Calibri"/>
                <a:cs typeface="Calibri"/>
              </a:rPr>
              <a:t>docs/DEMO_SCRIPT.md und docs/NACHPRUEFUNG.md</a:t>
            </a:r>
          </a:p>
        </p:txBody>
      </p:sp>
      <p:sp>
        <p:nvSpPr>
          <p:cNvPr id="5" name="">
            <a:extLst xmlns:a="http://schemas.openxmlformats.org/drawingml/2006/main">
              <a:ext uri="{FF2B5EF4-FFF2-40B4-BE49-F238E27FC236}">
                <a16:creationId xmlns:a16="http://schemas.microsoft.com/office/drawing/2014/main" id="{B0AD78E7-1255-4521-8A49-39F2B34009E5}"/>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6" name="IT-Sicherheit bei Herrn Graupner">
            <a:extLst xmlns:a="http://schemas.openxmlformats.org/drawingml/2006/main">
              <a:ext uri="{FF2B5EF4-FFF2-40B4-BE49-F238E27FC236}">
                <a16:creationId xmlns:a16="http://schemas.microsoft.com/office/drawing/2014/main" id="{720DCCB5-D88B-4E52-837D-0F7AD804D9E5}"/>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Anhang 3">
            <a:extLst xmlns:a="http://schemas.openxmlformats.org/drawingml/2006/main">
              <a:ext uri="{FF2B5EF4-FFF2-40B4-BE49-F238E27FC236}">
                <a16:creationId xmlns:a16="http://schemas.microsoft.com/office/drawing/2014/main" id="{40E3B938-A0B6-4BCF-BC8F-B7C8A7F25904}"/>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Anhang 3</a:t>
            </a:r>
          </a:p>
        </p:txBody>
      </p:sp>
      <p:sp>
        <p:nvSpPr>
          <p:cNvPr id="8" name="Vorbereitung im Projektverzeichnis">
            <a:extLst xmlns:a="http://schemas.openxmlformats.org/drawingml/2006/main">
              <a:ext uri="{FF2B5EF4-FFF2-40B4-BE49-F238E27FC236}">
                <a16:creationId xmlns:a16="http://schemas.microsoft.com/office/drawing/2014/main" id="{E1160514-0FB6-4663-92C9-3A6E4C7CB8A4}"/>
              </a:ext>
            </a:extLst>
          </p:cNvPr>
          <p:cNvSpPr>
            <a:spLocks xmlns:a="http://schemas.openxmlformats.org/drawingml/2006/main" noGrp="1"/>
          </p:cNvSpPr>
          <p:nvPr/>
        </p:nvSpPr>
        <p:spPr>
          <a:xfrm xmlns:a="http://schemas.openxmlformats.org/drawingml/2006/main">
            <a:off x="666750" y="1762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616A"/>
                </a:solidFill>
                <a:latin typeface="Calibri"/>
                <a:ea typeface="Calibri"/>
                <a:cs typeface="Calibri"/>
              </a:defRPr>
            </a:defPPr>
          </a:lstStyle>
          <a:p xmlns:a="http://schemas.openxmlformats.org/drawingml/2006/main">
            <a:pPr algn="l">
              <a:defRPr sz="1800" b="1">
                <a:solidFill>
                  <a:srgbClr val="52616A"/>
                </a:solidFill>
                <a:latin typeface="Calibri"/>
                <a:ea typeface="Calibri"/>
                <a:cs typeface="Calibri"/>
              </a:defRPr>
            </a:pPr>
            <a:r>
              <a:rPr sz="1800" b="1">
                <a:solidFill>
                  <a:srgbClr val="52616A"/>
                </a:solidFill>
                <a:latin typeface="Calibri"/>
                <a:ea typeface="Calibri"/>
                <a:cs typeface="Calibri"/>
              </a:rPr>
              <a:t>Vorbereitung im Projektverzeichnis</a:t>
            </a:r>
          </a:p>
        </p:txBody>
      </p:sp>
      <p:sp>
        <p:nvSpPr>
          <p:cNvPr id="9" name="python scripts/prepare.py&#10;python scripts/demo.py&#10;&#10;# Offline ">
            <a:extLst xmlns:a="http://schemas.openxmlformats.org/drawingml/2006/main">
              <a:ext uri="{FF2B5EF4-FFF2-40B4-BE49-F238E27FC236}">
                <a16:creationId xmlns:a16="http://schemas.microsoft.com/office/drawing/2014/main" id="{9F78F253-CBF4-4A28-8DBA-98E7D92BB9B7}"/>
              </a:ext>
            </a:extLst>
          </p:cNvPr>
          <p:cNvSpPr>
            <a:spLocks xmlns:a="http://schemas.openxmlformats.org/drawingml/2006/main" noGrp="1"/>
          </p:cNvSpPr>
          <p:nvPr/>
        </p:nvSpPr>
        <p:spPr>
          <a:xfrm xmlns:a="http://schemas.openxmlformats.org/drawingml/2006/main">
            <a:off x="666750" y="2228850"/>
            <a:ext cx="10858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onsolas"/>
                <a:ea typeface="Consolas"/>
                <a:cs typeface="Consolas"/>
              </a:defRPr>
            </a:defPPr>
          </a:lstStyle>
          <a:p xmlns:a="http://schemas.openxmlformats.org/drawingml/2006/main">
            <a:pPr algn="l">
              <a:defRPr sz="1875" b="0">
                <a:solidFill>
                  <a:srgbClr val="263640"/>
                </a:solidFill>
                <a:latin typeface="Consolas"/>
                <a:ea typeface="Consolas"/>
                <a:cs typeface="Consolas"/>
              </a:defRPr>
            </a:pPr>
            <a:r>
              <a:rPr sz="1875" b="0">
                <a:solidFill>
                  <a:srgbClr val="263640"/>
                </a:solidFill>
                <a:latin typeface="Consolas"/>
                <a:ea typeface="Consolas"/>
                <a:cs typeface="Consolas"/>
              </a:rPr>
              <a:t>python scripts/prepare.py</a:t>
            </a:r>
          </a:p>
          <a:p xmlns:a="http://schemas.openxmlformats.org/drawingml/2006/main">
            <a:pPr algn="l">
              <a:defRPr sz="1875" b="0">
                <a:solidFill>
                  <a:srgbClr val="263640"/>
                </a:solidFill>
                <a:latin typeface="Consolas"/>
                <a:ea typeface="Consolas"/>
                <a:cs typeface="Consolas"/>
              </a:defRPr>
            </a:pPr>
            <a:r>
              <a:rPr sz="1875" b="0">
                <a:solidFill>
                  <a:srgbClr val="263640"/>
                </a:solidFill>
                <a:latin typeface="Consolas"/>
                <a:ea typeface="Consolas"/>
                <a:cs typeface="Consolas"/>
              </a:rPr>
              <a:t>python scripts/demo.py</a:t>
            </a:r>
          </a:p>
          <a:p xmlns:a="http://schemas.openxmlformats.org/drawingml/2006/main">
            <a:r>
              <a:t/>
            </a:r>
          </a:p>
          <a:p xmlns:a="http://schemas.openxmlformats.org/drawingml/2006/main">
            <a:pPr algn="l">
              <a:defRPr sz="1875" b="0">
                <a:solidFill>
                  <a:srgbClr val="263640"/>
                </a:solidFill>
                <a:latin typeface="Consolas"/>
                <a:ea typeface="Consolas"/>
                <a:cs typeface="Consolas"/>
              </a:defRPr>
            </a:pPr>
            <a:r>
              <a:rPr sz="1875" b="0">
                <a:solidFill>
                  <a:srgbClr val="263640"/>
                </a:solidFill>
                <a:latin typeface="Consolas"/>
                <a:ea typeface="Consolas"/>
                <a:cs typeface="Consolas"/>
              </a:rPr>
              <a:t># Offline nur mit vollstaendig vorbereitetem Cache</a:t>
            </a:r>
          </a:p>
          <a:p xmlns:a="http://schemas.openxmlformats.org/drawingml/2006/main">
            <a:pPr algn="l">
              <a:defRPr sz="1875" b="0">
                <a:solidFill>
                  <a:srgbClr val="263640"/>
                </a:solidFill>
                <a:latin typeface="Consolas"/>
                <a:ea typeface="Consolas"/>
                <a:cs typeface="Consolas"/>
              </a:defRPr>
            </a:pPr>
            <a:r>
              <a:rPr sz="1875" b="0">
                <a:solidFill>
                  <a:srgbClr val="263640"/>
                </a:solidFill>
                <a:latin typeface="Consolas"/>
                <a:ea typeface="Consolas"/>
                <a:cs typeface="Consolas"/>
              </a:rPr>
              <a:t>python scripts/prepare.py --offline</a:t>
            </a:r>
          </a:p>
          <a:p xmlns:a="http://schemas.openxmlformats.org/drawingml/2006/main">
            <a:pPr algn="l">
              <a:defRPr sz="1875" b="0">
                <a:solidFill>
                  <a:srgbClr val="263640"/>
                </a:solidFill>
                <a:latin typeface="Consolas"/>
                <a:ea typeface="Consolas"/>
                <a:cs typeface="Consolas"/>
              </a:defRPr>
            </a:pPr>
            <a:r>
              <a:rPr sz="1875" b="0">
                <a:solidFill>
                  <a:srgbClr val="263640"/>
                </a:solidFill>
                <a:latin typeface="Consolas"/>
                <a:ea typeface="Consolas"/>
                <a:cs typeface="Consolas"/>
              </a:rPr>
              <a:t>python scripts/demo.py --offline</a:t>
            </a:r>
          </a:p>
        </p:txBody>
      </p:sp>
      <p:sp>
        <p:nvSpPr>
          <p:cNvPr id="10" name="Laufzeit ist keine Garantie">
            <a:extLst xmlns:a="http://schemas.openxmlformats.org/drawingml/2006/main">
              <a:ext uri="{FF2B5EF4-FFF2-40B4-BE49-F238E27FC236}">
                <a16:creationId xmlns:a16="http://schemas.microsoft.com/office/drawing/2014/main" id="{061FB149-7A3F-4AA5-B975-0FDE7ED55F57}"/>
              </a:ext>
            </a:extLst>
          </p:cNvPr>
          <p:cNvSpPr>
            <a:spLocks xmlns:a="http://schemas.openxmlformats.org/drawingml/2006/main" noGrp="1"/>
          </p:cNvSpPr>
          <p:nvPr/>
        </p:nvSpPr>
        <p:spPr>
          <a:xfrm xmlns:a="http://schemas.openxmlformats.org/drawingml/2006/main">
            <a:off x="666750" y="44767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2001A"/>
                </a:solidFill>
                <a:latin typeface="Calibri"/>
                <a:ea typeface="Calibri"/>
                <a:cs typeface="Calibri"/>
              </a:defRPr>
            </a:defPPr>
          </a:lstStyle>
          <a:p xmlns:a="http://schemas.openxmlformats.org/drawingml/2006/main">
            <a:pPr algn="l">
              <a:defRPr sz="2250" b="1">
                <a:solidFill>
                  <a:srgbClr val="E2001A"/>
                </a:solidFill>
                <a:latin typeface="Calibri"/>
                <a:ea typeface="Calibri"/>
                <a:cs typeface="Calibri"/>
              </a:defRPr>
            </a:pPr>
            <a:r>
              <a:rPr sz="2250" b="1">
                <a:solidFill>
                  <a:srgbClr val="E2001A"/>
                </a:solidFill>
                <a:latin typeface="Calibri"/>
                <a:ea typeface="Calibri"/>
                <a:cs typeface="Calibri"/>
              </a:rPr>
              <a:t>Laufzeit ist keine Garantie</a:t>
            </a:r>
          </a:p>
        </p:txBody>
      </p:sp>
      <p:sp>
        <p:nvSpPr>
          <p:cNvPr id="11" name="Online-Suite lokal etwa 10 Minuten. Offline-History-Scan mit">
            <a:extLst xmlns:a="http://schemas.openxmlformats.org/drawingml/2006/main">
              <a:ext uri="{FF2B5EF4-FFF2-40B4-BE49-F238E27FC236}">
                <a16:creationId xmlns:a16="http://schemas.microsoft.com/office/drawing/2014/main" id="{4CD5CC5B-151F-42FE-BFB9-26F810E25C87}"/>
              </a:ext>
            </a:extLst>
          </p:cNvPr>
          <p:cNvSpPr>
            <a:spLocks xmlns:a="http://schemas.openxmlformats.org/drawingml/2006/main" noGrp="1"/>
          </p:cNvSpPr>
          <p:nvPr/>
        </p:nvSpPr>
        <p:spPr>
          <a:xfrm xmlns:a="http://schemas.openxmlformats.org/drawingml/2006/main">
            <a:off x="666750" y="5000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Online-Suite lokal etwa 10 Minuten. Offline-History-Scan mit ungeklärter langer Pause.</a:t>
            </a:r>
          </a:p>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Archiv bereithalten, Aufnahme vorher selbst erstellen und als solche kennzeichnen.</a:t>
            </a:r>
          </a:p>
        </p:txBody>
      </p:sp>
    </p:spTree>
    <p:extLst>
      <p:ext uri="{BB962C8B-B14F-4D97-AF65-F5344CB8AC3E}">
        <p14:creationId xmlns:p14="http://schemas.microsoft.com/office/powerpoint/2010/main" val="19641632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8C3E5D6-55F7-4934-8983-751248010980}"/>
              </a:ext>
            </a:extLst>
          </p:cNvPr>
          <p:cNvPicPr>
            <a:picLocks xmlns:a="http://schemas.openxmlformats.org/drawingml/2006/main" noChangeAspect="1"/>
          </p:cNvPicPr>
          <p:nvPr/>
        </p:nvPicPr>
        <p:blipFill>
          <a:blip xmlns:r="http://schemas.openxmlformats.org/officeDocument/2006/relationships" xmlns:a="http://schemas.openxmlformats.org/drawingml/2006/main" r:embed="R84e3f5608c154f7b"/>
          <a:stretch xmlns:a="http://schemas.openxmlformats.org/drawingml/2006/main"/>
        </p:blipFill>
        <p:spPr>
          <a:xfrm xmlns:a="http://schemas.openxmlformats.org/drawingml/2006/main">
            <a:off x="10325100" y="228600"/>
            <a:ext cx="1295400" cy="693039"/>
          </a:xfrm>
          <a:prstGeom xmlns:a="http://schemas.openxmlformats.org/drawingml/2006/main" prst="rect">
            <a:avLst/>
          </a:prstGeom>
        </p:spPr>
      </p:pic>
      <p:sp>
        <p:nvSpPr>
          <p:cNvPr id="2" name="Quellen und weiterführende Nachweise">
            <a:extLst xmlns:a="http://schemas.openxmlformats.org/drawingml/2006/main">
              <a:ext uri="{FF2B5EF4-FFF2-40B4-BE49-F238E27FC236}">
                <a16:creationId xmlns:a16="http://schemas.microsoft.com/office/drawing/2014/main" id="{5EDA6409-A395-43AE-A6E4-76E0E6C5E3AC}"/>
              </a:ext>
            </a:extLst>
          </p:cNvPr>
          <p:cNvSpPr>
            <a:spLocks xmlns:a="http://schemas.openxmlformats.org/drawingml/2006/main" noGrp="1"/>
          </p:cNvSpPr>
          <p:nvPr/>
        </p:nvSpPr>
        <p:spPr>
          <a:xfrm xmlns:a="http://schemas.openxmlformats.org/drawingml/2006/main">
            <a:off x="666750" y="552450"/>
            <a:ext cx="942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52616A"/>
                </a:solidFill>
                <a:latin typeface="Calibri"/>
                <a:ea typeface="Calibri"/>
                <a:cs typeface="Calibri"/>
              </a:defRPr>
            </a:defPPr>
          </a:lstStyle>
          <a:p xmlns:a="http://schemas.openxmlformats.org/drawingml/2006/main">
            <a:pPr algn="l">
              <a:defRPr sz="3150" b="0">
                <a:solidFill>
                  <a:srgbClr val="52616A"/>
                </a:solidFill>
                <a:latin typeface="Calibri"/>
                <a:ea typeface="Calibri"/>
                <a:cs typeface="Calibri"/>
              </a:defRPr>
            </a:pPr>
            <a:r>
              <a:rPr sz="3150" b="0">
                <a:solidFill>
                  <a:srgbClr val="52616A"/>
                </a:solidFill>
                <a:latin typeface="Calibri"/>
                <a:ea typeface="Calibri"/>
                <a:cs typeface="Calibri"/>
              </a:rPr>
              <a:t>Quellen und weiterführende Nachweise</a:t>
            </a:r>
          </a:p>
        </p:txBody>
      </p:sp>
      <p:sp>
        <p:nvSpPr>
          <p:cNvPr id="3" name="">
            <a:extLst xmlns:a="http://schemas.openxmlformats.org/drawingml/2006/main">
              <a:ext uri="{FF2B5EF4-FFF2-40B4-BE49-F238E27FC236}">
                <a16:creationId xmlns:a16="http://schemas.microsoft.com/office/drawing/2014/main" id="{7101415D-2153-450C-8105-3E79A75B7D7D}"/>
              </a:ext>
            </a:extLst>
          </p:cNvPr>
          <p:cNvSpPr>
            <a:spLocks xmlns:a="http://schemas.openxmlformats.org/drawingml/2006/main" noGrp="1"/>
          </p:cNvSpPr>
          <p:nvPr/>
        </p:nvSpPr>
        <p:spPr>
          <a:xfrm xmlns:a="http://schemas.openxmlformats.org/drawingml/2006/main">
            <a:off x="666750" y="1457325"/>
            <a:ext cx="10858500" cy="19050"/>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8D5697-D2F9-45C0-869C-7216E49450EC}"/>
              </a:ext>
            </a:extLst>
          </p:cNvPr>
          <p:cNvSpPr>
            <a:spLocks xmlns:a="http://schemas.openxmlformats.org/drawingml/2006/main" noGrp="1"/>
          </p:cNvSpPr>
          <p:nvPr/>
        </p:nvSpPr>
        <p:spPr>
          <a:xfrm xmlns:a="http://schemas.openxmlformats.org/drawingml/2006/main">
            <a:off x="666750" y="6448425"/>
            <a:ext cx="10858500" cy="9525"/>
          </a:xfrm>
          <a:prstGeom xmlns:a="http://schemas.openxmlformats.org/drawingml/2006/main" prst="rect">
            <a:avLst/>
          </a:prstGeom>
          <a:solidFill xmlns:a="http://schemas.openxmlformats.org/drawingml/2006/main">
            <a:srgbClr val="E2001A"/>
          </a:solidFill>
          <a:ln xmlns:a="http://schemas.openxmlformats.org/drawingml/2006/main" w="0">
            <a:noFill/>
          </a:ln>
        </p:spPr>
      </p:sp>
      <p:sp>
        <p:nvSpPr>
          <p:cNvPr id="5" name="IT-Sicherheit bei Herrn Graupner">
            <a:extLst xmlns:a="http://schemas.openxmlformats.org/drawingml/2006/main">
              <a:ext uri="{FF2B5EF4-FFF2-40B4-BE49-F238E27FC236}">
                <a16:creationId xmlns:a16="http://schemas.microsoft.com/office/drawing/2014/main" id="{3A0E2212-8FE6-4899-96C7-963AC331AA5D}"/>
              </a:ext>
            </a:extLst>
          </p:cNvPr>
          <p:cNvSpPr>
            <a:spLocks xmlns:a="http://schemas.openxmlformats.org/drawingml/2006/main" noGrp="1"/>
          </p:cNvSpPr>
          <p:nvPr/>
        </p:nvSpPr>
        <p:spPr>
          <a:xfrm xmlns:a="http://schemas.openxmlformats.org/drawingml/2006/main">
            <a:off x="666750" y="653415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16A"/>
                </a:solidFill>
                <a:latin typeface="Calibri"/>
                <a:ea typeface="Calibri"/>
                <a:cs typeface="Calibri"/>
              </a:defRPr>
            </a:defPPr>
          </a:lstStyle>
          <a:p xmlns:a="http://schemas.openxmlformats.org/drawingml/2006/main">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6" name="Anhang 4">
            <a:extLst xmlns:a="http://schemas.openxmlformats.org/drawingml/2006/main">
              <a:ext uri="{FF2B5EF4-FFF2-40B4-BE49-F238E27FC236}">
                <a16:creationId xmlns:a16="http://schemas.microsoft.com/office/drawing/2014/main" id="{C69E3958-0781-4561-B6DC-9E364B34371A}"/>
              </a:ext>
            </a:extLst>
          </p:cNvPr>
          <p:cNvSpPr>
            <a:spLocks xmlns:a="http://schemas.openxmlformats.org/drawingml/2006/main" noGrp="1"/>
          </p:cNvSpPr>
          <p:nvPr/>
        </p:nvSpPr>
        <p:spPr>
          <a:xfrm xmlns:a="http://schemas.openxmlformats.org/drawingml/2006/main">
            <a:off x="10477500" y="65151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16A"/>
                </a:solidFill>
                <a:latin typeface="Calibri"/>
                <a:ea typeface="Calibri"/>
                <a:cs typeface="Calibri"/>
              </a:defRPr>
            </a:defPPr>
          </a:lstStyle>
          <a:p xmlns:a="http://schemas.openxmlformats.org/drawingml/2006/main">
            <a:pPr algn="r">
              <a:defRPr sz="1275" b="0">
                <a:solidFill>
                  <a:srgbClr val="52616A"/>
                </a:solidFill>
                <a:latin typeface="Calibri"/>
                <a:ea typeface="Calibri"/>
                <a:cs typeface="Calibri"/>
              </a:defRPr>
            </a:pPr>
            <a:r>
              <a:rPr sz="1275" b="0">
                <a:solidFill>
                  <a:srgbClr val="52616A"/>
                </a:solidFill>
                <a:latin typeface="Calibri"/>
                <a:ea typeface="Calibri"/>
                <a:cs typeface="Calibri"/>
              </a:rPr>
              <a:t>Anhang 4</a:t>
            </a:r>
          </a:p>
        </p:txBody>
      </p:sp>
      <p:sp>
        <p:nvSpPr>
          <p:cNvPr id="7" name="Vorlesung">
            <a:extLst xmlns:a="http://schemas.openxmlformats.org/drawingml/2006/main">
              <a:ext uri="{FF2B5EF4-FFF2-40B4-BE49-F238E27FC236}">
                <a16:creationId xmlns:a16="http://schemas.microsoft.com/office/drawing/2014/main" id="{13BCC45C-3A45-4DBC-95AE-0C49F135ED0B}"/>
              </a:ext>
            </a:extLst>
          </p:cNvPr>
          <p:cNvSpPr>
            <a:spLocks xmlns:a="http://schemas.openxmlformats.org/drawingml/2006/main" noGrp="1"/>
          </p:cNvSpPr>
          <p:nvPr/>
        </p:nvSpPr>
        <p:spPr>
          <a:xfrm xmlns:a="http://schemas.openxmlformats.org/drawingml/2006/main">
            <a:off x="666750" y="1762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2616A"/>
                </a:solidFill>
                <a:latin typeface="Calibri"/>
                <a:ea typeface="Calibri"/>
                <a:cs typeface="Calibri"/>
              </a:defRPr>
            </a:defPPr>
          </a:lstStyle>
          <a:p xmlns:a="http://schemas.openxmlformats.org/drawingml/2006/main">
            <a:pPr algn="l">
              <a:defRPr sz="2250" b="1">
                <a:solidFill>
                  <a:srgbClr val="52616A"/>
                </a:solidFill>
                <a:latin typeface="Calibri"/>
                <a:ea typeface="Calibri"/>
                <a:cs typeface="Calibri"/>
              </a:defRPr>
            </a:pPr>
            <a:r>
              <a:rPr sz="2250" b="1">
                <a:solidFill>
                  <a:srgbClr val="52616A"/>
                </a:solidFill>
                <a:latin typeface="Calibri"/>
                <a:ea typeface="Calibri"/>
                <a:cs typeface="Calibri"/>
              </a:rPr>
              <a:t>Vorlesung</a:t>
            </a:r>
          </a:p>
        </p:txBody>
      </p:sp>
      <p:sp>
        <p:nvSpPr>
          <p:cNvPr id="8" name="Georg Graupner: IT-Sicherheit, Modul 6, Sichere Anwendungsen">
            <a:extLst xmlns:a="http://schemas.openxmlformats.org/drawingml/2006/main">
              <a:ext uri="{FF2B5EF4-FFF2-40B4-BE49-F238E27FC236}">
                <a16:creationId xmlns:a16="http://schemas.microsoft.com/office/drawing/2014/main" id="{C19C0930-3A51-4B06-B901-5728346F0DDF}"/>
              </a:ext>
            </a:extLst>
          </p:cNvPr>
          <p:cNvSpPr>
            <a:spLocks xmlns:a="http://schemas.openxmlformats.org/drawingml/2006/main" noGrp="1"/>
          </p:cNvSpPr>
          <p:nvPr/>
        </p:nvSpPr>
        <p:spPr>
          <a:xfrm xmlns:a="http://schemas.openxmlformats.org/drawingml/2006/main">
            <a:off x="666750" y="22479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640"/>
                </a:solidFill>
                <a:latin typeface="Calibri"/>
                <a:ea typeface="Calibri"/>
                <a:cs typeface="Calibri"/>
              </a:defRPr>
            </a:defPPr>
          </a:lstStyle>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Georg Graupner: IT-Sicherheit, Modul 6, Sichere Anwendungsentwicklung</a:t>
            </a:r>
          </a:p>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Wintersemester 2024, DHBW Mosbach / Bad Mergentheim</a:t>
            </a:r>
          </a:p>
          <a:p xmlns:a="http://schemas.openxmlformats.org/drawingml/2006/main">
            <a:pPr algn="l">
              <a:defRPr sz="1875" b="0">
                <a:solidFill>
                  <a:srgbClr val="263640"/>
                </a:solidFill>
                <a:latin typeface="Calibri"/>
                <a:ea typeface="Calibri"/>
                <a:cs typeface="Calibri"/>
              </a:defRPr>
            </a:pPr>
            <a:r>
              <a:rPr sz="1875" b="0">
                <a:solidFill>
                  <a:srgbClr val="263640"/>
                </a:solidFill>
                <a:latin typeface="Calibri"/>
                <a:ea typeface="Calibri"/>
                <a:cs typeface="Calibri"/>
              </a:rPr>
              <a:t>Schwerpunkte: S. 17–18, 32–39, 42, 46–47</a:t>
            </a:r>
          </a:p>
        </p:txBody>
      </p:sp>
      <p:sp>
        <p:nvSpPr>
          <p:cNvPr id="9" name="Eigene Implementierung und Nachweise">
            <a:extLst xmlns:a="http://schemas.openxmlformats.org/drawingml/2006/main">
              <a:ext uri="{FF2B5EF4-FFF2-40B4-BE49-F238E27FC236}">
                <a16:creationId xmlns:a16="http://schemas.microsoft.com/office/drawing/2014/main" id="{0B371AC6-F4AC-45FC-8058-EF47B0DA66C2}"/>
              </a:ext>
            </a:extLst>
          </p:cNvPr>
          <p:cNvSpPr>
            <a:spLocks xmlns:a="http://schemas.openxmlformats.org/drawingml/2006/main" noGrp="1"/>
          </p:cNvSpPr>
          <p:nvPr/>
        </p:nvSpPr>
        <p:spPr>
          <a:xfrm xmlns:a="http://schemas.openxmlformats.org/drawingml/2006/main">
            <a:off x="666750" y="35242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2616A"/>
                </a:solidFill>
                <a:latin typeface="Calibri"/>
                <a:ea typeface="Calibri"/>
                <a:cs typeface="Calibri"/>
              </a:defRPr>
            </a:defPPr>
          </a:lstStyle>
          <a:p xmlns:a="http://schemas.openxmlformats.org/drawingml/2006/main">
            <a:pPr algn="l">
              <a:defRPr sz="2250" b="1">
                <a:solidFill>
                  <a:srgbClr val="52616A"/>
                </a:solidFill>
                <a:latin typeface="Calibri"/>
                <a:ea typeface="Calibri"/>
                <a:cs typeface="Calibri"/>
              </a:defRPr>
            </a:pPr>
            <a:r>
              <a:rPr sz="2250" b="1">
                <a:solidFill>
                  <a:srgbClr val="52616A"/>
                </a:solidFill>
                <a:latin typeface="Calibri"/>
                <a:ea typeface="Calibri"/>
                <a:cs typeface="Calibri"/>
              </a:rPr>
              <a:t>Eigene Implementierung und Nachweise</a:t>
            </a:r>
          </a:p>
        </p:txBody>
      </p:sp>
      <p:sp>
        <p:nvSpPr>
          <p:cNvPr id="10" name="README_PIPELINE_ERKLAERT.md, docs/NACHPRUEFUNG.md&#10;docs/FINDI">
            <a:extLst xmlns:a="http://schemas.openxmlformats.org/drawingml/2006/main">
              <a:ext uri="{FF2B5EF4-FFF2-40B4-BE49-F238E27FC236}">
                <a16:creationId xmlns:a16="http://schemas.microsoft.com/office/drawing/2014/main" id="{FA3F4AFA-C03C-47C0-A3D9-7C018724D170}"/>
              </a:ext>
            </a:extLst>
          </p:cNvPr>
          <p:cNvSpPr>
            <a:spLocks xmlns:a="http://schemas.openxmlformats.org/drawingml/2006/main" noGrp="1"/>
          </p:cNvSpPr>
          <p:nvPr/>
        </p:nvSpPr>
        <p:spPr>
          <a:xfrm xmlns:a="http://schemas.openxmlformats.org/drawingml/2006/main">
            <a:off x="666750" y="39909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640"/>
                </a:solidFill>
                <a:latin typeface="Calibri"/>
                <a:ea typeface="Calibri"/>
                <a:cs typeface="Calibri"/>
              </a:defRPr>
            </a:defPPr>
          </a:lstStyle>
          <a:p xmlns:a="http://schemas.openxmlformats.org/drawingml/2006/main">
            <a:pPr algn="l">
              <a:defRPr sz="1800" b="0">
                <a:solidFill>
                  <a:srgbClr val="263640"/>
                </a:solidFill>
                <a:latin typeface="Calibri"/>
                <a:ea typeface="Calibri"/>
                <a:cs typeface="Calibri"/>
              </a:defRPr>
            </a:pPr>
            <a:r>
              <a:rPr sz="1800" b="0">
                <a:solidFill>
                  <a:srgbClr val="263640"/>
                </a:solidFill>
                <a:latin typeface="Calibri"/>
                <a:ea typeface="Calibri"/>
                <a:cs typeface="Calibri"/>
              </a:rPr>
              <a:t>README_PIPELINE_ERKLAERT.md, docs/NACHPRUEFUNG.md</a:t>
            </a:r>
          </a:p>
          <a:p xmlns:a="http://schemas.openxmlformats.org/drawingml/2006/main">
            <a:pPr algn="l">
              <a:defRPr sz="1800" b="0">
                <a:solidFill>
                  <a:srgbClr val="263640"/>
                </a:solidFill>
                <a:latin typeface="Calibri"/>
                <a:ea typeface="Calibri"/>
                <a:cs typeface="Calibri"/>
              </a:defRPr>
            </a:pPr>
            <a:r>
              <a:rPr sz="1800" b="0">
                <a:solidFill>
                  <a:srgbClr val="263640"/>
                </a:solidFill>
                <a:latin typeface="Calibri"/>
                <a:ea typeface="Calibri"/>
                <a:cs typeface="Calibri"/>
              </a:rPr>
              <a:t>docs/FINDINGS_BEWERTUNG.md, docs/validation/2026-10-21-fixed/</a:t>
            </a:r>
          </a:p>
          <a:p xmlns:a="http://schemas.openxmlformats.org/drawingml/2006/main">
            <a:pPr algn="l">
              <a:defRPr sz="1800" b="0">
                <a:solidFill>
                  <a:srgbClr val="263640"/>
                </a:solidFill>
                <a:latin typeface="Calibri"/>
                <a:ea typeface="Calibri"/>
                <a:cs typeface="Calibri"/>
              </a:defRPr>
            </a:pPr>
            <a:r>
              <a:rPr sz="1800" b="0">
                <a:solidFill>
                  <a:srgbClr val="263640"/>
                </a:solidFill>
                <a:latin typeface="Calibri"/>
                <a:ea typeface="Calibri"/>
                <a:cs typeface="Calibri"/>
              </a:rPr>
              <a:t>Repository: github.com/LuBre22/devsecops_pipeline</a:t>
            </a:r>
          </a:p>
        </p:txBody>
      </p:sp>
      <p:sp>
        <p:nvSpPr>
          <p:cNvPr id="11" name="Maßstab für Produktionshärtung">
            <a:extLst xmlns:a="http://schemas.openxmlformats.org/drawingml/2006/main">
              <a:ext uri="{FF2B5EF4-FFF2-40B4-BE49-F238E27FC236}">
                <a16:creationId xmlns:a16="http://schemas.microsoft.com/office/drawing/2014/main" id="{87037A8F-5DF6-4E1F-A134-22535A9B68E4}"/>
              </a:ext>
            </a:extLst>
          </p:cNvPr>
          <p:cNvSpPr>
            <a:spLocks xmlns:a="http://schemas.openxmlformats.org/drawingml/2006/main" noGrp="1"/>
          </p:cNvSpPr>
          <p:nvPr/>
        </p:nvSpPr>
        <p:spPr>
          <a:xfrm xmlns:a="http://schemas.openxmlformats.org/drawingml/2006/main">
            <a:off x="666750" y="52387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2616A"/>
                </a:solidFill>
                <a:latin typeface="Calibri"/>
                <a:ea typeface="Calibri"/>
                <a:cs typeface="Calibri"/>
              </a:defRPr>
            </a:defPPr>
          </a:lstStyle>
          <a:p xmlns:a="http://schemas.openxmlformats.org/drawingml/2006/main">
            <a:pPr algn="l">
              <a:defRPr sz="2175" b="1">
                <a:solidFill>
                  <a:srgbClr val="52616A"/>
                </a:solidFill>
                <a:latin typeface="Calibri"/>
                <a:ea typeface="Calibri"/>
                <a:cs typeface="Calibri"/>
              </a:defRPr>
            </a:pPr>
            <a:r>
              <a:rPr sz="2175" b="1">
                <a:solidFill>
                  <a:srgbClr val="52616A"/>
                </a:solidFill>
                <a:latin typeface="Calibri"/>
                <a:ea typeface="Calibri"/>
                <a:cs typeface="Calibri"/>
              </a:rPr>
              <a:t>Maßstab für Produktionshärtung</a:t>
            </a:r>
          </a:p>
        </p:txBody>
      </p:sp>
      <p:sp>
        <p:nvSpPr>
          <p:cNvPr id="12" name="GitHub Docs: Secure use reference">
            <a:extLst xmlns:a="http://schemas.openxmlformats.org/drawingml/2006/main">
              <a:ext uri="{FF2B5EF4-FFF2-40B4-BE49-F238E27FC236}">
                <a16:creationId xmlns:a16="http://schemas.microsoft.com/office/drawing/2014/main" id="{E3BDC90C-3EFF-405C-B485-6B85772CB1C9}"/>
              </a:ext>
            </a:extLst>
          </p:cNvPr>
          <p:cNvSpPr>
            <a:spLocks xmlns:a="http://schemas.openxmlformats.org/drawingml/2006/main" noGrp="1"/>
          </p:cNvSpPr>
          <p:nvPr/>
        </p:nvSpPr>
        <p:spPr>
          <a:xfrm xmlns:a="http://schemas.openxmlformats.org/drawingml/2006/main">
            <a:off x="666750" y="5667375"/>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001A"/>
                </a:solidFill>
                <a:latin typeface="Calibri"/>
                <a:ea typeface="Calibri"/>
                <a:cs typeface="Calibri"/>
              </a:defRPr>
            </a:defPPr>
          </a:lstStyle>
          <a:p xmlns:a="http://schemas.openxmlformats.org/drawingml/2006/main">
            <a:pPr algn="l">
              <a:defRPr sz="1725" b="0">
                <a:solidFill>
                  <a:srgbClr val="E2001A"/>
                </a:solidFill>
                <a:latin typeface="Calibri"/>
                <a:ea typeface="Calibri"/>
                <a:cs typeface="Calibri"/>
              </a:defRPr>
            </a:pPr>
            <a:r>
              <a:rPr sz="1725" b="0">
                <a:solidFill>
                  <a:srgbClr val="E2001A"/>
                </a:solidFill>
                <a:latin typeface="Calibri"/>
                <a:ea typeface="Calibri"/>
                <a:cs typeface="Calibri"/>
                <a:hlinkClick xmlns:r="http://schemas.openxmlformats.org/officeDocument/2006/relationships" r:id="Re8a9d8dfe5d9475e"/>
              </a:rPr>
              <a:t>GitHub Docs: Secure use reference</a:t>
            </a:r>
          </a:p>
        </p:txBody>
      </p:sp>
      <p:sp>
        <p:nvSpPr>
          <p:cNvPr id="13" name="OWASP: CI/CD Security Cheat Sheet">
            <a:extLst xmlns:a="http://schemas.openxmlformats.org/drawingml/2006/main">
              <a:ext uri="{FF2B5EF4-FFF2-40B4-BE49-F238E27FC236}">
                <a16:creationId xmlns:a16="http://schemas.microsoft.com/office/drawing/2014/main" id="{C899D0FF-E97A-4115-8791-29AA2E5916C0}"/>
              </a:ext>
            </a:extLst>
          </p:cNvPr>
          <p:cNvSpPr>
            <a:spLocks xmlns:a="http://schemas.openxmlformats.org/drawingml/2006/main" noGrp="1"/>
          </p:cNvSpPr>
          <p:nvPr/>
        </p:nvSpPr>
        <p:spPr>
          <a:xfrm xmlns:a="http://schemas.openxmlformats.org/drawingml/2006/main">
            <a:off x="6286500" y="56673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001A"/>
                </a:solidFill>
                <a:latin typeface="Calibri"/>
                <a:ea typeface="Calibri"/>
                <a:cs typeface="Calibri"/>
              </a:defRPr>
            </a:defPPr>
          </a:lstStyle>
          <a:p xmlns:a="http://schemas.openxmlformats.org/drawingml/2006/main">
            <a:pPr algn="l">
              <a:defRPr sz="1725" b="0">
                <a:solidFill>
                  <a:srgbClr val="E2001A"/>
                </a:solidFill>
                <a:latin typeface="Calibri"/>
                <a:ea typeface="Calibri"/>
                <a:cs typeface="Calibri"/>
              </a:defRPr>
            </a:pPr>
            <a:r>
              <a:rPr sz="1725" b="0">
                <a:solidFill>
                  <a:srgbClr val="E2001A"/>
                </a:solidFill>
                <a:latin typeface="Calibri"/>
                <a:ea typeface="Calibri"/>
                <a:cs typeface="Calibri"/>
                <a:hlinkClick xmlns:r="http://schemas.openxmlformats.org/officeDocument/2006/relationships" r:id="R4058d850d3154855"/>
              </a:rPr>
              <a:t>OWASP: CI/CD Security Cheat Sheet</a:t>
            </a:r>
          </a:p>
        </p:txBody>
      </p:sp>
    </p:spTree>
    <p:extLst>
      <p:ext uri="{BB962C8B-B14F-4D97-AF65-F5344CB8AC3E}">
        <p14:creationId xmlns:p14="http://schemas.microsoft.com/office/powerpoint/2010/main" val="38723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2026-10-21T12:32:51.4540000Z</dcterms:created>
  <dcterms:modified xsi:type="dcterms:W3CDTF">2026-10-21T12:32:51.4550000Z</dcterms:modified>
</coreProperties>
</file>