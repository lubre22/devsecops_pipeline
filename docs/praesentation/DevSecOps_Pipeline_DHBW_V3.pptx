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8" r:id="rId6"/>
    <p:sldId id="272" r:id="rId7"/>
    <p:sldId id="264" r:id="rId8"/>
    <p:sldId id="265" r:id="rId9"/>
    <p:sldId id="266" r:id="rId10"/>
    <p:sldId id="269" r:id="rId11"/>
    <p:sldId id="274" r:id="rId12"/>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885" autoAdjust="0"/>
  </p:normalViewPr>
  <p:slideViewPr>
    <p:cSldViewPr snapToGrid="0">
      <p:cViewPr varScale="1">
        <p:scale>
          <a:sx n="120" d="100"/>
          <a:sy n="120" d="100"/>
        </p:scale>
        <p:origin x="404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Zeitbudget</a:t>
            </a:r>
            <a:r>
              <a:rPr dirty="0"/>
              <a:t>: </a:t>
            </a:r>
            <a:r>
              <a:rPr lang="en-US" dirty="0"/>
              <a:t>3</a:t>
            </a:r>
            <a:r>
              <a:rPr dirty="0"/>
              <a:t>0 </a:t>
            </a:r>
            <a:r>
              <a:rPr dirty="0" err="1"/>
              <a:t>Sekunden</a:t>
            </a:r>
            <a:endParaRPr dirty="0"/>
          </a:p>
          <a:p>
            <a:endParaRPr lang="en-US" dirty="0"/>
          </a:p>
          <a:p>
            <a:pPr marL="171450" indent="-171450">
              <a:buFontTx/>
              <a:buChar char="-"/>
            </a:pPr>
            <a:r>
              <a:rPr lang="de-DE" dirty="0"/>
              <a:t>Begrüßung</a:t>
            </a:r>
          </a:p>
          <a:p>
            <a:pPr marL="171450" indent="-171450">
              <a:buFontTx/>
              <a:buChar char="-"/>
            </a:pPr>
            <a:r>
              <a:rPr lang="de-DE" dirty="0"/>
              <a:t>Einführung in das Thema</a:t>
            </a:r>
          </a:p>
          <a:p>
            <a:pPr marL="171450" indent="-171450">
              <a:buFontTx/>
              <a:buChar char="-"/>
            </a:pPr>
            <a:r>
              <a:rPr lang="de-DE" dirty="0"/>
              <a:t>Darstellen der Beteiligten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Zeitbudget</a:t>
            </a:r>
            <a:r>
              <a:rPr dirty="0"/>
              <a:t>: </a:t>
            </a:r>
            <a:r>
              <a:rPr lang="en-US" dirty="0"/>
              <a:t>6</a:t>
            </a:r>
            <a:r>
              <a:rPr dirty="0"/>
              <a:t>0 </a:t>
            </a:r>
            <a:r>
              <a:rPr dirty="0" err="1"/>
              <a:t>Sekunden</a:t>
            </a:r>
            <a:endParaRPr dirty="0"/>
          </a:p>
          <a:p>
            <a:endParaRPr lang="en-US" dirty="0"/>
          </a:p>
          <a:p>
            <a:pPr marL="171450" indent="-171450">
              <a:buFontTx/>
              <a:buChar char="-"/>
            </a:pPr>
            <a:r>
              <a:rPr lang="de-DE" dirty="0"/>
              <a:t>Darstellung der Aufgabe und des Projektumfangs</a:t>
            </a:r>
          </a:p>
          <a:p>
            <a:pPr marL="171450" indent="-171450">
              <a:buFontTx/>
              <a:buChar char="-"/>
            </a:pPr>
            <a:r>
              <a:rPr lang="de-DE" dirty="0"/>
              <a:t>Begründung für 2 verschiedene Varianten</a:t>
            </a:r>
            <a:r>
              <a:rPr lang="en-US" dirty="0"/>
              <a:t>: </a:t>
            </a:r>
          </a:p>
          <a:p>
            <a:pPr marL="171450" lvl="3" indent="-171450">
              <a:buFontTx/>
              <a:buChar char="-"/>
            </a:pPr>
            <a:r>
              <a:rPr lang="en-US" dirty="0"/>
              <a:t>Zeigen </a:t>
            </a:r>
            <a:r>
              <a:rPr lang="en-US" dirty="0" err="1"/>
              <a:t>einmal</a:t>
            </a:r>
            <a:r>
              <a:rPr lang="en-US" dirty="0"/>
              <a:t> der Pipeline </a:t>
            </a:r>
            <a:r>
              <a:rPr lang="en-US" dirty="0" err="1"/>
              <a:t>unter</a:t>
            </a:r>
            <a:r>
              <a:rPr lang="en-US" dirty="0"/>
              <a:t> </a:t>
            </a:r>
            <a:r>
              <a:rPr lang="en-US" dirty="0" err="1"/>
              <a:t>bereinigtem</a:t>
            </a:r>
            <a:r>
              <a:rPr lang="en-US" dirty="0"/>
              <a:t> Stand</a:t>
            </a:r>
          </a:p>
          <a:p>
            <a:pPr marL="171450" lvl="3" indent="-171450">
              <a:buFontTx/>
              <a:buChar char="-"/>
            </a:pPr>
            <a:r>
              <a:rPr lang="en-US" dirty="0"/>
              <a:t>Zeigen </a:t>
            </a:r>
            <a:r>
              <a:rPr lang="en-US" dirty="0" err="1"/>
              <a:t>einmal</a:t>
            </a:r>
            <a:r>
              <a:rPr lang="en-US" dirty="0"/>
              <a:t> der Pipeline </a:t>
            </a:r>
            <a:r>
              <a:rPr lang="en-US" dirty="0" err="1"/>
              <a:t>unter</a:t>
            </a:r>
            <a:r>
              <a:rPr lang="en-US" dirty="0"/>
              <a:t> </a:t>
            </a:r>
            <a:r>
              <a:rPr lang="en-US" dirty="0" err="1"/>
              <a:t>gefährdetem</a:t>
            </a:r>
            <a:r>
              <a:rPr lang="en-US" dirty="0"/>
              <a:t> Stand</a:t>
            </a:r>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Zeitbudget</a:t>
            </a:r>
            <a:r>
              <a:rPr dirty="0"/>
              <a:t>: 60 </a:t>
            </a:r>
            <a:r>
              <a:rPr dirty="0" err="1"/>
              <a:t>Sekunden</a:t>
            </a:r>
            <a:endParaRPr dirty="0"/>
          </a:p>
          <a:p>
            <a:endParaRPr lang="en-US" dirty="0"/>
          </a:p>
          <a:p>
            <a:pPr marL="171450" indent="-171450">
              <a:buFontTx/>
              <a:buChar char="-"/>
            </a:pPr>
            <a:r>
              <a:rPr lang="de-DE" dirty="0"/>
              <a:t>Darstellung der Bestandteile der Pipeline in eine vereinfachten Darstellung</a:t>
            </a:r>
          </a:p>
          <a:p>
            <a:pPr marL="171450" indent="-171450">
              <a:buFontTx/>
              <a:buChar char="-"/>
            </a:pPr>
            <a:r>
              <a:rPr lang="de-DE" dirty="0"/>
              <a:t>Push/PR löst Pipeline aus</a:t>
            </a:r>
          </a:p>
          <a:p>
            <a:pPr marL="171450" indent="-171450">
              <a:buFontTx/>
              <a:buChar char="-"/>
            </a:pPr>
            <a:r>
              <a:rPr lang="de-DE" dirty="0"/>
              <a:t>Unit Tests laufen über die Pipeline drüber, um Funktionalität der Pipeline zu prüfen</a:t>
            </a:r>
          </a:p>
          <a:p>
            <a:pPr marL="171450" indent="-171450">
              <a:buFontTx/>
              <a:buChar char="-"/>
            </a:pPr>
            <a:r>
              <a:rPr lang="de-DE" dirty="0"/>
              <a:t>Scanner laufen über Quellcode und Pakete drüber</a:t>
            </a:r>
          </a:p>
          <a:p>
            <a:pPr marL="171450" indent="-171450">
              <a:buFontTx/>
              <a:buChar char="-"/>
            </a:pPr>
            <a:r>
              <a:rPr lang="de-DE" dirty="0"/>
              <a:t>Erstes Gate prüft Reports und Ausgabe</a:t>
            </a:r>
          </a:p>
          <a:p>
            <a:pPr marL="171450" indent="-171450">
              <a:buFontTx/>
              <a:buChar char="-"/>
            </a:pPr>
            <a:r>
              <a:rPr lang="de-DE" dirty="0"/>
              <a:t>Sobald Vorab Gate passt, wird </a:t>
            </a:r>
            <a:r>
              <a:rPr lang="de-DE" dirty="0" err="1"/>
              <a:t>gebuildet</a:t>
            </a:r>
            <a:r>
              <a:rPr lang="de-DE" dirty="0"/>
              <a:t> und ein Image-Scan durchgeführt</a:t>
            </a:r>
          </a:p>
          <a:p>
            <a:pPr marL="171450" indent="-171450">
              <a:buFontTx/>
              <a:buChar char="-"/>
            </a:pPr>
            <a:r>
              <a:rPr lang="de-DE" dirty="0"/>
              <a:t>Zweites Gate prüft Reports und Ausgabe</a:t>
            </a:r>
          </a:p>
          <a:p>
            <a:pPr marL="171450" indent="-171450">
              <a:buFontTx/>
              <a:buChar char="-"/>
            </a:pPr>
            <a:r>
              <a:rPr lang="de-DE" dirty="0"/>
              <a:t>Sobald Image-Gate passt, wird der Webdienst geprüft sowie die </a:t>
            </a:r>
            <a:r>
              <a:rPr lang="de-DE" dirty="0" err="1"/>
              <a:t>API‘s</a:t>
            </a:r>
            <a:endParaRPr lang="de-DE" dirty="0"/>
          </a:p>
          <a:p>
            <a:pPr marL="171450" indent="-171450">
              <a:buFontTx/>
              <a:buChar char="-"/>
            </a:pPr>
            <a:r>
              <a:rPr lang="de-DE" dirty="0"/>
              <a:t>Letzter Gate Check</a:t>
            </a:r>
          </a:p>
          <a:p>
            <a:pPr marL="171450" indent="-171450">
              <a:buFontTx/>
              <a:buChar char="-"/>
            </a:pPr>
            <a:r>
              <a:rPr lang="de-DE" dirty="0"/>
              <a:t>Komplette Pipeline gesteuert durch einen Python-</a:t>
            </a:r>
            <a:r>
              <a:rPr lang="de-DE" dirty="0" err="1"/>
              <a:t>Orchestrator</a:t>
            </a:r>
            <a:endParaRPr lang="de-D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Zeitbudget</a:t>
            </a:r>
            <a:r>
              <a:rPr dirty="0"/>
              <a:t>: </a:t>
            </a:r>
            <a:r>
              <a:rPr lang="en-US" dirty="0"/>
              <a:t>60</a:t>
            </a:r>
            <a:r>
              <a:rPr dirty="0"/>
              <a:t> </a:t>
            </a:r>
            <a:r>
              <a:rPr dirty="0" err="1"/>
              <a:t>Sekunden</a:t>
            </a:r>
            <a:endParaRPr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 SAST: </a:t>
            </a:r>
            <a:r>
              <a:rPr lang="de-DE" sz="1200" b="0" kern="1200" dirty="0">
                <a:effectLst/>
              </a:rPr>
              <a:t>Static </a:t>
            </a:r>
            <a:r>
              <a:rPr lang="de-DE" sz="1200" b="0" kern="1200" dirty="0" err="1">
                <a:effectLst/>
              </a:rPr>
              <a:t>Application</a:t>
            </a:r>
            <a:r>
              <a:rPr lang="de-DE" sz="1200" b="0" kern="1200" dirty="0">
                <a:effectLst/>
              </a:rPr>
              <a:t> Security </a:t>
            </a:r>
            <a:r>
              <a:rPr lang="de-DE" sz="1200" b="0" kern="1200" dirty="0" err="1">
                <a:effectLst/>
              </a:rPr>
              <a:t>Testing</a:t>
            </a:r>
            <a:r>
              <a:rPr lang="de-DE" sz="1200" b="0" kern="1200" dirty="0">
                <a:effectLst/>
              </a:rPr>
              <a:t> – Analyse des Quellcodes ohne das Programm zu starten. Findet gefährliche Code-Muster, unsichere Aufrufe, Datenflüsse. Werkzeuge: </a:t>
            </a:r>
            <a:r>
              <a:rPr lang="de-DE" sz="1200" b="0" kern="1200" dirty="0" err="1">
                <a:effectLst/>
              </a:rPr>
              <a:t>Semgrep</a:t>
            </a:r>
            <a:r>
              <a:rPr lang="de-DE" sz="1200" b="0" kern="1200" dirty="0">
                <a:effectLst/>
              </a:rPr>
              <a:t>, Bandit.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 SCA: </a:t>
            </a:r>
            <a:r>
              <a:rPr lang="de-DE" sz="1200" b="0" kern="1200" dirty="0">
                <a:effectLst/>
              </a:rPr>
              <a:t>Software </a:t>
            </a:r>
            <a:r>
              <a:rPr lang="de-DE" sz="1200" b="0" kern="1200" dirty="0" err="1">
                <a:effectLst/>
              </a:rPr>
              <a:t>Composition</a:t>
            </a:r>
            <a:r>
              <a:rPr lang="de-DE" sz="1200" b="0" kern="1200" dirty="0">
                <a:effectLst/>
              </a:rPr>
              <a:t> Analysis – Prüfung der verwendeten Bibliotheken und Abhängigkeiten auf bekannte Schwachstellen. Werkzeug: </a:t>
            </a:r>
            <a:r>
              <a:rPr lang="de-DE" sz="1200" b="0" kern="1200" dirty="0" err="1">
                <a:effectLst/>
              </a:rPr>
              <a:t>Trivy</a:t>
            </a:r>
            <a:r>
              <a:rPr lang="de-DE" sz="1200" b="0" kern="1200" dirty="0">
                <a:effectLst/>
              </a:rPr>
              <a:t> (Dateisystem-Modus).</a:t>
            </a:r>
          </a:p>
          <a:p>
            <a:pPr marL="0" indent="0">
              <a:buFontTx/>
              <a:buNone/>
            </a:pPr>
            <a:r>
              <a:rPr lang="de-DE" dirty="0"/>
              <a:t>- Prüfen des Containers und des </a:t>
            </a:r>
            <a:r>
              <a:rPr lang="de-DE" dirty="0" err="1"/>
              <a:t>Build</a:t>
            </a:r>
            <a:r>
              <a:rPr lang="de-DE" dirty="0"/>
              <a:t> des Containers. Werkzeug: </a:t>
            </a:r>
            <a:r>
              <a:rPr lang="de-DE" dirty="0" err="1"/>
              <a:t>Trivz</a:t>
            </a:r>
            <a:r>
              <a:rPr lang="de-DE" dirty="0"/>
              <a:t>, </a:t>
            </a:r>
            <a:r>
              <a:rPr lang="de-DE" dirty="0" err="1"/>
              <a:t>hadolint</a:t>
            </a:r>
            <a:r>
              <a:rPr lang="de-DE" dirty="0"/>
              <a:t>, </a:t>
            </a:r>
            <a:r>
              <a:rPr lang="de-DE" dirty="0" err="1"/>
              <a:t>Dockle</a:t>
            </a:r>
            <a:endParaRPr lang="de-DE" dirty="0"/>
          </a:p>
          <a:p>
            <a:pPr marL="171450" indent="-171450">
              <a:buFontTx/>
              <a:buChar char="-"/>
            </a:pPr>
            <a:r>
              <a:rPr lang="de-DE" dirty="0"/>
              <a:t>Prüfen der laufenden Webanwendungen und </a:t>
            </a:r>
            <a:r>
              <a:rPr lang="de-DE" dirty="0" err="1"/>
              <a:t>API‘s</a:t>
            </a:r>
            <a:r>
              <a:rPr lang="de-DE" dirty="0"/>
              <a:t> Schnittstellen. Werkzeuge: OWASP ZAP (passiv)</a:t>
            </a:r>
          </a:p>
          <a:p>
            <a:pPr marL="171450" indent="-171450">
              <a:buFontTx/>
              <a:buChar char="-"/>
            </a:pPr>
            <a:r>
              <a:rPr lang="de-DE" dirty="0"/>
              <a:t>Prüfen vorhandener Secrets im Code und GIT Stamm und Prüfen des Komponenten Inventars. Werkzeug: </a:t>
            </a:r>
            <a:r>
              <a:rPr lang="de-DE" dirty="0" err="1"/>
              <a:t>Gitleaks</a:t>
            </a:r>
            <a:r>
              <a:rPr lang="de-DE" dirty="0"/>
              <a:t>, </a:t>
            </a:r>
            <a:r>
              <a:rPr lang="de-DE" dirty="0" err="1"/>
              <a:t>Syft</a:t>
            </a:r>
            <a:r>
              <a:rPr lang="de-DE" dirty="0"/>
              <a:t>/</a:t>
            </a:r>
            <a:r>
              <a:rPr lang="de-DE" dirty="0" err="1"/>
              <a:t>CycloneDX</a:t>
            </a:r>
            <a:endParaRPr lang="de-DE"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a:t>SBOM: </a:t>
            </a:r>
            <a:r>
              <a:rPr lang="de-DE" sz="1200" b="0" kern="1200" dirty="0">
                <a:effectLst/>
              </a:rPr>
              <a:t>Software Bill of Materials – Komponentenverzeichnis: eine Liste aller im Programm oder Image enthaltenen Pakete und Bibliotheken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B57F2-9A70-AF16-1005-39F98D567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D183E-A48C-DD6C-8C95-DF64F46114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9E0F8-E7D3-1470-817E-235D1F6C261E}"/>
              </a:ext>
            </a:extLst>
          </p:cNvPr>
          <p:cNvSpPr>
            <a:spLocks noGrp="1"/>
          </p:cNvSpPr>
          <p:nvPr>
            <p:ph type="body" idx="1"/>
          </p:nvPr>
        </p:nvSpPr>
        <p:spPr/>
        <p:txBody>
          <a:bodyPr/>
          <a:lstStyle/>
          <a:p>
            <a:r>
              <a:rPr dirty="0" err="1"/>
              <a:t>Zeitbudget</a:t>
            </a:r>
            <a:r>
              <a:rPr dirty="0"/>
              <a:t>: </a:t>
            </a:r>
            <a:r>
              <a:rPr lang="en-US" dirty="0"/>
              <a:t>300</a:t>
            </a:r>
            <a:r>
              <a:rPr dirty="0"/>
              <a:t> </a:t>
            </a:r>
            <a:r>
              <a:rPr dirty="0" err="1"/>
              <a:t>Sekunden</a:t>
            </a:r>
            <a:endParaRPr dirty="0"/>
          </a:p>
          <a:p>
            <a:endParaRPr lang="en-US" dirty="0"/>
          </a:p>
          <a:p>
            <a:pPr marL="171450" indent="-171450">
              <a:buFontTx/>
              <a:buChar char="-"/>
            </a:pPr>
            <a:r>
              <a:rPr lang="de-DE" dirty="0"/>
              <a:t>Live Demo der Pipeline</a:t>
            </a:r>
          </a:p>
          <a:p>
            <a:pPr marL="171450" indent="-171450">
              <a:buFontTx/>
              <a:buChar char="-"/>
            </a:pPr>
            <a:r>
              <a:rPr lang="de-DE" dirty="0"/>
              <a:t>Zeigen von </a:t>
            </a:r>
            <a:r>
              <a:rPr lang="de-DE" dirty="0" err="1"/>
              <a:t>Findings</a:t>
            </a:r>
            <a:r>
              <a:rPr lang="de-DE" dirty="0"/>
              <a:t> und wie diese aufgebaut sind</a:t>
            </a:r>
          </a:p>
          <a:p>
            <a:pPr marL="171450" indent="-171450">
              <a:buFontTx/>
              <a:buChar char="-"/>
            </a:pPr>
            <a:r>
              <a:rPr lang="de-DE" dirty="0"/>
              <a:t>Durchlauf der Struktur der Pipeline</a:t>
            </a:r>
          </a:p>
          <a:p>
            <a:pPr marL="171450" indent="-171450">
              <a:buFontTx/>
              <a:buChar char="-"/>
            </a:pPr>
            <a:r>
              <a:rPr lang="de-DE" dirty="0"/>
              <a:t>Zeigen der Automatisierung für </a:t>
            </a:r>
            <a:r>
              <a:rPr lang="de-DE" dirty="0" err="1"/>
              <a:t>Github</a:t>
            </a:r>
            <a:r>
              <a:rPr lang="de-DE" dirty="0"/>
              <a:t> Actions</a:t>
            </a:r>
          </a:p>
        </p:txBody>
      </p:sp>
      <p:sp>
        <p:nvSpPr>
          <p:cNvPr id="4" name="Slide Number Placeholder 3">
            <a:extLst>
              <a:ext uri="{FF2B5EF4-FFF2-40B4-BE49-F238E27FC236}">
                <a16:creationId xmlns:a16="http://schemas.microsoft.com/office/drawing/2014/main" id="{EEFCD2CF-4C18-7BE0-EF84-B609DAEC90A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29797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Zeitbudget</a:t>
            </a:r>
            <a:r>
              <a:rPr lang="en-US" dirty="0"/>
              <a:t>: 60 </a:t>
            </a:r>
            <a:r>
              <a:rPr lang="en-US" dirty="0" err="1"/>
              <a:t>Sekunden</a:t>
            </a:r>
            <a:endParaRPr lang="en-US" dirty="0"/>
          </a:p>
          <a:p>
            <a:endParaRPr lang="en-US" dirty="0"/>
          </a:p>
          <a:p>
            <a:pPr marL="171450" indent="-171450">
              <a:buFontTx/>
              <a:buChar char="-"/>
            </a:pPr>
            <a:r>
              <a:rPr lang="en-US" dirty="0" err="1"/>
              <a:t>Darstellung</a:t>
            </a:r>
            <a:r>
              <a:rPr lang="en-US" dirty="0"/>
              <a:t> der </a:t>
            </a:r>
            <a:r>
              <a:rPr lang="en-US" dirty="0" err="1"/>
              <a:t>vollständigen</a:t>
            </a:r>
            <a:r>
              <a:rPr lang="en-US" dirty="0"/>
              <a:t> Gate-Matrix</a:t>
            </a:r>
          </a:p>
          <a:p>
            <a:pPr marL="171450" indent="-171450">
              <a:buFontTx/>
              <a:buChar char="-"/>
            </a:pPr>
            <a:r>
              <a:rPr lang="en-US" dirty="0" err="1"/>
              <a:t>Unterscheidung</a:t>
            </a:r>
            <a:r>
              <a:rPr lang="en-US" dirty="0"/>
              <a:t> </a:t>
            </a:r>
            <a:r>
              <a:rPr lang="en-US" dirty="0" err="1"/>
              <a:t>zwischen</a:t>
            </a:r>
            <a:r>
              <a:rPr lang="en-US" dirty="0"/>
              <a:t> Critical, High, Medium, Low/Info</a:t>
            </a:r>
          </a:p>
          <a:p>
            <a:pPr marL="171450" indent="-171450">
              <a:buFontTx/>
              <a:buChar char="-"/>
            </a:pPr>
            <a:r>
              <a:rPr lang="en-US" dirty="0"/>
              <a:t>3 </a:t>
            </a:r>
            <a:r>
              <a:rPr lang="en-US" dirty="0" err="1"/>
              <a:t>unterschiedliche</a:t>
            </a:r>
            <a:r>
              <a:rPr lang="en-US" dirty="0"/>
              <a:t> </a:t>
            </a:r>
            <a:r>
              <a:rPr lang="en-US" dirty="0" err="1"/>
              <a:t>Aktionen</a:t>
            </a:r>
            <a:r>
              <a:rPr lang="en-US" dirty="0"/>
              <a:t>: Block, Warn, Info</a:t>
            </a:r>
          </a:p>
          <a:p>
            <a:pPr marL="171450" indent="-171450">
              <a:buFontTx/>
              <a:buChar char="-"/>
            </a:pPr>
            <a:r>
              <a:rPr lang="en-US" dirty="0"/>
              <a:t>Nur </a:t>
            </a:r>
            <a:r>
              <a:rPr lang="en-US" dirty="0" err="1"/>
              <a:t>weil</a:t>
            </a:r>
            <a:r>
              <a:rPr lang="en-US" dirty="0"/>
              <a:t> </a:t>
            </a:r>
            <a:r>
              <a:rPr lang="en-US" dirty="0" err="1"/>
              <a:t>etwas</a:t>
            </a:r>
            <a:r>
              <a:rPr lang="en-US" dirty="0"/>
              <a:t> auf warn </a:t>
            </a:r>
            <a:r>
              <a:rPr lang="en-US" dirty="0" err="1"/>
              <a:t>gesetzt</a:t>
            </a:r>
            <a:r>
              <a:rPr lang="en-US" dirty="0"/>
              <a:t> </a:t>
            </a:r>
            <a:r>
              <a:rPr lang="en-US" dirty="0" err="1"/>
              <a:t>wurde</a:t>
            </a:r>
            <a:r>
              <a:rPr lang="en-US" dirty="0"/>
              <a:t>, </a:t>
            </a:r>
            <a:r>
              <a:rPr lang="en-US" dirty="0" err="1"/>
              <a:t>heißt</a:t>
            </a:r>
            <a:r>
              <a:rPr lang="en-US" dirty="0"/>
              <a:t> es nicht das es so ins </a:t>
            </a:r>
            <a:r>
              <a:rPr lang="en-US" dirty="0" err="1"/>
              <a:t>Produktivsystem</a:t>
            </a:r>
            <a:r>
              <a:rPr lang="en-US" dirty="0"/>
              <a:t> </a:t>
            </a:r>
            <a:r>
              <a:rPr lang="en-US" dirty="0" err="1"/>
              <a:t>übernommen</a:t>
            </a:r>
            <a:r>
              <a:rPr lang="en-US" dirty="0"/>
              <a:t> </a:t>
            </a:r>
            <a:r>
              <a:rPr lang="en-US" dirty="0" err="1"/>
              <a:t>werden</a:t>
            </a:r>
            <a:r>
              <a:rPr lang="en-US" dirty="0"/>
              <a:t> </a:t>
            </a:r>
            <a:r>
              <a:rPr lang="en-US" dirty="0" err="1"/>
              <a:t>sollte</a:t>
            </a:r>
            <a:endParaRPr lang="en-US" dirty="0"/>
          </a:p>
          <a:p>
            <a:pPr marL="171450" indent="-171450">
              <a:buFontTx/>
              <a:buChar char="-"/>
            </a:pPr>
            <a:r>
              <a:rPr lang="en-US" dirty="0" err="1"/>
              <a:t>Durchgehen</a:t>
            </a:r>
            <a:r>
              <a:rPr lang="en-US" dirty="0"/>
              <a:t> der </a:t>
            </a:r>
            <a:r>
              <a:rPr lang="en-US" dirty="0" err="1"/>
              <a:t>einzelnen</a:t>
            </a:r>
            <a:r>
              <a:rPr lang="en-US" dirty="0"/>
              <a:t> Prüfklassen</a:t>
            </a:r>
          </a:p>
          <a:p>
            <a:pPr marL="171450" indent="-171450">
              <a:buFontTx/>
              <a:buChar char="-"/>
            </a:pPr>
            <a:r>
              <a:rPr lang="en-US" dirty="0" err="1"/>
              <a:t>Gesamte</a:t>
            </a:r>
            <a:r>
              <a:rPr lang="en-US" dirty="0"/>
              <a:t> Policy </a:t>
            </a:r>
            <a:r>
              <a:rPr lang="en-US" dirty="0" err="1"/>
              <a:t>auch</a:t>
            </a:r>
            <a:r>
              <a:rPr lang="en-US" dirty="0"/>
              <a:t> in der </a:t>
            </a:r>
            <a:r>
              <a:rPr lang="en-US" dirty="0" err="1"/>
              <a:t>thresholds.yaml</a:t>
            </a:r>
            <a:r>
              <a:rPr lang="en-US" dirty="0"/>
              <a:t> </a:t>
            </a:r>
            <a:r>
              <a:rPr lang="en-US" dirty="0" err="1"/>
              <a:t>Datei</a:t>
            </a:r>
            <a:r>
              <a:rPr lang="en-US" dirty="0"/>
              <a:t> </a:t>
            </a:r>
            <a:r>
              <a:rPr lang="en-US" dirty="0" err="1"/>
              <a:t>festgelegt</a:t>
            </a:r>
            <a:r>
              <a:rPr lang="en-US" dirty="0"/>
              <a:t> -&gt; Zeigen </a:t>
            </a:r>
            <a:r>
              <a:rPr lang="en-US" dirty="0" err="1"/>
              <a:t>im</a:t>
            </a:r>
            <a:r>
              <a:rPr lang="en-US" dirty="0"/>
              <a:t> Code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53515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Zeitbudget</a:t>
            </a:r>
            <a:r>
              <a:rPr dirty="0"/>
              <a:t>: </a:t>
            </a:r>
            <a:r>
              <a:rPr lang="en-US" dirty="0"/>
              <a:t>60</a:t>
            </a:r>
            <a:r>
              <a:rPr dirty="0"/>
              <a:t> </a:t>
            </a:r>
            <a:r>
              <a:rPr dirty="0" err="1"/>
              <a:t>Sekunden</a:t>
            </a:r>
            <a:endParaRPr dirty="0"/>
          </a:p>
          <a:p>
            <a:endParaRPr lang="en-US" dirty="0"/>
          </a:p>
          <a:p>
            <a:pPr marL="171450" indent="-171450">
              <a:buFontTx/>
              <a:buChar char="-"/>
            </a:pPr>
            <a:r>
              <a:rPr lang="de-DE" dirty="0"/>
              <a:t>Zusammenfassung der Prüfklassen und der automatischen Ablehnungen</a:t>
            </a:r>
          </a:p>
          <a:p>
            <a:pPr marL="171450" indent="-171450">
              <a:buFontTx/>
              <a:buChar char="-"/>
            </a:pPr>
            <a:r>
              <a:rPr lang="de-DE" dirty="0"/>
              <a:t>Darstellen der 3 Return Codes</a:t>
            </a:r>
          </a:p>
          <a:p>
            <a:pPr marL="171450" indent="-171450">
              <a:buFontTx/>
              <a:buChar char="-"/>
            </a:pPr>
            <a:r>
              <a:rPr lang="de-DE" dirty="0"/>
              <a:t>Darstellen warum genau es noch den Return Code ERROR</a:t>
            </a:r>
          </a:p>
          <a:p>
            <a:pPr marL="171450" indent="-171450">
              <a:buFontTx/>
              <a:buChar char="-"/>
            </a:pPr>
            <a:r>
              <a:rPr lang="de-DE" dirty="0"/>
              <a:t>Nur weil ein Check-Status PASS durchgekommen ist, heißt es nicht das die Anwendung sicher 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Zeitbudget</a:t>
            </a:r>
            <a:r>
              <a:rPr dirty="0"/>
              <a:t>: </a:t>
            </a:r>
            <a:r>
              <a:rPr lang="en-US" dirty="0"/>
              <a:t>60</a:t>
            </a:r>
            <a:r>
              <a:rPr dirty="0"/>
              <a:t> </a:t>
            </a:r>
            <a:r>
              <a:rPr dirty="0" err="1"/>
              <a:t>Sekunden</a:t>
            </a:r>
            <a:endParaRPr dirty="0"/>
          </a:p>
          <a:p>
            <a:endParaRPr lang="en-US" dirty="0"/>
          </a:p>
          <a:p>
            <a:pPr marL="171450" indent="-171450">
              <a:buFontTx/>
              <a:buChar char="-"/>
            </a:pPr>
            <a:r>
              <a:rPr lang="de-DE" dirty="0"/>
              <a:t>18 echte und erfolgreiche Durchläufe der Anwendungen und Pipeline</a:t>
            </a:r>
          </a:p>
          <a:p>
            <a:pPr marL="171450" indent="-171450">
              <a:buFontTx/>
              <a:buChar char="-"/>
            </a:pPr>
            <a:r>
              <a:rPr lang="de-DE" dirty="0"/>
              <a:t>Davon sind 6 Smoke-Tests, die einfach die Anwendungen ausführen ohne durch die Pipeline zu laufen</a:t>
            </a:r>
          </a:p>
          <a:p>
            <a:pPr marL="171450" indent="-171450">
              <a:buFontTx/>
              <a:buChar char="-"/>
            </a:pPr>
            <a:r>
              <a:rPr lang="de-DE" dirty="0"/>
              <a:t>Davon sind 6 Offline Läufe, die die Tools verwenden ohne Internetzugang und mit </a:t>
            </a:r>
            <a:r>
              <a:rPr lang="de-DE" dirty="0" err="1"/>
              <a:t>gecachten</a:t>
            </a:r>
            <a:r>
              <a:rPr lang="de-DE" dirty="0"/>
              <a:t> Datenbanken</a:t>
            </a:r>
          </a:p>
          <a:p>
            <a:pPr marL="171450" indent="-171450">
              <a:buFontTx/>
              <a:buChar char="-"/>
            </a:pPr>
            <a:r>
              <a:rPr lang="de-DE" dirty="0"/>
              <a:t>Davon sind 6 Online Läufe, die die Tools verwenden mit Internetzugang und mit aktuellen Datenbanken</a:t>
            </a:r>
          </a:p>
          <a:p>
            <a:pPr marL="171450" indent="-171450">
              <a:buFontTx/>
              <a:buChar char="-"/>
            </a:pPr>
            <a:r>
              <a:rPr lang="de-DE" dirty="0"/>
              <a:t>Zusätzlich dazu wird die Pipeline auch mit 41 Unit-Tests erfolgreich durchlaufen</a:t>
            </a:r>
          </a:p>
          <a:p>
            <a:pPr marL="171450" indent="-171450">
              <a:buFontTx/>
              <a:buChar char="-"/>
            </a:pPr>
            <a:r>
              <a:rPr lang="en-US" dirty="0" err="1"/>
              <a:t>Darstellen</a:t>
            </a:r>
            <a:r>
              <a:rPr lang="en-US" dirty="0"/>
              <a:t> der </a:t>
            </a:r>
            <a:r>
              <a:rPr lang="en-US" dirty="0" err="1"/>
              <a:t>Ergebnisse</a:t>
            </a:r>
            <a:r>
              <a:rPr lang="en-US" dirty="0"/>
              <a:t> </a:t>
            </a:r>
            <a:r>
              <a:rPr lang="en-US" dirty="0" err="1"/>
              <a:t>bei</a:t>
            </a:r>
            <a:r>
              <a:rPr lang="en-US" dirty="0"/>
              <a:t> den </a:t>
            </a:r>
            <a:r>
              <a:rPr lang="en-US" dirty="0" err="1"/>
              <a:t>einzelnen</a:t>
            </a:r>
            <a:r>
              <a:rPr lang="en-US" dirty="0"/>
              <a:t> </a:t>
            </a:r>
            <a:r>
              <a:rPr lang="en-US" dirty="0" err="1"/>
              <a:t>Programmen</a:t>
            </a:r>
            <a:endParaRPr lang="en-US" dirty="0"/>
          </a:p>
          <a:p>
            <a:pPr marL="171450" indent="-171450">
              <a:buFontTx/>
              <a:buChar char="-"/>
            </a:pPr>
            <a:r>
              <a:rPr lang="en-US" dirty="0" err="1"/>
              <a:t>Ausnahem</a:t>
            </a:r>
            <a:r>
              <a:rPr lang="en-US" dirty="0"/>
              <a:t> </a:t>
            </a:r>
            <a:r>
              <a:rPr lang="en-US" dirty="0" err="1"/>
              <a:t>bezieht</a:t>
            </a:r>
            <a:r>
              <a:rPr lang="en-US" dirty="0"/>
              <a:t> </a:t>
            </a:r>
            <a:r>
              <a:rPr lang="en-US" dirty="0" err="1"/>
              <a:t>sich</a:t>
            </a:r>
            <a:r>
              <a:rPr lang="en-US" dirty="0"/>
              <a:t> auf </a:t>
            </a:r>
            <a:r>
              <a:rPr lang="en-US" dirty="0" err="1"/>
              <a:t>eine</a:t>
            </a:r>
            <a:r>
              <a:rPr lang="en-US" dirty="0"/>
              <a:t> von </a:t>
            </a:r>
            <a:r>
              <a:rPr lang="en-US" dirty="0" err="1"/>
              <a:t>Dockle</a:t>
            </a:r>
            <a:r>
              <a:rPr lang="en-US" dirty="0"/>
              <a:t> </a:t>
            </a:r>
            <a:r>
              <a:rPr lang="en-US" dirty="0" err="1"/>
              <a:t>gefundenes</a:t>
            </a:r>
            <a:r>
              <a:rPr lang="en-US" dirty="0"/>
              <a:t> Finding</a:t>
            </a:r>
          </a:p>
          <a:p>
            <a:pPr marL="171450" indent="-171450">
              <a:buFontTx/>
              <a:buChar char="-"/>
            </a:pPr>
            <a:r>
              <a:rPr lang="de-DE" sz="1200" b="0" i="0" kern="1200" dirty="0" err="1">
                <a:effectLst/>
              </a:rPr>
              <a:t>Dockle</a:t>
            </a:r>
            <a:r>
              <a:rPr lang="de-DE" sz="1200" b="0" i="0" kern="1200" dirty="0">
                <a:effectLst/>
              </a:rPr>
              <a:t> meldet einen Befehl aus dem verwendeten Python-Basisimage. Das Finding war das ein Befehl ausgelöst wird, welcher einen Cache erzeugt. Der Befehl sieht für </a:t>
            </a:r>
            <a:r>
              <a:rPr lang="de-DE" sz="1200" b="0" i="0" kern="1200" dirty="0" err="1">
                <a:effectLst/>
              </a:rPr>
              <a:t>Dockle</a:t>
            </a:r>
            <a:r>
              <a:rPr lang="de-DE" sz="1200" b="0" i="0" kern="1200" dirty="0">
                <a:effectLst/>
              </a:rPr>
              <a:t> unsicher aus, hinterlässt bei uns aber keinen Paket-Cache. Deshalb akzeptieren wir genau dieses Finding als begründete Ausnahme.</a:t>
            </a:r>
            <a:endParaRPr lang="en-US" dirty="0"/>
          </a:p>
          <a:p>
            <a:pPr marL="171450" indent="-171450">
              <a:buFontTx/>
              <a:buChar char="-"/>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Zeitbudget</a:t>
            </a:r>
            <a:r>
              <a:rPr dirty="0"/>
              <a:t>: </a:t>
            </a:r>
            <a:r>
              <a:rPr lang="en-US" dirty="0"/>
              <a:t>60</a:t>
            </a:r>
            <a:r>
              <a:rPr dirty="0"/>
              <a:t> </a:t>
            </a:r>
            <a:r>
              <a:rPr dirty="0" err="1"/>
              <a:t>Sekunden</a:t>
            </a:r>
            <a:endParaRPr dirty="0"/>
          </a:p>
          <a:p>
            <a:endParaRPr lang="de-DE" dirty="0"/>
          </a:p>
          <a:p>
            <a:pPr marL="171450" indent="-171450">
              <a:buFontTx/>
              <a:buChar char="-"/>
            </a:pPr>
            <a:r>
              <a:rPr lang="de-DE" dirty="0"/>
              <a:t>Anfangs waren die CI-Pfade und der </a:t>
            </a:r>
            <a:r>
              <a:rPr lang="de-DE" dirty="0" err="1"/>
              <a:t>Git</a:t>
            </a:r>
            <a:r>
              <a:rPr lang="de-DE" dirty="0"/>
              <a:t>-Stamm falsch gesetzt in unseren </a:t>
            </a:r>
            <a:r>
              <a:rPr lang="de-DE" dirty="0" err="1"/>
              <a:t>Github</a:t>
            </a:r>
            <a:r>
              <a:rPr lang="de-DE" dirty="0"/>
              <a:t> Actions Workflow. Durch die Korrektur haben wir den richtigen </a:t>
            </a:r>
            <a:r>
              <a:rPr lang="de-DE" dirty="0" err="1"/>
              <a:t>Git</a:t>
            </a:r>
            <a:r>
              <a:rPr lang="de-DE" dirty="0"/>
              <a:t>-Stamm und das richtige Arbeitsverzeichnis gesetzt</a:t>
            </a:r>
          </a:p>
          <a:p>
            <a:pPr marL="171450" indent="-171450">
              <a:buFontTx/>
              <a:buChar char="-"/>
            </a:pPr>
            <a:r>
              <a:rPr lang="de-DE" dirty="0"/>
              <a:t>Zudem hat ein Scanner Ausfall bei uns anfangs einen Pass geliefert. Dies haben wir </a:t>
            </a:r>
            <a:r>
              <a:rPr lang="de-DE" dirty="0" err="1"/>
              <a:t>korregiert</a:t>
            </a:r>
            <a:r>
              <a:rPr lang="de-DE" dirty="0"/>
              <a:t> indem wir den Checkzustand und den Pflichtreport validiert haben und ohne Pflichtreports oder kaputte Report einen ERROR Code ausgeben</a:t>
            </a:r>
          </a:p>
          <a:p>
            <a:pPr marL="171450" indent="-171450">
              <a:buFontTx/>
              <a:buChar char="-"/>
            </a:pPr>
            <a:r>
              <a:rPr lang="de-DE" dirty="0"/>
              <a:t>Durch unseren Ansatz einer gefährdeten Variante haben wir eine CLI gebaut die nicht lauffähig war. Hier mussten wir die Packages so anpassen, dass die </a:t>
            </a:r>
            <a:r>
              <a:rPr lang="de-DE" dirty="0" err="1"/>
              <a:t>Aplikation</a:t>
            </a:r>
            <a:r>
              <a:rPr lang="de-DE" dirty="0"/>
              <a:t> lauffähig war, jedoch weiterhin </a:t>
            </a:r>
            <a:r>
              <a:rPr lang="de-DE" dirty="0" err="1"/>
              <a:t>Vulnerabilitys</a:t>
            </a:r>
            <a:r>
              <a:rPr lang="de-DE" dirty="0"/>
              <a:t> erzeugte</a:t>
            </a:r>
          </a:p>
          <a:p>
            <a:pPr marL="171450" indent="-171450">
              <a:buFontTx/>
              <a:buChar char="-"/>
            </a:pPr>
            <a:r>
              <a:rPr lang="de-DE" dirty="0"/>
              <a:t>Im Laufe des Projekts haben wir künstliche Intelligenz verwendet um die Entwicklung zu unterstützen, dieser benutzte jedoch alte oder falsche Pakete oder erzeugte Code der nur Ausgaben generierte ohne irgendwas zu prüfen. Hier mussten wir manuell die Codestellen einmal prüfen und detailliert Prompten mit MCP Verwendung wie beispielsweise Context7, um korrekte Packages zu verwenden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Zeitbudget</a:t>
            </a:r>
            <a:r>
              <a:rPr dirty="0"/>
              <a:t>: </a:t>
            </a:r>
            <a:r>
              <a:rPr lang="en-US" dirty="0"/>
              <a:t>6</a:t>
            </a:r>
            <a:r>
              <a:rPr dirty="0"/>
              <a:t>0 </a:t>
            </a:r>
            <a:r>
              <a:rPr dirty="0" err="1"/>
              <a:t>Sekunden</a:t>
            </a:r>
            <a:endParaRPr dirty="0"/>
          </a:p>
          <a:p>
            <a:endParaRPr lang="en-US" dirty="0"/>
          </a:p>
          <a:p>
            <a:pPr marL="171450" indent="-171450">
              <a:buFontTx/>
              <a:buChar char="-"/>
            </a:pPr>
            <a:r>
              <a:rPr lang="de-DE" dirty="0"/>
              <a:t>Nur weil ein Scanner gestartet ist, heißt es nicht gleich das es ein erfolgreicher Check ist. Der ausgegebene Exit-Code, der Checkstatus sowie der Report müssen inhaltlich </a:t>
            </a:r>
            <a:r>
              <a:rPr lang="de-DE" dirty="0" err="1"/>
              <a:t>zusammpassen</a:t>
            </a:r>
            <a:r>
              <a:rPr lang="de-DE" dirty="0"/>
              <a:t> um einen erfolgreichen Check zu gewährleisten</a:t>
            </a:r>
          </a:p>
          <a:p>
            <a:pPr marL="171450" indent="-171450">
              <a:buFontTx/>
              <a:buChar char="-"/>
            </a:pPr>
            <a:r>
              <a:rPr lang="de-DE" dirty="0"/>
              <a:t>Die Prüfung der Lauffähigkeit und der Sicherheitsabfrage sind zwei getrennte Nachweise. Nur weil eine Applikation startet, heißt es noch lange nicht das diese sicher ist</a:t>
            </a:r>
          </a:p>
          <a:p>
            <a:pPr marL="171450" indent="-171450">
              <a:buFontTx/>
              <a:buChar char="-"/>
            </a:pPr>
            <a:r>
              <a:rPr lang="de-DE" dirty="0"/>
              <a:t>Bei jedem Finding muss der Anwendungskontext hinterfragt werden. Nicht jede Paketmeldung, der konkrete Codefehler sind kritisch und können Fehlalarme sein. Dies muss immer im Kontext der Anwendung unter Betracht gezogen werden</a:t>
            </a:r>
          </a:p>
          <a:p>
            <a:pPr marL="171450" indent="-171450">
              <a:buFontTx/>
              <a:buChar char="-"/>
            </a:pPr>
            <a:r>
              <a:rPr lang="de-DE" dirty="0"/>
              <a:t>Zum Reproduzieren des Ergebnisse braucht man nicht nur die Tools die wir verwendet haben. Hier sind viele Faktoren wie die Regeln, die Quellen, Images, die CVE-Datenbank und Cache können die Ergebnisse der Pipeline </a:t>
            </a:r>
            <a:r>
              <a:rPr lang="de-DE" dirty="0" err="1"/>
              <a:t>beinflussen</a:t>
            </a:r>
            <a:endParaRPr lang="de-DE"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sz="1200" b="0" kern="1200" dirty="0">
                <a:effectLst/>
              </a:rPr>
              <a:t>CVE: Common </a:t>
            </a:r>
            <a:r>
              <a:rPr lang="de-DE" sz="1200" b="0" kern="1200" dirty="0" err="1">
                <a:effectLst/>
              </a:rPr>
              <a:t>Vulnerabilities</a:t>
            </a:r>
            <a:r>
              <a:rPr lang="de-DE" sz="1200" b="0" kern="1200" dirty="0">
                <a:effectLst/>
              </a:rPr>
              <a:t> and </a:t>
            </a:r>
            <a:r>
              <a:rPr lang="de-DE" sz="1200" b="0" kern="1200" dirty="0" err="1">
                <a:effectLst/>
              </a:rPr>
              <a:t>Exposures</a:t>
            </a:r>
            <a:r>
              <a:rPr lang="de-DE" sz="1200" b="0" kern="1200" dirty="0">
                <a:effectLst/>
              </a:rPr>
              <a:t> – öffentlich registrierte, benannte Schwachstelle in einer </a:t>
            </a:r>
            <a:r>
              <a:rPr lang="de-DE" sz="1200" b="0" kern="1200">
                <a:effectLst/>
              </a:rPr>
              <a:t>konkreten Software-Version</a:t>
            </a:r>
            <a:endParaRPr lang="de-DE" sz="1200" b="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1A2EF-5CA4-5F25-B4D3-262F51D83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34B29-BA2E-68A0-976E-7D8105D747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0D3C8D-99D5-C48F-510D-4AC642412D52}"/>
              </a:ext>
            </a:extLst>
          </p:cNvPr>
          <p:cNvSpPr>
            <a:spLocks noGrp="1"/>
          </p:cNvSpPr>
          <p:nvPr>
            <p:ph type="body" idx="1"/>
          </p:nvPr>
        </p:nvSpPr>
        <p:spPr/>
        <p:txBody>
          <a:bodyPr/>
          <a:lstStyle/>
          <a:p>
            <a:r>
              <a:rPr lang="en-US" dirty="0" err="1"/>
              <a:t>Abschließende</a:t>
            </a:r>
            <a:r>
              <a:rPr lang="en-US" dirty="0"/>
              <a:t> Folie</a:t>
            </a:r>
            <a:endParaRPr dirty="0"/>
          </a:p>
        </p:txBody>
      </p:sp>
      <p:sp>
        <p:nvSpPr>
          <p:cNvPr id="4" name="Slide Number Placeholder 3">
            <a:extLst>
              <a:ext uri="{FF2B5EF4-FFF2-40B4-BE49-F238E27FC236}">
                <a16:creationId xmlns:a16="http://schemas.microsoft.com/office/drawing/2014/main" id="{4A4A997E-2153-585D-5593-B49C6661B13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79649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76E9A23-B058-4F94-A7FE-F4691E78C12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5D343223-C221-4E70-A8C5-45F5C1C91C6D}"/>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02E9421-FFFA-416F-9AF4-7A557DA4039E}"/>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48EB353-DF03-4091-A4F4-A14702AA655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EBFE169C-8A0D-41D4-91C3-C00CABDC3B2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4CAA683C-5B48-42BB-A37E-D36E36D7075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BB7FFE9-E507-4AFA-A347-04F08411E3E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EC2DC760-9A0C-442A-BC34-CAE14FA15E7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87853C9-1ABC-4801-B704-4B0D204C0E8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B864269-EE9D-408E-A5AC-D425914500F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6CABD5-1380-4058-92B7-2F472C0B68BD}"/>
              </a:ext>
            </a:extLst>
          </p:cNvPr>
          <p:cNvPicPr>
            <a:picLocks noChangeAspect="1"/>
          </p:cNvPicPr>
          <p:nvPr/>
        </p:nvPicPr>
        <p:blipFill>
          <a:blip r:embed="rId3"/>
          <a:stretch/>
        </p:blipFill>
        <p:spPr>
          <a:xfrm>
            <a:off x="-57150" y="2733860"/>
            <a:ext cx="12325350" cy="4181289"/>
          </a:xfrm>
          <a:prstGeom prst="rect">
            <a:avLst/>
          </a:prstGeom>
        </p:spPr>
      </p:pic>
      <p:pic>
        <p:nvPicPr>
          <p:cNvPr id="2" name="Picture 1">
            <a:extLst>
              <a:ext uri="{FF2B5EF4-FFF2-40B4-BE49-F238E27FC236}">
                <a16:creationId xmlns:a16="http://schemas.microsoft.com/office/drawing/2014/main" id="{A8B434D8-1BEB-473A-A129-EA8BE93BE6AF}"/>
              </a:ext>
            </a:extLst>
          </p:cNvPr>
          <p:cNvPicPr>
            <a:picLocks noChangeAspect="1"/>
          </p:cNvPicPr>
          <p:nvPr/>
        </p:nvPicPr>
        <p:blipFill>
          <a:blip r:embed="rId4"/>
          <a:stretch/>
        </p:blipFill>
        <p:spPr>
          <a:xfrm>
            <a:off x="9906000" y="381000"/>
            <a:ext cx="1657350" cy="886682"/>
          </a:xfrm>
          <a:prstGeom prst="rect">
            <a:avLst/>
          </a:prstGeom>
        </p:spPr>
      </p:pic>
      <p:sp>
        <p:nvSpPr>
          <p:cNvPr id="3" name="DevSecOps-Pipeline">
            <a:extLst>
              <a:ext uri="{FF2B5EF4-FFF2-40B4-BE49-F238E27FC236}">
                <a16:creationId xmlns:a16="http://schemas.microsoft.com/office/drawing/2014/main" id="{730069C0-5B44-4CF2-A833-D8340D5BFB82}"/>
              </a:ext>
            </a:extLst>
          </p:cNvPr>
          <p:cNvSpPr>
            <a:spLocks noGrp="1"/>
          </p:cNvSpPr>
          <p:nvPr/>
        </p:nvSpPr>
        <p:spPr>
          <a:xfrm>
            <a:off x="704850" y="1495425"/>
            <a:ext cx="10287000" cy="857250"/>
          </a:xfrm>
          <a:prstGeom prst="rect">
            <a:avLst/>
          </a:prstGeom>
          <a:noFill/>
          <a:ln w="0">
            <a:noFill/>
          </a:ln>
        </p:spPr>
        <p:txBody>
          <a:bodyPr wrap="square" lIns="0" tIns="0" rIns="0" bIns="0" anchor="t">
            <a:noAutofit/>
          </a:bodyPr>
          <a:lstStyle>
            <a:defPPr algn="l">
              <a:defRPr sz="4800" b="0">
                <a:solidFill>
                  <a:srgbClr val="52616A"/>
                </a:solidFill>
                <a:latin typeface="Calibri"/>
                <a:ea typeface="Calibri"/>
                <a:cs typeface="Calibri"/>
              </a:defRPr>
            </a:defPPr>
          </a:lstStyle>
          <a:p>
            <a:pPr algn="l">
              <a:defRPr sz="4800" b="0">
                <a:solidFill>
                  <a:srgbClr val="52616A"/>
                </a:solidFill>
                <a:latin typeface="Calibri"/>
                <a:ea typeface="Calibri"/>
                <a:cs typeface="Calibri"/>
              </a:defRPr>
            </a:pPr>
            <a:r>
              <a:rPr sz="4800" b="0" dirty="0" err="1">
                <a:solidFill>
                  <a:srgbClr val="52616A"/>
                </a:solidFill>
                <a:latin typeface="Calibri"/>
                <a:ea typeface="Calibri"/>
                <a:cs typeface="Calibri"/>
              </a:rPr>
              <a:t>DevSecOps</a:t>
            </a:r>
            <a:r>
              <a:rPr sz="4800" b="0" dirty="0">
                <a:solidFill>
                  <a:srgbClr val="52616A"/>
                </a:solidFill>
                <a:latin typeface="Calibri"/>
                <a:ea typeface="Calibri"/>
                <a:cs typeface="Calibri"/>
              </a:rPr>
              <a:t>-Pipeline</a:t>
            </a:r>
          </a:p>
        </p:txBody>
      </p:sp>
      <p:sp>
        <p:nvSpPr>
          <p:cNvPr id="4" name="Automatisierte Sicherheitsprüfungen für drei Python-Programm">
            <a:extLst>
              <a:ext uri="{FF2B5EF4-FFF2-40B4-BE49-F238E27FC236}">
                <a16:creationId xmlns:a16="http://schemas.microsoft.com/office/drawing/2014/main" id="{2C0B5EF9-6C5F-4211-BC02-6212E3363793}"/>
              </a:ext>
            </a:extLst>
          </p:cNvPr>
          <p:cNvSpPr>
            <a:spLocks noGrp="1"/>
          </p:cNvSpPr>
          <p:nvPr/>
        </p:nvSpPr>
        <p:spPr>
          <a:xfrm>
            <a:off x="723900" y="2476500"/>
            <a:ext cx="9525000" cy="590550"/>
          </a:xfrm>
          <a:prstGeom prst="rect">
            <a:avLst/>
          </a:prstGeom>
          <a:noFill/>
          <a:ln w="0">
            <a:noFill/>
          </a:ln>
        </p:spPr>
        <p:txBody>
          <a:bodyPr wrap="square" lIns="0" tIns="0" rIns="0" bIns="0" anchor="t">
            <a:noAutofit/>
          </a:bodyPr>
          <a:lstStyle>
            <a:defPPr algn="l">
              <a:defRPr sz="2175" b="0">
                <a:solidFill>
                  <a:srgbClr val="E2001A"/>
                </a:solidFill>
                <a:latin typeface="Calibri"/>
                <a:ea typeface="Calibri"/>
                <a:cs typeface="Calibri"/>
              </a:defRPr>
            </a:defPPr>
          </a:lstStyle>
          <a:p>
            <a:pPr algn="l">
              <a:defRPr sz="2175" b="0">
                <a:solidFill>
                  <a:srgbClr val="E2001A"/>
                </a:solidFill>
                <a:latin typeface="Calibri"/>
                <a:ea typeface="Calibri"/>
                <a:cs typeface="Calibri"/>
              </a:defRPr>
            </a:pPr>
            <a:r>
              <a:rPr sz="2175" b="0" dirty="0" err="1">
                <a:solidFill>
                  <a:srgbClr val="E2001A"/>
                </a:solidFill>
                <a:latin typeface="Calibri"/>
                <a:ea typeface="Calibri"/>
                <a:cs typeface="Calibri"/>
              </a:rPr>
              <a:t>Automatisierte</a:t>
            </a:r>
            <a:r>
              <a:rPr sz="2175" b="0" dirty="0">
                <a:solidFill>
                  <a:srgbClr val="E2001A"/>
                </a:solidFill>
                <a:latin typeface="Calibri"/>
                <a:ea typeface="Calibri"/>
                <a:cs typeface="Calibri"/>
              </a:rPr>
              <a:t> </a:t>
            </a:r>
            <a:r>
              <a:rPr sz="2175" b="0" dirty="0" err="1">
                <a:solidFill>
                  <a:srgbClr val="E2001A"/>
                </a:solidFill>
                <a:latin typeface="Calibri"/>
                <a:ea typeface="Calibri"/>
                <a:cs typeface="Calibri"/>
              </a:rPr>
              <a:t>Sicherheitsprüfungen</a:t>
            </a:r>
            <a:r>
              <a:rPr sz="2175" b="0" dirty="0">
                <a:solidFill>
                  <a:srgbClr val="E2001A"/>
                </a:solidFill>
                <a:latin typeface="Calibri"/>
                <a:ea typeface="Calibri"/>
                <a:cs typeface="Calibri"/>
              </a:rPr>
              <a:t> für </a:t>
            </a:r>
            <a:r>
              <a:rPr sz="2175" b="0" dirty="0" err="1">
                <a:solidFill>
                  <a:srgbClr val="E2001A"/>
                </a:solidFill>
                <a:latin typeface="Calibri"/>
                <a:ea typeface="Calibri"/>
                <a:cs typeface="Calibri"/>
              </a:rPr>
              <a:t>drei</a:t>
            </a:r>
            <a:r>
              <a:rPr sz="2175" b="0" dirty="0">
                <a:solidFill>
                  <a:srgbClr val="E2001A"/>
                </a:solidFill>
                <a:latin typeface="Calibri"/>
                <a:ea typeface="Calibri"/>
                <a:cs typeface="Calibri"/>
              </a:rPr>
              <a:t> Python-</a:t>
            </a:r>
            <a:r>
              <a:rPr sz="2175" b="0" dirty="0" err="1">
                <a:solidFill>
                  <a:srgbClr val="E2001A"/>
                </a:solidFill>
                <a:latin typeface="Calibri"/>
                <a:ea typeface="Calibri"/>
                <a:cs typeface="Calibri"/>
              </a:rPr>
              <a:t>Programme</a:t>
            </a:r>
            <a:endParaRPr sz="2175" b="0" dirty="0">
              <a:solidFill>
                <a:srgbClr val="E2001A"/>
              </a:solidFill>
              <a:latin typeface="Calibri"/>
              <a:ea typeface="Calibri"/>
              <a:cs typeface="Calibri"/>
            </a:endParaRPr>
          </a:p>
        </p:txBody>
      </p:sp>
      <p:sp>
        <p:nvSpPr>
          <p:cNvPr id="5" name="IT-Sicherheit bei Herrn Graupner">
            <a:extLst>
              <a:ext uri="{FF2B5EF4-FFF2-40B4-BE49-F238E27FC236}">
                <a16:creationId xmlns:a16="http://schemas.microsoft.com/office/drawing/2014/main" id="{62FC40B8-AAD0-4496-8C1E-115787A1B65D}"/>
              </a:ext>
            </a:extLst>
          </p:cNvPr>
          <p:cNvSpPr>
            <a:spLocks noGrp="1"/>
          </p:cNvSpPr>
          <p:nvPr/>
        </p:nvSpPr>
        <p:spPr>
          <a:xfrm>
            <a:off x="723900" y="3314700"/>
            <a:ext cx="9525000" cy="381000"/>
          </a:xfrm>
          <a:prstGeom prst="rect">
            <a:avLst/>
          </a:prstGeom>
          <a:noFill/>
          <a:ln w="0">
            <a:noFill/>
          </a:ln>
        </p:spPr>
        <p:txBody>
          <a:bodyPr wrap="square" lIns="0" tIns="0" rIns="0" bIns="0" anchor="t">
            <a:noAutofit/>
          </a:bodyPr>
          <a:lstStyle>
            <a:defPPr algn="l">
              <a:defRPr sz="2025" b="0">
                <a:solidFill>
                  <a:srgbClr val="263640"/>
                </a:solidFill>
                <a:latin typeface="Calibri"/>
                <a:ea typeface="Calibri"/>
                <a:cs typeface="Calibri"/>
              </a:defRPr>
            </a:defPPr>
          </a:lstStyle>
          <a:p>
            <a:pPr algn="l">
              <a:defRPr sz="2025" b="0">
                <a:solidFill>
                  <a:srgbClr val="263640"/>
                </a:solidFill>
                <a:latin typeface="Calibri"/>
                <a:ea typeface="Calibri"/>
                <a:cs typeface="Calibri"/>
              </a:defRPr>
            </a:pPr>
            <a:r>
              <a:rPr sz="2025" b="0" dirty="0">
                <a:solidFill>
                  <a:srgbClr val="263640"/>
                </a:solidFill>
                <a:latin typeface="Calibri"/>
                <a:ea typeface="Calibri"/>
                <a:cs typeface="Calibri"/>
              </a:rPr>
              <a:t>IT-Sicherhei</a:t>
            </a:r>
            <a:r>
              <a:rPr lang="en-US" sz="2025" b="0" dirty="0">
                <a:solidFill>
                  <a:srgbClr val="263640"/>
                </a:solidFill>
                <a:latin typeface="Calibri"/>
                <a:ea typeface="Calibri"/>
                <a:cs typeface="Calibri"/>
              </a:rPr>
              <a:t>t</a:t>
            </a:r>
            <a:endParaRPr sz="2025" b="0" dirty="0">
              <a:solidFill>
                <a:srgbClr val="263640"/>
              </a:solidFill>
              <a:latin typeface="Calibri"/>
              <a:ea typeface="Calibri"/>
              <a:cs typeface="Calibri"/>
            </a:endParaRPr>
          </a:p>
        </p:txBody>
      </p:sp>
      <p:sp>
        <p:nvSpPr>
          <p:cNvPr id="6" name="Lukas Breuer, Leo Hofmann, Maxim Krüger&#10;und Valentin Gehrig">
            <a:extLst>
              <a:ext uri="{FF2B5EF4-FFF2-40B4-BE49-F238E27FC236}">
                <a16:creationId xmlns:a16="http://schemas.microsoft.com/office/drawing/2014/main" id="{8D93AC49-0191-4944-A513-B81579E3927E}"/>
              </a:ext>
            </a:extLst>
          </p:cNvPr>
          <p:cNvSpPr>
            <a:spLocks noGrp="1"/>
          </p:cNvSpPr>
          <p:nvPr/>
        </p:nvSpPr>
        <p:spPr>
          <a:xfrm>
            <a:off x="723900" y="3829050"/>
            <a:ext cx="9525000" cy="800100"/>
          </a:xfrm>
          <a:prstGeom prst="rect">
            <a:avLst/>
          </a:prstGeom>
          <a:noFill/>
          <a:ln w="0">
            <a:noFill/>
          </a:ln>
        </p:spPr>
        <p:txBody>
          <a:bodyPr wrap="square" lIns="0" tIns="0" rIns="0" bIns="0" anchor="t">
            <a:noAutofit/>
          </a:bodyPr>
          <a:lstStyle>
            <a:defPPr algn="l">
              <a:defRPr sz="1950" b="0">
                <a:solidFill>
                  <a:srgbClr val="263640"/>
                </a:solidFill>
                <a:latin typeface="Calibri"/>
                <a:ea typeface="Calibri"/>
                <a:cs typeface="Calibri"/>
              </a:defRPr>
            </a:defPPr>
          </a:lstStyle>
          <a:p>
            <a:pPr algn="l">
              <a:defRPr sz="1950" b="0">
                <a:solidFill>
                  <a:srgbClr val="263640"/>
                </a:solidFill>
                <a:latin typeface="Calibri"/>
                <a:ea typeface="Calibri"/>
                <a:cs typeface="Calibri"/>
              </a:defRPr>
            </a:pPr>
            <a:r>
              <a:rPr sz="1950" b="0" dirty="0">
                <a:solidFill>
                  <a:srgbClr val="263640"/>
                </a:solidFill>
                <a:latin typeface="Calibri"/>
                <a:ea typeface="Calibri"/>
                <a:cs typeface="Calibri"/>
              </a:rPr>
              <a:t>Lukas Breuer, Leo Hofmann, Maxim Krüger</a:t>
            </a:r>
          </a:p>
          <a:p>
            <a:pPr algn="l">
              <a:defRPr sz="1950" b="0">
                <a:solidFill>
                  <a:srgbClr val="263640"/>
                </a:solidFill>
                <a:latin typeface="Calibri"/>
                <a:ea typeface="Calibri"/>
                <a:cs typeface="Calibri"/>
              </a:defRPr>
            </a:pPr>
            <a:r>
              <a:rPr sz="1950" b="0" dirty="0">
                <a:solidFill>
                  <a:srgbClr val="263640"/>
                </a:solidFill>
                <a:latin typeface="Calibri"/>
                <a:ea typeface="Calibri"/>
                <a:cs typeface="Calibri"/>
              </a:rPr>
              <a:t>und Valentin Gehrig</a:t>
            </a:r>
          </a:p>
        </p:txBody>
      </p:sp>
      <p:sp>
        <p:nvSpPr>
          <p:cNvPr id="7" name="Projektstand 21.10.2026">
            <a:extLst>
              <a:ext uri="{FF2B5EF4-FFF2-40B4-BE49-F238E27FC236}">
                <a16:creationId xmlns:a16="http://schemas.microsoft.com/office/drawing/2014/main" id="{D49E2F78-2C4D-4605-B5D5-C3B981D327C7}"/>
              </a:ext>
            </a:extLst>
          </p:cNvPr>
          <p:cNvSpPr>
            <a:spLocks noGrp="1"/>
          </p:cNvSpPr>
          <p:nvPr/>
        </p:nvSpPr>
        <p:spPr>
          <a:xfrm>
            <a:off x="723900" y="6505575"/>
            <a:ext cx="7143750" cy="219075"/>
          </a:xfrm>
          <a:prstGeom prst="rect">
            <a:avLst/>
          </a:prstGeom>
          <a:noFill/>
          <a:ln w="0">
            <a:noFill/>
          </a:ln>
        </p:spPr>
        <p:txBody>
          <a:bodyPr wrap="square" lIns="0" tIns="0" rIns="0" bIns="0" anchor="t">
            <a:noAutofit/>
          </a:bodyPr>
          <a:lstStyle>
            <a:defPPr algn="l">
              <a:defRPr sz="1200" b="0">
                <a:solidFill>
                  <a:srgbClr val="FFFFFF"/>
                </a:solidFill>
                <a:latin typeface="Calibri"/>
                <a:ea typeface="Calibri"/>
                <a:cs typeface="Calibri"/>
              </a:defRPr>
            </a:defPPr>
          </a:lstStyle>
          <a:p>
            <a:pPr algn="l">
              <a:defRPr sz="1200" b="0">
                <a:solidFill>
                  <a:srgbClr val="FFFFFF"/>
                </a:solidFill>
                <a:latin typeface="Calibri"/>
                <a:ea typeface="Calibri"/>
                <a:cs typeface="Calibri"/>
              </a:defRPr>
            </a:pPr>
            <a:r>
              <a:rPr lang="en-US" sz="1200" b="0" dirty="0">
                <a:solidFill>
                  <a:srgbClr val="FFFFFF"/>
                </a:solidFill>
                <a:latin typeface="Calibri"/>
                <a:ea typeface="Calibri"/>
                <a:cs typeface="Calibri"/>
              </a:rPr>
              <a:t>DHBW Mosbach – </a:t>
            </a:r>
            <a:r>
              <a:rPr lang="en-US" sz="1200" b="0" dirty="0" err="1">
                <a:solidFill>
                  <a:srgbClr val="FFFFFF"/>
                </a:solidFill>
                <a:latin typeface="Calibri"/>
                <a:ea typeface="Calibri"/>
                <a:cs typeface="Calibri"/>
              </a:rPr>
              <a:t>Angewandte</a:t>
            </a:r>
            <a:r>
              <a:rPr lang="en-US" sz="1200" b="0" dirty="0">
                <a:solidFill>
                  <a:srgbClr val="FFFFFF"/>
                </a:solidFill>
                <a:latin typeface="Calibri"/>
                <a:ea typeface="Calibri"/>
                <a:cs typeface="Calibri"/>
              </a:rPr>
              <a:t> Informatik | IT-Sicherheit</a:t>
            </a:r>
            <a:endParaRPr sz="1200" b="0" dirty="0">
              <a:solidFill>
                <a:srgbClr val="FFFFFF"/>
              </a:solidFill>
              <a:latin typeface="Calibri"/>
              <a:ea typeface="Calibri"/>
              <a:cs typeface="Calibri"/>
            </a:endParaRPr>
          </a:p>
        </p:txBody>
      </p:sp>
    </p:spTree>
    <p:extLst>
      <p:ext uri="{BB962C8B-B14F-4D97-AF65-F5344CB8AC3E}">
        <p14:creationId xmlns:p14="http://schemas.microsoft.com/office/powerpoint/2010/main" val="1459617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2C37A94-D277-4669-B4B9-BA5E93C1CFED}"/>
              </a:ext>
            </a:extLst>
          </p:cNvPr>
          <p:cNvPicPr>
            <a:picLocks noChangeAspect="1"/>
          </p:cNvPicPr>
          <p:nvPr/>
        </p:nvPicPr>
        <p:blipFill>
          <a:blip r:embed="rId3"/>
          <a:stretch/>
        </p:blipFill>
        <p:spPr>
          <a:xfrm>
            <a:off x="10325100" y="228600"/>
            <a:ext cx="1295400" cy="693039"/>
          </a:xfrm>
          <a:prstGeom prst="rect">
            <a:avLst/>
          </a:prstGeom>
        </p:spPr>
      </p:pic>
      <p:sp>
        <p:nvSpPr>
          <p:cNvPr id="2" name="Aufgabe und geprüfter Umfang">
            <a:extLst>
              <a:ext uri="{FF2B5EF4-FFF2-40B4-BE49-F238E27FC236}">
                <a16:creationId xmlns:a16="http://schemas.microsoft.com/office/drawing/2014/main" id="{C2E4FA52-0120-497B-867F-58511B69259A}"/>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Aufgabe und geprüfter Umfang</a:t>
            </a:r>
          </a:p>
        </p:txBody>
      </p:sp>
      <p:sp>
        <p:nvSpPr>
          <p:cNvPr id="3" name="Rectangle 2">
            <a:extLst>
              <a:ext uri="{FF2B5EF4-FFF2-40B4-BE49-F238E27FC236}">
                <a16:creationId xmlns:a16="http://schemas.microsoft.com/office/drawing/2014/main" id="{38627288-3FC8-41FB-B960-CDAED42142C0}"/>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Skript S. 47 (PDF-Seite 48) und dokumentierte Nachprüfung vo">
            <a:extLst>
              <a:ext uri="{FF2B5EF4-FFF2-40B4-BE49-F238E27FC236}">
                <a16:creationId xmlns:a16="http://schemas.microsoft.com/office/drawing/2014/main" id="{E8CE9CDB-3211-4AAA-A59D-1D85FEA01EEC}"/>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r>
              <a:rPr sz="1200" b="0" dirty="0" err="1">
                <a:solidFill>
                  <a:srgbClr val="52616A"/>
                </a:solidFill>
                <a:latin typeface="Calibri"/>
                <a:ea typeface="Calibri"/>
                <a:cs typeface="Calibri"/>
              </a:rPr>
              <a:t>Skript</a:t>
            </a:r>
            <a:r>
              <a:rPr sz="1200" b="0" dirty="0">
                <a:solidFill>
                  <a:srgbClr val="52616A"/>
                </a:solidFill>
                <a:latin typeface="Calibri"/>
                <a:ea typeface="Calibri"/>
                <a:cs typeface="Calibri"/>
              </a:rPr>
              <a:t> S. 4</a:t>
            </a:r>
            <a:r>
              <a:rPr lang="en-US" sz="1200" b="0" dirty="0">
                <a:solidFill>
                  <a:srgbClr val="52616A"/>
                </a:solidFill>
                <a:latin typeface="Calibri"/>
                <a:ea typeface="Calibri"/>
                <a:cs typeface="Calibri"/>
              </a:rPr>
              <a:t>6</a:t>
            </a:r>
            <a:endParaRPr sz="1200" b="0" dirty="0">
              <a:solidFill>
                <a:srgbClr val="52616A"/>
              </a:solidFill>
              <a:latin typeface="Calibri"/>
              <a:ea typeface="Calibri"/>
              <a:cs typeface="Calibri"/>
            </a:endParaRPr>
          </a:p>
        </p:txBody>
      </p:sp>
      <p:sp>
        <p:nvSpPr>
          <p:cNvPr id="5" name="Rectangle 4">
            <a:extLst>
              <a:ext uri="{FF2B5EF4-FFF2-40B4-BE49-F238E27FC236}">
                <a16:creationId xmlns:a16="http://schemas.microsoft.com/office/drawing/2014/main" id="{3E39C951-4D79-4368-98C8-A3ACFC4B8E1F}"/>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B546491E-E131-4ECA-B62B-192E343D6107}"/>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lgn="l">
              <a:defRPr sz="1125" b="0">
                <a:solidFill>
                  <a:srgbClr val="52616A"/>
                </a:solidFill>
                <a:latin typeface="Calibri"/>
                <a:ea typeface="Calibri"/>
                <a:cs typeface="Calibri"/>
              </a:defRPr>
            </a:pPr>
            <a:r>
              <a:rPr lang="de-DE" sz="1125" b="0" dirty="0">
                <a:solidFill>
                  <a:srgbClr val="52616A"/>
                </a:solidFill>
                <a:latin typeface="Calibri"/>
                <a:ea typeface="Calibri"/>
                <a:cs typeface="Calibri"/>
              </a:rPr>
              <a:t>DHBW Mosbach – Angewandte Informatik | IT-Sicherheit</a:t>
            </a:r>
          </a:p>
        </p:txBody>
      </p:sp>
      <p:sp>
        <p:nvSpPr>
          <p:cNvPr id="7" name="2">
            <a:extLst>
              <a:ext uri="{FF2B5EF4-FFF2-40B4-BE49-F238E27FC236}">
                <a16:creationId xmlns:a16="http://schemas.microsoft.com/office/drawing/2014/main" id="{2C29195F-C22C-4100-ACCB-83B6D2B11C75}"/>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2</a:t>
            </a:r>
          </a:p>
        </p:txBody>
      </p:sp>
      <p:graphicFrame>
        <p:nvGraphicFramePr>
          <p:cNvPr id="8" name="Table 7">
            <a:extLst>
              <a:ext uri="{FF2B5EF4-FFF2-40B4-BE49-F238E27FC236}">
                <a16:creationId xmlns:a16="http://schemas.microsoft.com/office/drawing/2014/main" id="{25A56C36-0B29-4F26-B05B-B7672AF74CBB}"/>
              </a:ext>
            </a:extLst>
          </p:cNvPr>
          <p:cNvGraphicFramePr/>
          <p:nvPr/>
        </p:nvGraphicFramePr>
        <p:xfrm>
          <a:off x="666750" y="1762125"/>
          <a:ext cx="10858500" cy="3190875"/>
        </p:xfrm>
        <a:graphic>
          <a:graphicData uri="http://schemas.openxmlformats.org/drawingml/2006/table">
            <a:tbl>
              <a:tblPr/>
              <a:tblGrid>
                <a:gridCol w="3810000">
                  <a:extLst>
                    <a:ext uri="{9D8B030D-6E8A-4147-A177-3AD203B41FA5}">
                      <a16:colId xmlns:a16="http://schemas.microsoft.com/office/drawing/2014/main" val="20000"/>
                    </a:ext>
                  </a:extLst>
                </a:gridCol>
                <a:gridCol w="7048500">
                  <a:extLst>
                    <a:ext uri="{9D8B030D-6E8A-4147-A177-3AD203B41FA5}">
                      <a16:colId xmlns:a16="http://schemas.microsoft.com/office/drawing/2014/main" val="20001"/>
                    </a:ext>
                  </a:extLst>
                </a:gridCol>
              </a:tblGrid>
              <a:tr h="638175">
                <a:tc>
                  <a:txBody>
                    <a:bodyPr/>
                    <a:lstStyle/>
                    <a:p>
                      <a:r>
                        <a:rPr sz="1950" b="1">
                          <a:solidFill>
                            <a:srgbClr val="FFFFFF"/>
                          </a:solidFill>
                          <a:latin typeface="Calibri"/>
                          <a:ea typeface="Calibri"/>
                          <a:cs typeface="Calibri"/>
                        </a:rPr>
                        <a:t>Vorgabe</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950" b="1">
                          <a:solidFill>
                            <a:srgbClr val="FFFFFF"/>
                          </a:solidFill>
                          <a:latin typeface="Calibri"/>
                          <a:ea typeface="Calibri"/>
                          <a:cs typeface="Calibri"/>
                        </a:rPr>
                        <a:t>Unsere Umsetzung</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638175">
                <a:tc>
                  <a:txBody>
                    <a:bodyPr/>
                    <a:lstStyle/>
                    <a:p>
                      <a:r>
                        <a:rPr sz="1950" b="0">
                          <a:solidFill>
                            <a:srgbClr val="263640"/>
                          </a:solidFill>
                          <a:latin typeface="Calibri"/>
                          <a:ea typeface="Calibri"/>
                          <a:cs typeface="Calibri"/>
                        </a:rPr>
                        <a:t>Mindestens vier Werkzeuge</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0">
                          <a:solidFill>
                            <a:srgbClr val="263640"/>
                          </a:solidFill>
                          <a:latin typeface="Calibri"/>
                          <a:ea typeface="Calibri"/>
                          <a:cs typeface="Calibri"/>
                        </a:rPr>
                        <a:t>Acht Werkzeuge mit ergänzenden Aufgaben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638175">
                <a:tc>
                  <a:txBody>
                    <a:bodyPr/>
                    <a:lstStyle/>
                    <a:p>
                      <a:r>
                        <a:rPr sz="1950" b="0">
                          <a:solidFill>
                            <a:srgbClr val="263640"/>
                          </a:solidFill>
                          <a:latin typeface="Calibri"/>
                          <a:ea typeface="Calibri"/>
                          <a:cs typeface="Calibri"/>
                        </a:rPr>
                        <a:t>Automatisierter Start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950" b="0">
                          <a:solidFill>
                            <a:srgbClr val="263640"/>
                          </a:solidFill>
                          <a:latin typeface="Calibri"/>
                          <a:ea typeface="Calibri"/>
                          <a:cs typeface="Calibri"/>
                        </a:rPr>
                        <a:t>GitHub Actions bei Push und Pull Request</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638175">
                <a:tc>
                  <a:txBody>
                    <a:bodyPr/>
                    <a:lstStyle/>
                    <a:p>
                      <a:r>
                        <a:rPr sz="1950" b="0">
                          <a:solidFill>
                            <a:srgbClr val="263640"/>
                          </a:solidFill>
                          <a:latin typeface="Calibri"/>
                          <a:ea typeface="Calibri"/>
                          <a:cs typeface="Calibri"/>
                        </a:rPr>
                        <a:t>Drei lauffähige Programme</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0">
                          <a:solidFill>
                            <a:srgbClr val="263640"/>
                          </a:solidFill>
                          <a:latin typeface="Calibri"/>
                          <a:ea typeface="Calibri"/>
                          <a:cs typeface="Calibri"/>
                        </a:rPr>
                        <a:t>Flask-API, Konfigurations-CLI und HTTP-Dateidienst</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3"/>
                  </a:ext>
                </a:extLst>
              </a:tr>
              <a:tr h="638175">
                <a:tc>
                  <a:txBody>
                    <a:bodyPr/>
                    <a:lstStyle/>
                    <a:p>
                      <a:r>
                        <a:rPr sz="1950" b="0">
                          <a:solidFill>
                            <a:srgbClr val="263640"/>
                          </a:solidFill>
                          <a:latin typeface="Calibri"/>
                          <a:ea typeface="Calibri"/>
                          <a:cs typeface="Calibri"/>
                        </a:rPr>
                        <a:t>Ergebnisse und Erkenntnisse</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950" b="0">
                          <a:solidFill>
                            <a:srgbClr val="263640"/>
                          </a:solidFill>
                          <a:latin typeface="Calibri"/>
                          <a:ea typeface="Calibri"/>
                          <a:cs typeface="Calibri"/>
                        </a:rPr>
                        <a:t>Rohreports, Gateentscheidungen und manuelle Triage</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9" name="Je Programm zwei Varianten: vulnerable und fixed">
            <a:extLst>
              <a:ext uri="{FF2B5EF4-FFF2-40B4-BE49-F238E27FC236}">
                <a16:creationId xmlns:a16="http://schemas.microsoft.com/office/drawing/2014/main" id="{ECBD8C7E-1A7C-47EF-936C-05E19DEE18BD}"/>
              </a:ext>
            </a:extLst>
          </p:cNvPr>
          <p:cNvSpPr>
            <a:spLocks noGrp="1"/>
          </p:cNvSpPr>
          <p:nvPr/>
        </p:nvSpPr>
        <p:spPr>
          <a:xfrm>
            <a:off x="666750" y="5462587"/>
            <a:ext cx="10858500" cy="476250"/>
          </a:xfrm>
          <a:prstGeom prst="rect">
            <a:avLst/>
          </a:prstGeom>
          <a:noFill/>
          <a:ln w="0">
            <a:noFill/>
          </a:ln>
        </p:spPr>
        <p:txBody>
          <a:bodyPr wrap="square" lIns="0" tIns="0" rIns="0" bIns="0" anchor="t">
            <a:noAutofit/>
          </a:bodyPr>
          <a:lstStyle>
            <a:defPPr algn="l">
              <a:defRPr sz="2250" b="1">
                <a:solidFill>
                  <a:srgbClr val="E2001A"/>
                </a:solidFill>
                <a:latin typeface="Calibri"/>
                <a:ea typeface="Calibri"/>
                <a:cs typeface="Calibri"/>
              </a:defRPr>
            </a:defPPr>
          </a:lstStyle>
          <a:p>
            <a:pPr algn="l">
              <a:defRPr sz="2250" b="1">
                <a:solidFill>
                  <a:srgbClr val="E2001A"/>
                </a:solidFill>
                <a:latin typeface="Calibri"/>
                <a:ea typeface="Calibri"/>
                <a:cs typeface="Calibri"/>
              </a:defRPr>
            </a:pPr>
            <a:r>
              <a:rPr sz="2250" b="1" dirty="0">
                <a:solidFill>
                  <a:srgbClr val="E2001A"/>
                </a:solidFill>
                <a:latin typeface="Calibri"/>
                <a:ea typeface="Calibri"/>
                <a:cs typeface="Calibri"/>
              </a:rPr>
              <a:t>Je </a:t>
            </a:r>
            <a:r>
              <a:rPr sz="2250" b="1" dirty="0" err="1">
                <a:solidFill>
                  <a:srgbClr val="E2001A"/>
                </a:solidFill>
                <a:latin typeface="Calibri"/>
                <a:ea typeface="Calibri"/>
                <a:cs typeface="Calibri"/>
              </a:rPr>
              <a:t>Programm</a:t>
            </a:r>
            <a:r>
              <a:rPr sz="2250" b="1" dirty="0">
                <a:solidFill>
                  <a:srgbClr val="E2001A"/>
                </a:solidFill>
                <a:latin typeface="Calibri"/>
                <a:ea typeface="Calibri"/>
                <a:cs typeface="Calibri"/>
              </a:rPr>
              <a:t> </a:t>
            </a:r>
            <a:r>
              <a:rPr sz="2250" b="1" dirty="0" err="1">
                <a:solidFill>
                  <a:srgbClr val="E2001A"/>
                </a:solidFill>
                <a:latin typeface="Calibri"/>
                <a:ea typeface="Calibri"/>
                <a:cs typeface="Calibri"/>
              </a:rPr>
              <a:t>zwei</a:t>
            </a:r>
            <a:r>
              <a:rPr sz="2250" b="1" dirty="0">
                <a:solidFill>
                  <a:srgbClr val="E2001A"/>
                </a:solidFill>
                <a:latin typeface="Calibri"/>
                <a:ea typeface="Calibri"/>
                <a:cs typeface="Calibri"/>
              </a:rPr>
              <a:t> </a:t>
            </a:r>
            <a:r>
              <a:rPr sz="2250" b="1" dirty="0" err="1">
                <a:solidFill>
                  <a:srgbClr val="E2001A"/>
                </a:solidFill>
                <a:latin typeface="Calibri"/>
                <a:ea typeface="Calibri"/>
                <a:cs typeface="Calibri"/>
              </a:rPr>
              <a:t>Varianten</a:t>
            </a:r>
            <a:r>
              <a:rPr sz="2250" b="1" dirty="0">
                <a:solidFill>
                  <a:srgbClr val="E2001A"/>
                </a:solidFill>
                <a:latin typeface="Calibri"/>
                <a:ea typeface="Calibri"/>
                <a:cs typeface="Calibri"/>
              </a:rPr>
              <a:t>: vulnerable und fixed</a:t>
            </a:r>
          </a:p>
        </p:txBody>
      </p:sp>
    </p:spTree>
    <p:extLst>
      <p:ext uri="{BB962C8B-B14F-4D97-AF65-F5344CB8AC3E}">
        <p14:creationId xmlns:p14="http://schemas.microsoft.com/office/powerpoint/2010/main" val="203633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F9C28E42-7A38-4A6D-8F8B-4B48D6A0DE22}"/>
              </a:ext>
            </a:extLst>
          </p:cNvPr>
          <p:cNvCxnSpPr>
            <a:stCxn id="17" idx="3"/>
            <a:endCxn id="18" idx="1"/>
          </p:cNvCxnSpPr>
          <p:nvPr/>
        </p:nvCxnSpPr>
        <p:spPr>
          <a:xfrm>
            <a:off x="9477375" y="4405313"/>
            <a:ext cx="381000" cy="0"/>
          </a:xfrm>
          <a:prstGeom prst="straightConnector1">
            <a:avLst/>
          </a:prstGeom>
          <a:ln w="19050">
            <a:solidFill>
              <a:srgbClr val="52616A"/>
            </a:solidFill>
            <a:tailEnd type="triangle" w="sm" len="sm"/>
          </a:ln>
        </p:spPr>
      </p:cxnSp>
      <p:cxnSp>
        <p:nvCxnSpPr>
          <p:cNvPr id="21" name="Straight Arrow Connector 20">
            <a:extLst>
              <a:ext uri="{FF2B5EF4-FFF2-40B4-BE49-F238E27FC236}">
                <a16:creationId xmlns:a16="http://schemas.microsoft.com/office/drawing/2014/main" id="{0FB96951-BB9C-4426-A5EC-9FE7F9401FCD}"/>
              </a:ext>
            </a:extLst>
          </p:cNvPr>
          <p:cNvCxnSpPr>
            <a:stCxn id="16" idx="3"/>
            <a:endCxn id="17" idx="1"/>
          </p:cNvCxnSpPr>
          <p:nvPr/>
        </p:nvCxnSpPr>
        <p:spPr>
          <a:xfrm>
            <a:off x="6048375" y="4405313"/>
            <a:ext cx="381000" cy="0"/>
          </a:xfrm>
          <a:prstGeom prst="straightConnector1">
            <a:avLst/>
          </a:prstGeom>
          <a:ln w="19050">
            <a:solidFill>
              <a:srgbClr val="52616A"/>
            </a:solidFill>
            <a:tailEnd type="triangle" w="sm" len="sm"/>
          </a:ln>
        </p:spPr>
      </p:cxnSp>
      <p:cxnSp>
        <p:nvCxnSpPr>
          <p:cNvPr id="20" name="Straight Arrow Connector 19">
            <a:extLst>
              <a:ext uri="{FF2B5EF4-FFF2-40B4-BE49-F238E27FC236}">
                <a16:creationId xmlns:a16="http://schemas.microsoft.com/office/drawing/2014/main" id="{65869AC3-532F-4D85-AFF3-294BA7CD91B7}"/>
              </a:ext>
            </a:extLst>
          </p:cNvPr>
          <p:cNvCxnSpPr>
            <a:stCxn id="15" idx="3"/>
            <a:endCxn id="16" idx="1"/>
          </p:cNvCxnSpPr>
          <p:nvPr/>
        </p:nvCxnSpPr>
        <p:spPr>
          <a:xfrm>
            <a:off x="3952875" y="4405313"/>
            <a:ext cx="381000" cy="0"/>
          </a:xfrm>
          <a:prstGeom prst="straightConnector1">
            <a:avLst/>
          </a:prstGeom>
          <a:ln w="19050">
            <a:solidFill>
              <a:srgbClr val="52616A"/>
            </a:solidFill>
            <a:tailEnd type="triangle" w="sm" len="sm"/>
          </a:ln>
        </p:spPr>
      </p:cxnSp>
      <p:cxnSp>
        <p:nvCxnSpPr>
          <p:cNvPr id="19" name="Connector: Elbow 18">
            <a:extLst>
              <a:ext uri="{FF2B5EF4-FFF2-40B4-BE49-F238E27FC236}">
                <a16:creationId xmlns:a16="http://schemas.microsoft.com/office/drawing/2014/main" id="{B3586D09-994C-4FB9-9D36-7D1483CB0705}"/>
              </a:ext>
            </a:extLst>
          </p:cNvPr>
          <p:cNvCxnSpPr>
            <a:stCxn id="11" idx="2"/>
            <a:endCxn id="15" idx="0"/>
          </p:cNvCxnSpPr>
          <p:nvPr/>
        </p:nvCxnSpPr>
        <p:spPr>
          <a:xfrm flipH="1">
            <a:off x="2309813" y="2809875"/>
            <a:ext cx="8072438" cy="1000125"/>
          </a:xfrm>
          <a:prstGeom prst="bentConnector4">
            <a:avLst>
              <a:gd name="adj1" fmla="val 0"/>
              <a:gd name="adj2" fmla="val 50000"/>
            </a:avLst>
          </a:prstGeom>
          <a:ln w="19050">
            <a:solidFill>
              <a:srgbClr val="52616A"/>
            </a:solidFill>
            <a:tailEnd type="triangle" w="sm" len="sm"/>
          </a:ln>
        </p:spPr>
      </p:cxnSp>
      <p:cxnSp>
        <p:nvCxnSpPr>
          <p:cNvPr id="14" name="Straight Arrow Connector 13">
            <a:extLst>
              <a:ext uri="{FF2B5EF4-FFF2-40B4-BE49-F238E27FC236}">
                <a16:creationId xmlns:a16="http://schemas.microsoft.com/office/drawing/2014/main" id="{57E5CCE9-21AB-42CC-8734-AB34A8B33313}"/>
              </a:ext>
            </a:extLst>
          </p:cNvPr>
          <p:cNvCxnSpPr>
            <a:stCxn id="10" idx="3"/>
            <a:endCxn id="11" idx="1"/>
          </p:cNvCxnSpPr>
          <p:nvPr/>
        </p:nvCxnSpPr>
        <p:spPr>
          <a:xfrm>
            <a:off x="8858250" y="2357438"/>
            <a:ext cx="381000" cy="0"/>
          </a:xfrm>
          <a:prstGeom prst="straightConnector1">
            <a:avLst/>
          </a:prstGeom>
          <a:ln w="19050">
            <a:solidFill>
              <a:srgbClr val="52616A"/>
            </a:solidFill>
            <a:tailEnd type="triangle" w="sm" len="sm"/>
          </a:ln>
        </p:spPr>
      </p:cxnSp>
      <p:cxnSp>
        <p:nvCxnSpPr>
          <p:cNvPr id="13" name="Straight Arrow Connector 12">
            <a:extLst>
              <a:ext uri="{FF2B5EF4-FFF2-40B4-BE49-F238E27FC236}">
                <a16:creationId xmlns:a16="http://schemas.microsoft.com/office/drawing/2014/main" id="{A90A54DB-62B0-4B45-89EF-E47D8671AEC5}"/>
              </a:ext>
            </a:extLst>
          </p:cNvPr>
          <p:cNvCxnSpPr>
            <a:stCxn id="9" idx="3"/>
            <a:endCxn id="10" idx="1"/>
          </p:cNvCxnSpPr>
          <p:nvPr/>
        </p:nvCxnSpPr>
        <p:spPr>
          <a:xfrm>
            <a:off x="4143375" y="2357438"/>
            <a:ext cx="285750" cy="0"/>
          </a:xfrm>
          <a:prstGeom prst="straightConnector1">
            <a:avLst/>
          </a:prstGeom>
          <a:ln w="19050">
            <a:solidFill>
              <a:srgbClr val="52616A"/>
            </a:solidFill>
            <a:tailEnd type="triangle" w="sm" len="sm"/>
          </a:ln>
        </p:spPr>
      </p:cxnSp>
      <p:cxnSp>
        <p:nvCxnSpPr>
          <p:cNvPr id="12" name="Straight Arrow Connector 11">
            <a:extLst>
              <a:ext uri="{FF2B5EF4-FFF2-40B4-BE49-F238E27FC236}">
                <a16:creationId xmlns:a16="http://schemas.microsoft.com/office/drawing/2014/main" id="{45D2B9B7-B576-46BC-BD98-476BEF608AA5}"/>
              </a:ext>
            </a:extLst>
          </p:cNvPr>
          <p:cNvCxnSpPr>
            <a:stCxn id="8" idx="3"/>
            <a:endCxn id="9" idx="1"/>
          </p:cNvCxnSpPr>
          <p:nvPr/>
        </p:nvCxnSpPr>
        <p:spPr>
          <a:xfrm>
            <a:off x="2143125" y="2357438"/>
            <a:ext cx="285750" cy="0"/>
          </a:xfrm>
          <a:prstGeom prst="straightConnector1">
            <a:avLst/>
          </a:prstGeom>
          <a:ln w="19050">
            <a:solidFill>
              <a:srgbClr val="52616A"/>
            </a:solidFill>
            <a:tailEnd type="triangle" w="sm" len="sm"/>
          </a:ln>
        </p:spPr>
      </p:cxnSp>
      <p:pic>
        <p:nvPicPr>
          <p:cNvPr id="25" name="Picture 24">
            <a:extLst>
              <a:ext uri="{FF2B5EF4-FFF2-40B4-BE49-F238E27FC236}">
                <a16:creationId xmlns:a16="http://schemas.microsoft.com/office/drawing/2014/main" id="{67A1F081-F44F-45D4-945C-B225934A4B7F}"/>
              </a:ext>
            </a:extLst>
          </p:cNvPr>
          <p:cNvPicPr>
            <a:picLocks noChangeAspect="1"/>
          </p:cNvPicPr>
          <p:nvPr/>
        </p:nvPicPr>
        <p:blipFill>
          <a:blip r:embed="rId3"/>
          <a:stretch/>
        </p:blipFill>
        <p:spPr>
          <a:xfrm>
            <a:off x="10325100" y="228600"/>
            <a:ext cx="1295400" cy="693039"/>
          </a:xfrm>
          <a:prstGeom prst="rect">
            <a:avLst/>
          </a:prstGeom>
        </p:spPr>
      </p:pic>
      <p:sp>
        <p:nvSpPr>
          <p:cNvPr id="2" name="Aufbau und Ablauf der Pipeline">
            <a:extLst>
              <a:ext uri="{FF2B5EF4-FFF2-40B4-BE49-F238E27FC236}">
                <a16:creationId xmlns:a16="http://schemas.microsoft.com/office/drawing/2014/main" id="{36923EEF-3C7B-4E71-9A4A-7A348908BECE}"/>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Aufbau und Ablauf der Pipeline</a:t>
            </a:r>
          </a:p>
        </p:txBody>
      </p:sp>
      <p:sp>
        <p:nvSpPr>
          <p:cNvPr id="3" name="Rectangle 2">
            <a:extLst>
              <a:ext uri="{FF2B5EF4-FFF2-40B4-BE49-F238E27FC236}">
                <a16:creationId xmlns:a16="http://schemas.microsoft.com/office/drawing/2014/main" id="{3B9B191B-0AB1-4AAC-BDA1-C869C6F633A3}"/>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5" name="Rectangle 4">
            <a:extLst>
              <a:ext uri="{FF2B5EF4-FFF2-40B4-BE49-F238E27FC236}">
                <a16:creationId xmlns:a16="http://schemas.microsoft.com/office/drawing/2014/main" id="{43D00353-BD4F-47F5-B6A0-ED0BE9B28594}"/>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99D485D0-9D85-4EF1-A3CC-C9C57B28FB20}"/>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defRPr sz="1125" b="0">
                <a:solidFill>
                  <a:srgbClr val="52616A"/>
                </a:solidFill>
                <a:latin typeface="Calibri"/>
                <a:ea typeface="Calibri"/>
                <a:cs typeface="Calibri"/>
              </a:defRPr>
            </a:pPr>
            <a:r>
              <a:rPr lang="de-DE" sz="1125" dirty="0">
                <a:solidFill>
                  <a:srgbClr val="52616A"/>
                </a:solidFill>
                <a:latin typeface="Calibri"/>
                <a:ea typeface="Calibri"/>
                <a:cs typeface="Calibri"/>
              </a:rPr>
              <a:t>DHBW Mosbach – Angewandte Informatik | IT-Sicherheit</a:t>
            </a:r>
          </a:p>
        </p:txBody>
      </p:sp>
      <p:sp>
        <p:nvSpPr>
          <p:cNvPr id="7" name="3">
            <a:extLst>
              <a:ext uri="{FF2B5EF4-FFF2-40B4-BE49-F238E27FC236}">
                <a16:creationId xmlns:a16="http://schemas.microsoft.com/office/drawing/2014/main" id="{FB0E018E-F29D-4756-A540-C3F537BDF60E}"/>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3</a:t>
            </a:r>
          </a:p>
        </p:txBody>
      </p:sp>
      <p:sp>
        <p:nvSpPr>
          <p:cNvPr id="8" name="Rectangle 7">
            <a:extLst>
              <a:ext uri="{FF2B5EF4-FFF2-40B4-BE49-F238E27FC236}">
                <a16:creationId xmlns:a16="http://schemas.microsoft.com/office/drawing/2014/main" id="{F5754D07-6CB4-4BC1-ADCC-DDE1DCB6055A}"/>
              </a:ext>
            </a:extLst>
          </p:cNvPr>
          <p:cNvSpPr>
            <a:spLocks noGrp="1"/>
          </p:cNvSpPr>
          <p:nvPr/>
        </p:nvSpPr>
        <p:spPr>
          <a:xfrm>
            <a:off x="666750" y="1905000"/>
            <a:ext cx="1476375" cy="904875"/>
          </a:xfrm>
          <a:prstGeom prst="rect">
            <a:avLst/>
          </a:prstGeom>
          <a:solidFill>
            <a:srgbClr val="F0F2F3"/>
          </a:solidFill>
          <a:ln w="9525">
            <a:solidFill>
              <a:srgbClr val="C4CBCF"/>
            </a:solidFill>
          </a:ln>
        </p:spPr>
        <p:txBody>
          <a:bodyPr lIns="114300" tIns="114300" rIns="114300" bIns="114300" anchor="ctr">
            <a:noAutofit/>
          </a:bodyPr>
          <a:lstStyle>
            <a:defPPr algn="ctr">
              <a:defRPr sz="1800" b="0">
                <a:solidFill>
                  <a:srgbClr val="263640"/>
                </a:solidFill>
                <a:latin typeface="Calibri"/>
                <a:ea typeface="Calibri"/>
                <a:cs typeface="Calibri"/>
              </a:defRPr>
            </a:defPPr>
          </a:lstStyle>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Push / PR</a:t>
            </a:r>
          </a:p>
        </p:txBody>
      </p:sp>
      <p:sp>
        <p:nvSpPr>
          <p:cNvPr id="9" name="Rectangle 8">
            <a:extLst>
              <a:ext uri="{FF2B5EF4-FFF2-40B4-BE49-F238E27FC236}">
                <a16:creationId xmlns:a16="http://schemas.microsoft.com/office/drawing/2014/main" id="{44D4B8E5-FB1E-4BF1-8622-F803155DEA0D}"/>
              </a:ext>
            </a:extLst>
          </p:cNvPr>
          <p:cNvSpPr>
            <a:spLocks noGrp="1"/>
          </p:cNvSpPr>
          <p:nvPr/>
        </p:nvSpPr>
        <p:spPr>
          <a:xfrm>
            <a:off x="2428875" y="1905000"/>
            <a:ext cx="1714500" cy="904875"/>
          </a:xfrm>
          <a:prstGeom prst="rect">
            <a:avLst/>
          </a:prstGeom>
          <a:solidFill>
            <a:srgbClr val="F0F2F3"/>
          </a:solidFill>
          <a:ln w="9525">
            <a:solidFill>
              <a:srgbClr val="C4CBCF"/>
            </a:solidFill>
          </a:ln>
        </p:spPr>
        <p:txBody>
          <a:bodyPr lIns="114300" tIns="114300" rIns="114300" bIns="114300" anchor="ctr">
            <a:noAutofit/>
          </a:bodyPr>
          <a:lstStyle>
            <a:defPPr algn="ctr">
              <a:defRPr sz="1800" b="0">
                <a:solidFill>
                  <a:srgbClr val="263640"/>
                </a:solidFill>
                <a:latin typeface="Calibri"/>
                <a:ea typeface="Calibri"/>
                <a:cs typeface="Calibri"/>
              </a:defRPr>
            </a:defPPr>
          </a:lstStyle>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Unit-Tests</a:t>
            </a:r>
          </a:p>
        </p:txBody>
      </p:sp>
      <p:sp>
        <p:nvSpPr>
          <p:cNvPr id="10" name="Rectangle 9">
            <a:extLst>
              <a:ext uri="{FF2B5EF4-FFF2-40B4-BE49-F238E27FC236}">
                <a16:creationId xmlns:a16="http://schemas.microsoft.com/office/drawing/2014/main" id="{A14BEAAD-CA49-442E-95BF-4B1D0A0E0001}"/>
              </a:ext>
            </a:extLst>
          </p:cNvPr>
          <p:cNvSpPr>
            <a:spLocks noGrp="1"/>
          </p:cNvSpPr>
          <p:nvPr/>
        </p:nvSpPr>
        <p:spPr>
          <a:xfrm>
            <a:off x="4429125" y="1762125"/>
            <a:ext cx="4429125" cy="1190625"/>
          </a:xfrm>
          <a:prstGeom prst="rect">
            <a:avLst/>
          </a:prstGeom>
          <a:solidFill>
            <a:srgbClr val="F0F2F3"/>
          </a:solidFill>
          <a:ln w="9525">
            <a:solidFill>
              <a:srgbClr val="C4CBCF"/>
            </a:solidFill>
          </a:ln>
        </p:spPr>
        <p:txBody>
          <a:bodyPr lIns="114300" tIns="114300" rIns="114300" bIns="114300" anchor="ctr">
            <a:noAutofit/>
          </a:bodyPr>
          <a:lstStyle>
            <a:defPPr algn="ctr">
              <a:defRPr sz="1800" b="0">
                <a:solidFill>
                  <a:srgbClr val="263640"/>
                </a:solidFill>
                <a:latin typeface="Calibri"/>
                <a:ea typeface="Calibri"/>
                <a:cs typeface="Calibri"/>
              </a:defRPr>
            </a:defPPr>
          </a:lstStyle>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Quellcode und Pakete</a:t>
            </a:r>
          </a:p>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Gitleaks, Semgrep, Bandit</a:t>
            </a:r>
          </a:p>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Trivy-FS und Syft</a:t>
            </a:r>
          </a:p>
        </p:txBody>
      </p:sp>
      <p:sp>
        <p:nvSpPr>
          <p:cNvPr id="11" name="Rectangle 10">
            <a:extLst>
              <a:ext uri="{FF2B5EF4-FFF2-40B4-BE49-F238E27FC236}">
                <a16:creationId xmlns:a16="http://schemas.microsoft.com/office/drawing/2014/main" id="{CDF4402F-DE0E-4D11-93F2-4FD2AA86100D}"/>
              </a:ext>
            </a:extLst>
          </p:cNvPr>
          <p:cNvSpPr>
            <a:spLocks noGrp="1"/>
          </p:cNvSpPr>
          <p:nvPr/>
        </p:nvSpPr>
        <p:spPr>
          <a:xfrm>
            <a:off x="9239250" y="1905000"/>
            <a:ext cx="2286000" cy="904875"/>
          </a:xfrm>
          <a:prstGeom prst="rect">
            <a:avLst/>
          </a:prstGeom>
          <a:solidFill>
            <a:srgbClr val="FFFFFF"/>
          </a:solidFill>
          <a:ln w="19050">
            <a:solidFill>
              <a:srgbClr val="E2001A"/>
            </a:solidFill>
          </a:ln>
        </p:spPr>
        <p:txBody>
          <a:bodyPr lIns="114300" tIns="114300" rIns="114300" bIns="114300" anchor="ctr">
            <a:noAutofit/>
          </a:bodyPr>
          <a:lstStyle>
            <a:defPPr algn="ctr">
              <a:defRPr sz="1800" b="1">
                <a:solidFill>
                  <a:srgbClr val="E2001A"/>
                </a:solidFill>
                <a:latin typeface="Calibri"/>
                <a:ea typeface="Calibri"/>
                <a:cs typeface="Calibri"/>
              </a:defRPr>
            </a:defPPr>
          </a:lstStyle>
          <a:p>
            <a:pPr algn="ctr">
              <a:defRPr sz="1800" b="1">
                <a:solidFill>
                  <a:srgbClr val="E2001A"/>
                </a:solidFill>
                <a:latin typeface="Calibri"/>
                <a:ea typeface="Calibri"/>
                <a:cs typeface="Calibri"/>
              </a:defRPr>
            </a:pPr>
            <a:r>
              <a:rPr sz="1800" b="1">
                <a:solidFill>
                  <a:srgbClr val="E2001A"/>
                </a:solidFill>
                <a:latin typeface="Calibri"/>
                <a:ea typeface="Calibri"/>
                <a:cs typeface="Calibri"/>
              </a:rPr>
              <a:t>Vorab-Gate</a:t>
            </a:r>
          </a:p>
        </p:txBody>
      </p:sp>
      <p:sp>
        <p:nvSpPr>
          <p:cNvPr id="15" name="Rectangle 14">
            <a:extLst>
              <a:ext uri="{FF2B5EF4-FFF2-40B4-BE49-F238E27FC236}">
                <a16:creationId xmlns:a16="http://schemas.microsoft.com/office/drawing/2014/main" id="{D3B466CB-D8ED-44F4-979D-F4D20E0A4A0F}"/>
              </a:ext>
            </a:extLst>
          </p:cNvPr>
          <p:cNvSpPr>
            <a:spLocks noGrp="1"/>
          </p:cNvSpPr>
          <p:nvPr/>
        </p:nvSpPr>
        <p:spPr>
          <a:xfrm>
            <a:off x="666750" y="3810000"/>
            <a:ext cx="3286125" cy="1190625"/>
          </a:xfrm>
          <a:prstGeom prst="rect">
            <a:avLst/>
          </a:prstGeom>
          <a:solidFill>
            <a:srgbClr val="F0F2F3"/>
          </a:solidFill>
          <a:ln w="9525">
            <a:solidFill>
              <a:srgbClr val="C4CBCF"/>
            </a:solidFill>
          </a:ln>
        </p:spPr>
        <p:txBody>
          <a:bodyPr lIns="114300" tIns="114300" rIns="114300" bIns="114300" anchor="ctr">
            <a:noAutofit/>
          </a:bodyPr>
          <a:lstStyle>
            <a:defPPr algn="ctr">
              <a:defRPr sz="1800" b="0">
                <a:solidFill>
                  <a:srgbClr val="263640"/>
                </a:solidFill>
                <a:latin typeface="Calibri"/>
                <a:ea typeface="Calibri"/>
                <a:cs typeface="Calibri"/>
              </a:defRPr>
            </a:defPPr>
          </a:lstStyle>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Build und Image-Scans</a:t>
            </a:r>
          </a:p>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hadolint, Trivy und Dockle</a:t>
            </a:r>
          </a:p>
        </p:txBody>
      </p:sp>
      <p:sp>
        <p:nvSpPr>
          <p:cNvPr id="16" name="Rectangle 15">
            <a:extLst>
              <a:ext uri="{FF2B5EF4-FFF2-40B4-BE49-F238E27FC236}">
                <a16:creationId xmlns:a16="http://schemas.microsoft.com/office/drawing/2014/main" id="{11E7698F-20BB-4CED-9BD5-815508F90874}"/>
              </a:ext>
            </a:extLst>
          </p:cNvPr>
          <p:cNvSpPr>
            <a:spLocks noGrp="1"/>
          </p:cNvSpPr>
          <p:nvPr/>
        </p:nvSpPr>
        <p:spPr>
          <a:xfrm>
            <a:off x="4333875" y="3952875"/>
            <a:ext cx="1714500" cy="904875"/>
          </a:xfrm>
          <a:prstGeom prst="rect">
            <a:avLst/>
          </a:prstGeom>
          <a:solidFill>
            <a:srgbClr val="FFFFFF"/>
          </a:solidFill>
          <a:ln w="19050">
            <a:solidFill>
              <a:srgbClr val="E2001A"/>
            </a:solidFill>
          </a:ln>
        </p:spPr>
        <p:txBody>
          <a:bodyPr lIns="114300" tIns="114300" rIns="114300" bIns="114300" anchor="ctr">
            <a:noAutofit/>
          </a:bodyPr>
          <a:lstStyle>
            <a:defPPr algn="ctr">
              <a:defRPr sz="1800" b="1">
                <a:solidFill>
                  <a:srgbClr val="E2001A"/>
                </a:solidFill>
                <a:latin typeface="Calibri"/>
                <a:ea typeface="Calibri"/>
                <a:cs typeface="Calibri"/>
              </a:defRPr>
            </a:defPPr>
          </a:lstStyle>
          <a:p>
            <a:pPr algn="ctr">
              <a:defRPr sz="1800" b="1">
                <a:solidFill>
                  <a:srgbClr val="E2001A"/>
                </a:solidFill>
                <a:latin typeface="Calibri"/>
                <a:ea typeface="Calibri"/>
                <a:cs typeface="Calibri"/>
              </a:defRPr>
            </a:pPr>
            <a:r>
              <a:rPr sz="1800" b="1">
                <a:solidFill>
                  <a:srgbClr val="E2001A"/>
                </a:solidFill>
                <a:latin typeface="Calibri"/>
                <a:ea typeface="Calibri"/>
                <a:cs typeface="Calibri"/>
              </a:rPr>
              <a:t>Image-Gate</a:t>
            </a:r>
          </a:p>
        </p:txBody>
      </p:sp>
      <p:sp>
        <p:nvSpPr>
          <p:cNvPr id="17" name="Rectangle 16">
            <a:extLst>
              <a:ext uri="{FF2B5EF4-FFF2-40B4-BE49-F238E27FC236}">
                <a16:creationId xmlns:a16="http://schemas.microsoft.com/office/drawing/2014/main" id="{74974BDB-1D1F-481B-A853-5DBB19625E71}"/>
              </a:ext>
            </a:extLst>
          </p:cNvPr>
          <p:cNvSpPr>
            <a:spLocks noGrp="1"/>
          </p:cNvSpPr>
          <p:nvPr/>
        </p:nvSpPr>
        <p:spPr>
          <a:xfrm>
            <a:off x="6429375" y="3810000"/>
            <a:ext cx="3048000" cy="1190625"/>
          </a:xfrm>
          <a:prstGeom prst="rect">
            <a:avLst/>
          </a:prstGeom>
          <a:solidFill>
            <a:srgbClr val="F0F2F3"/>
          </a:solidFill>
          <a:ln w="9525">
            <a:solidFill>
              <a:srgbClr val="C4CBCF"/>
            </a:solidFill>
          </a:ln>
        </p:spPr>
        <p:txBody>
          <a:bodyPr lIns="114300" tIns="114300" rIns="114300" bIns="114300" anchor="ctr">
            <a:noAutofit/>
          </a:bodyPr>
          <a:lstStyle>
            <a:defPPr algn="ctr">
              <a:defRPr sz="1800" b="0">
                <a:solidFill>
                  <a:srgbClr val="263640"/>
                </a:solidFill>
                <a:latin typeface="Calibri"/>
                <a:ea typeface="Calibri"/>
                <a:cs typeface="Calibri"/>
              </a:defRPr>
            </a:defPPr>
          </a:lstStyle>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Webdienst und ZAP</a:t>
            </a:r>
          </a:p>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Healthcheck, API-Smoke</a:t>
            </a:r>
          </a:p>
          <a:p>
            <a:pPr algn="ctr">
              <a:defRPr sz="1800" b="0">
                <a:solidFill>
                  <a:srgbClr val="263640"/>
                </a:solidFill>
                <a:latin typeface="Calibri"/>
                <a:ea typeface="Calibri"/>
                <a:cs typeface="Calibri"/>
              </a:defRPr>
            </a:pPr>
            <a:r>
              <a:rPr sz="1800" b="0">
                <a:solidFill>
                  <a:srgbClr val="263640"/>
                </a:solidFill>
                <a:latin typeface="Calibri"/>
                <a:ea typeface="Calibri"/>
                <a:cs typeface="Calibri"/>
              </a:rPr>
              <a:t>passiver OpenAPI-Scan</a:t>
            </a:r>
          </a:p>
        </p:txBody>
      </p:sp>
      <p:sp>
        <p:nvSpPr>
          <p:cNvPr id="18" name="Rectangle 17">
            <a:extLst>
              <a:ext uri="{FF2B5EF4-FFF2-40B4-BE49-F238E27FC236}">
                <a16:creationId xmlns:a16="http://schemas.microsoft.com/office/drawing/2014/main" id="{0CFEC2BE-6C09-48D9-A631-29F2F487C963}"/>
              </a:ext>
            </a:extLst>
          </p:cNvPr>
          <p:cNvSpPr>
            <a:spLocks noGrp="1"/>
          </p:cNvSpPr>
          <p:nvPr/>
        </p:nvSpPr>
        <p:spPr>
          <a:xfrm>
            <a:off x="9858375" y="3952875"/>
            <a:ext cx="1666875" cy="904875"/>
          </a:xfrm>
          <a:prstGeom prst="rect">
            <a:avLst/>
          </a:prstGeom>
          <a:solidFill>
            <a:srgbClr val="FFFFFF"/>
          </a:solidFill>
          <a:ln w="19050">
            <a:solidFill>
              <a:srgbClr val="E2001A"/>
            </a:solidFill>
          </a:ln>
        </p:spPr>
        <p:txBody>
          <a:bodyPr lIns="114300" tIns="114300" rIns="114300" bIns="114300" anchor="ctr">
            <a:noAutofit/>
          </a:bodyPr>
          <a:lstStyle>
            <a:defPPr algn="ctr">
              <a:defRPr sz="1800" b="1">
                <a:solidFill>
                  <a:srgbClr val="E2001A"/>
                </a:solidFill>
                <a:latin typeface="Calibri"/>
                <a:ea typeface="Calibri"/>
                <a:cs typeface="Calibri"/>
              </a:defRPr>
            </a:defPPr>
          </a:lstStyle>
          <a:p>
            <a:pPr algn="ctr">
              <a:defRPr sz="1800" b="1">
                <a:solidFill>
                  <a:srgbClr val="E2001A"/>
                </a:solidFill>
                <a:latin typeface="Calibri"/>
                <a:ea typeface="Calibri"/>
                <a:cs typeface="Calibri"/>
              </a:defRPr>
            </a:pPr>
            <a:r>
              <a:rPr sz="1800" b="1">
                <a:solidFill>
                  <a:srgbClr val="E2001A"/>
                </a:solidFill>
                <a:latin typeface="Calibri"/>
                <a:ea typeface="Calibri"/>
                <a:cs typeface="Calibri"/>
              </a:rPr>
              <a:t>Abschluss-</a:t>
            </a:r>
          </a:p>
          <a:p>
            <a:pPr algn="ctr">
              <a:defRPr sz="1800" b="1">
                <a:solidFill>
                  <a:srgbClr val="E2001A"/>
                </a:solidFill>
                <a:latin typeface="Calibri"/>
                <a:ea typeface="Calibri"/>
                <a:cs typeface="Calibri"/>
              </a:defRPr>
            </a:pPr>
            <a:r>
              <a:rPr sz="1800" b="1">
                <a:solidFill>
                  <a:srgbClr val="E2001A"/>
                </a:solidFill>
                <a:latin typeface="Calibri"/>
                <a:ea typeface="Calibri"/>
                <a:cs typeface="Calibri"/>
              </a:rPr>
              <a:t>Gate</a:t>
            </a:r>
          </a:p>
        </p:txBody>
      </p:sp>
      <p:sp>
        <p:nvSpPr>
          <p:cNvPr id="23" name="Nur PASS führt zum nächsten Abschnitt">
            <a:extLst>
              <a:ext uri="{FF2B5EF4-FFF2-40B4-BE49-F238E27FC236}">
                <a16:creationId xmlns:a16="http://schemas.microsoft.com/office/drawing/2014/main" id="{2EA2741B-324E-4F52-9337-4D3140E4CD53}"/>
              </a:ext>
            </a:extLst>
          </p:cNvPr>
          <p:cNvSpPr>
            <a:spLocks noGrp="1"/>
          </p:cNvSpPr>
          <p:nvPr/>
        </p:nvSpPr>
        <p:spPr>
          <a:xfrm>
            <a:off x="663575" y="5567364"/>
            <a:ext cx="10858500" cy="428625"/>
          </a:xfrm>
          <a:prstGeom prst="rect">
            <a:avLst/>
          </a:prstGeom>
          <a:noFill/>
          <a:ln w="0">
            <a:noFill/>
          </a:ln>
        </p:spPr>
        <p:txBody>
          <a:bodyPr wrap="square" lIns="0" tIns="0" rIns="0" bIns="0" anchor="t">
            <a:noAutofit/>
          </a:bodyPr>
          <a:lstStyle>
            <a:defPPr algn="l">
              <a:defRPr sz="2175" b="1">
                <a:solidFill>
                  <a:srgbClr val="E2001A"/>
                </a:solidFill>
                <a:latin typeface="Calibri"/>
                <a:ea typeface="Calibri"/>
                <a:cs typeface="Calibri"/>
              </a:defRPr>
            </a:defPPr>
          </a:lstStyle>
          <a:p>
            <a:pPr algn="l">
              <a:defRPr sz="2175" b="1">
                <a:solidFill>
                  <a:srgbClr val="E2001A"/>
                </a:solidFill>
                <a:latin typeface="Calibri"/>
                <a:ea typeface="Calibri"/>
                <a:cs typeface="Calibri"/>
              </a:defRPr>
            </a:pPr>
            <a:r>
              <a:rPr sz="2175" b="1">
                <a:solidFill>
                  <a:srgbClr val="E2001A"/>
                </a:solidFill>
                <a:latin typeface="Calibri"/>
                <a:ea typeface="Calibri"/>
                <a:cs typeface="Calibri"/>
              </a:rPr>
              <a:t>Nur PASS führt zum nächsten Abschnitt</a:t>
            </a:r>
          </a:p>
        </p:txBody>
      </p:sp>
    </p:spTree>
    <p:extLst>
      <p:ext uri="{BB962C8B-B14F-4D97-AF65-F5344CB8AC3E}">
        <p14:creationId xmlns:p14="http://schemas.microsoft.com/office/powerpoint/2010/main" val="15756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8F33E24-858C-425B-819D-5063B3E686E9}"/>
              </a:ext>
            </a:extLst>
          </p:cNvPr>
          <p:cNvPicPr>
            <a:picLocks noChangeAspect="1"/>
          </p:cNvPicPr>
          <p:nvPr/>
        </p:nvPicPr>
        <p:blipFill>
          <a:blip r:embed="rId3"/>
          <a:stretch/>
        </p:blipFill>
        <p:spPr>
          <a:xfrm>
            <a:off x="10325100" y="228600"/>
            <a:ext cx="1295400" cy="693039"/>
          </a:xfrm>
          <a:prstGeom prst="rect">
            <a:avLst/>
          </a:prstGeom>
        </p:spPr>
      </p:pic>
      <p:sp>
        <p:nvSpPr>
          <p:cNvPr id="2" name="Werkzeuge und Bezug zur Vorlesung">
            <a:extLst>
              <a:ext uri="{FF2B5EF4-FFF2-40B4-BE49-F238E27FC236}">
                <a16:creationId xmlns:a16="http://schemas.microsoft.com/office/drawing/2014/main" id="{FDEAA8DF-94ED-4F6B-B09A-4ABD8546C6E7}"/>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Werkzeuge und Bezug zur Vorlesung</a:t>
            </a:r>
          </a:p>
        </p:txBody>
      </p:sp>
      <p:sp>
        <p:nvSpPr>
          <p:cNvPr id="3" name="Rectangle 2">
            <a:extLst>
              <a:ext uri="{FF2B5EF4-FFF2-40B4-BE49-F238E27FC236}">
                <a16:creationId xmlns:a16="http://schemas.microsoft.com/office/drawing/2014/main" id="{AFF3CCD5-59B8-48EF-B996-AA073E7612AF}"/>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Skript S. 32–33, 37–39 und 46 (PDF-Seiten 33–34, 38–40 und 4">
            <a:extLst>
              <a:ext uri="{FF2B5EF4-FFF2-40B4-BE49-F238E27FC236}">
                <a16:creationId xmlns:a16="http://schemas.microsoft.com/office/drawing/2014/main" id="{FCD04846-136A-49A9-85BD-7BC15986787F}"/>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r>
              <a:rPr sz="1200" b="0" dirty="0" err="1">
                <a:solidFill>
                  <a:srgbClr val="52616A"/>
                </a:solidFill>
                <a:latin typeface="Calibri"/>
                <a:ea typeface="Calibri"/>
                <a:cs typeface="Calibri"/>
              </a:rPr>
              <a:t>Skript</a:t>
            </a:r>
            <a:r>
              <a:rPr sz="1200" b="0" dirty="0">
                <a:solidFill>
                  <a:srgbClr val="52616A"/>
                </a:solidFill>
                <a:latin typeface="Calibri"/>
                <a:ea typeface="Calibri"/>
                <a:cs typeface="Calibri"/>
              </a:rPr>
              <a:t> S. 32–33, 37–39</a:t>
            </a:r>
            <a:r>
              <a:rPr lang="en-US" sz="1200" b="0" dirty="0">
                <a:solidFill>
                  <a:srgbClr val="52616A"/>
                </a:solidFill>
                <a:latin typeface="Calibri"/>
                <a:ea typeface="Calibri"/>
                <a:cs typeface="Calibri"/>
              </a:rPr>
              <a:t>,</a:t>
            </a:r>
            <a:r>
              <a:rPr sz="1200" b="0" dirty="0">
                <a:solidFill>
                  <a:srgbClr val="52616A"/>
                </a:solidFill>
                <a:latin typeface="Calibri"/>
                <a:ea typeface="Calibri"/>
                <a:cs typeface="Calibri"/>
              </a:rPr>
              <a:t> 46</a:t>
            </a:r>
          </a:p>
        </p:txBody>
      </p:sp>
      <p:sp>
        <p:nvSpPr>
          <p:cNvPr id="5" name="Rectangle 4">
            <a:extLst>
              <a:ext uri="{FF2B5EF4-FFF2-40B4-BE49-F238E27FC236}">
                <a16:creationId xmlns:a16="http://schemas.microsoft.com/office/drawing/2014/main" id="{B64380F8-A977-4A74-A742-67FF5A3E27B8}"/>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DB2D58E0-010D-4A7B-82B6-BCB9FD06A99D}"/>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defRPr sz="1125" b="0">
                <a:solidFill>
                  <a:srgbClr val="52616A"/>
                </a:solidFill>
                <a:latin typeface="Calibri"/>
                <a:ea typeface="Calibri"/>
                <a:cs typeface="Calibri"/>
              </a:defRPr>
            </a:pPr>
            <a:r>
              <a:rPr lang="de-DE" sz="1125" dirty="0">
                <a:solidFill>
                  <a:srgbClr val="52616A"/>
                </a:solidFill>
                <a:latin typeface="Calibri"/>
                <a:ea typeface="Calibri"/>
                <a:cs typeface="Calibri"/>
              </a:rPr>
              <a:t>DHBW Mosbach – Angewandte Informatik | IT-Sicherheit</a:t>
            </a:r>
          </a:p>
        </p:txBody>
      </p:sp>
      <p:sp>
        <p:nvSpPr>
          <p:cNvPr id="7" name="4">
            <a:extLst>
              <a:ext uri="{FF2B5EF4-FFF2-40B4-BE49-F238E27FC236}">
                <a16:creationId xmlns:a16="http://schemas.microsoft.com/office/drawing/2014/main" id="{D1F9EC16-81DA-4B25-BBDE-A7C8DBA459AD}"/>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4</a:t>
            </a:r>
          </a:p>
        </p:txBody>
      </p:sp>
      <p:graphicFrame>
        <p:nvGraphicFramePr>
          <p:cNvPr id="8" name="Table 7">
            <a:extLst>
              <a:ext uri="{FF2B5EF4-FFF2-40B4-BE49-F238E27FC236}">
                <a16:creationId xmlns:a16="http://schemas.microsoft.com/office/drawing/2014/main" id="{5EF32979-16D6-445D-81E2-ACE01600C3CC}"/>
              </a:ext>
            </a:extLst>
          </p:cNvPr>
          <p:cNvGraphicFramePr/>
          <p:nvPr>
            <p:extLst>
              <p:ext uri="{D42A27DB-BD31-4B8C-83A1-F6EECF244321}">
                <p14:modId xmlns:p14="http://schemas.microsoft.com/office/powerpoint/2010/main" val="945418193"/>
              </p:ext>
            </p:extLst>
          </p:nvPr>
        </p:nvGraphicFramePr>
        <p:xfrm>
          <a:off x="666749" y="1762125"/>
          <a:ext cx="10858499" cy="3714750"/>
        </p:xfrm>
        <a:graphic>
          <a:graphicData uri="http://schemas.openxmlformats.org/drawingml/2006/table">
            <a:tbl>
              <a:tblPr/>
              <a:tblGrid>
                <a:gridCol w="5024082">
                  <a:extLst>
                    <a:ext uri="{9D8B030D-6E8A-4147-A177-3AD203B41FA5}">
                      <a16:colId xmlns:a16="http://schemas.microsoft.com/office/drawing/2014/main" val="20000"/>
                    </a:ext>
                  </a:extLst>
                </a:gridCol>
                <a:gridCol w="5834417">
                  <a:extLst>
                    <a:ext uri="{9D8B030D-6E8A-4147-A177-3AD203B41FA5}">
                      <a16:colId xmlns:a16="http://schemas.microsoft.com/office/drawing/2014/main" val="20001"/>
                    </a:ext>
                  </a:extLst>
                </a:gridCol>
              </a:tblGrid>
              <a:tr h="619125">
                <a:tc>
                  <a:txBody>
                    <a:bodyPr/>
                    <a:lstStyle/>
                    <a:p>
                      <a:r>
                        <a:rPr sz="1800" b="1">
                          <a:solidFill>
                            <a:srgbClr val="FFFFFF"/>
                          </a:solidFill>
                          <a:latin typeface="Calibri"/>
                          <a:ea typeface="Calibri"/>
                          <a:cs typeface="Calibri"/>
                        </a:rPr>
                        <a:t>Prüfbereich</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00" b="1" dirty="0" err="1">
                          <a:solidFill>
                            <a:srgbClr val="FFFFFF"/>
                          </a:solidFill>
                          <a:latin typeface="Calibri"/>
                          <a:ea typeface="Calibri"/>
                          <a:cs typeface="Calibri"/>
                        </a:rPr>
                        <a:t>Unsere</a:t>
                      </a:r>
                      <a:r>
                        <a:rPr sz="1800" b="1" dirty="0">
                          <a:solidFill>
                            <a:srgbClr val="FFFFFF"/>
                          </a:solidFill>
                          <a:latin typeface="Calibri"/>
                          <a:ea typeface="Calibri"/>
                          <a:cs typeface="Calibri"/>
                        </a:rPr>
                        <a:t> </a:t>
                      </a:r>
                      <a:r>
                        <a:rPr sz="1800" b="1" dirty="0" err="1">
                          <a:solidFill>
                            <a:srgbClr val="FFFFFF"/>
                          </a:solidFill>
                          <a:latin typeface="Calibri"/>
                          <a:ea typeface="Calibri"/>
                          <a:cs typeface="Calibri"/>
                        </a:rPr>
                        <a:t>Werkzeuge</a:t>
                      </a:r>
                      <a:endParaRPr sz="1800" b="1" dirty="0">
                        <a:solidFill>
                          <a:srgbClr val="FFFFFF"/>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619125">
                <a:tc>
                  <a:txBody>
                    <a:bodyPr/>
                    <a:lstStyle/>
                    <a:p>
                      <a:r>
                        <a:rPr sz="1800" b="0">
                          <a:solidFill>
                            <a:srgbClr val="263640"/>
                          </a:solidFill>
                          <a:latin typeface="Calibri"/>
                          <a:ea typeface="Calibri"/>
                          <a:cs typeface="Calibri"/>
                        </a:rPr>
                        <a:t>Eigener Code / SAST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00" b="0">
                          <a:solidFill>
                            <a:srgbClr val="263640"/>
                          </a:solidFill>
                          <a:latin typeface="Calibri"/>
                          <a:ea typeface="Calibri"/>
                          <a:cs typeface="Calibri"/>
                        </a:rPr>
                        <a:t>Semgrep, Bandit</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619125">
                <a:tc>
                  <a:txBody>
                    <a:bodyPr/>
                    <a:lstStyle/>
                    <a:p>
                      <a:r>
                        <a:rPr sz="1800" b="0">
                          <a:solidFill>
                            <a:srgbClr val="263640"/>
                          </a:solidFill>
                          <a:latin typeface="Calibri"/>
                          <a:ea typeface="Calibri"/>
                          <a:cs typeface="Calibri"/>
                        </a:rPr>
                        <a:t>Komponenten / SCA</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00" b="0">
                          <a:solidFill>
                            <a:srgbClr val="263640"/>
                          </a:solidFill>
                          <a:latin typeface="Calibri"/>
                          <a:ea typeface="Calibri"/>
                          <a:cs typeface="Calibri"/>
                        </a:rPr>
                        <a:t>Trivy-FS</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619125">
                <a:tc>
                  <a:txBody>
                    <a:bodyPr/>
                    <a:lstStyle/>
                    <a:p>
                      <a:r>
                        <a:rPr sz="1800" b="0">
                          <a:solidFill>
                            <a:srgbClr val="263640"/>
                          </a:solidFill>
                          <a:latin typeface="Calibri"/>
                          <a:ea typeface="Calibri"/>
                          <a:cs typeface="Calibri"/>
                        </a:rPr>
                        <a:t>Container und Build</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00" b="0">
                          <a:solidFill>
                            <a:srgbClr val="263640"/>
                          </a:solidFill>
                          <a:latin typeface="Calibri"/>
                          <a:ea typeface="Calibri"/>
                          <a:cs typeface="Calibri"/>
                        </a:rPr>
                        <a:t>Trivy, hadolint, Dockle</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3"/>
                  </a:ext>
                </a:extLst>
              </a:tr>
              <a:tr h="619125">
                <a:tc>
                  <a:txBody>
                    <a:bodyPr/>
                    <a:lstStyle/>
                    <a:p>
                      <a:r>
                        <a:rPr sz="1800" b="0">
                          <a:solidFill>
                            <a:srgbClr val="263640"/>
                          </a:solidFill>
                          <a:latin typeface="Calibri"/>
                          <a:ea typeface="Calibri"/>
                          <a:cs typeface="Calibri"/>
                        </a:rPr>
                        <a:t>Laufende Webanwendung</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00" b="0">
                          <a:solidFill>
                            <a:srgbClr val="263640"/>
                          </a:solidFill>
                          <a:latin typeface="Calibri"/>
                          <a:ea typeface="Calibri"/>
                          <a:cs typeface="Calibri"/>
                        </a:rPr>
                        <a:t>OWASP ZAP, passiv</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4"/>
                  </a:ext>
                </a:extLst>
              </a:tr>
              <a:tr h="619125">
                <a:tc>
                  <a:txBody>
                    <a:bodyPr/>
                    <a:lstStyle/>
                    <a:p>
                      <a:r>
                        <a:rPr sz="1800" b="0" dirty="0">
                          <a:solidFill>
                            <a:srgbClr val="263640"/>
                          </a:solidFill>
                          <a:latin typeface="Calibri"/>
                          <a:ea typeface="Calibri"/>
                          <a:cs typeface="Calibri"/>
                        </a:rPr>
                        <a:t>Secrets und </a:t>
                      </a:r>
                      <a:r>
                        <a:rPr sz="1800" b="0" dirty="0" err="1">
                          <a:solidFill>
                            <a:srgbClr val="263640"/>
                          </a:solidFill>
                          <a:latin typeface="Calibri"/>
                          <a:ea typeface="Calibri"/>
                          <a:cs typeface="Calibri"/>
                        </a:rPr>
                        <a:t>Inventar</a:t>
                      </a:r>
                      <a:endParaRPr sz="1800" b="0" dirty="0">
                        <a:solidFill>
                          <a:srgbClr val="263640"/>
                        </a:solidFill>
                        <a:latin typeface="Calibri"/>
                        <a:ea typeface="Calibri"/>
                        <a:cs typeface="Calibri"/>
                      </a:endParaRP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00" b="0" dirty="0">
                          <a:solidFill>
                            <a:srgbClr val="263640"/>
                          </a:solidFill>
                          <a:latin typeface="Calibri"/>
                          <a:ea typeface="Calibri"/>
                          <a:cs typeface="Calibri"/>
                        </a:rPr>
                        <a:t>Gitleaks, </a:t>
                      </a:r>
                      <a:r>
                        <a:rPr sz="1800" b="0" dirty="0" err="1">
                          <a:solidFill>
                            <a:srgbClr val="263640"/>
                          </a:solidFill>
                          <a:latin typeface="Calibri"/>
                          <a:ea typeface="Calibri"/>
                          <a:cs typeface="Calibri"/>
                        </a:rPr>
                        <a:t>Syft</a:t>
                      </a:r>
                      <a:r>
                        <a:rPr sz="1800" b="0" dirty="0">
                          <a:solidFill>
                            <a:srgbClr val="263640"/>
                          </a:solidFill>
                          <a:latin typeface="Calibri"/>
                          <a:ea typeface="Calibri"/>
                          <a:cs typeface="Calibri"/>
                        </a:rPr>
                        <a:t> / </a:t>
                      </a:r>
                      <a:r>
                        <a:rPr sz="1800" b="0" dirty="0" err="1">
                          <a:solidFill>
                            <a:srgbClr val="263640"/>
                          </a:solidFill>
                          <a:latin typeface="Calibri"/>
                          <a:ea typeface="Calibri"/>
                          <a:cs typeface="Calibri"/>
                        </a:rPr>
                        <a:t>CycloneDX</a:t>
                      </a:r>
                      <a:endParaRPr sz="1800" b="0" dirty="0">
                        <a:solidFill>
                          <a:srgbClr val="263640"/>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5"/>
                  </a:ext>
                </a:extLst>
              </a:tr>
            </a:tbl>
          </a:graphicData>
        </a:graphic>
      </p:graphicFrame>
      <p:sp>
        <p:nvSpPr>
          <p:cNvPr id="9" name="Syft liefert eine SBOM. Ein Inventar ersetzt keinen Schwachs">
            <a:extLst>
              <a:ext uri="{FF2B5EF4-FFF2-40B4-BE49-F238E27FC236}">
                <a16:creationId xmlns:a16="http://schemas.microsoft.com/office/drawing/2014/main" id="{8FD998F0-1FFB-4FA4-AAB1-1C71B1E59C98}"/>
              </a:ext>
            </a:extLst>
          </p:cNvPr>
          <p:cNvSpPr>
            <a:spLocks noGrp="1"/>
          </p:cNvSpPr>
          <p:nvPr/>
        </p:nvSpPr>
        <p:spPr>
          <a:xfrm>
            <a:off x="666750" y="5705475"/>
            <a:ext cx="10858500" cy="333375"/>
          </a:xfrm>
          <a:prstGeom prst="rect">
            <a:avLst/>
          </a:prstGeom>
          <a:noFill/>
          <a:ln w="0">
            <a:noFill/>
          </a:ln>
        </p:spPr>
        <p:txBody>
          <a:bodyPr wrap="square" lIns="0" tIns="0" rIns="0" bIns="0" anchor="t">
            <a:noAutofit/>
          </a:bodyPr>
          <a:lstStyle>
            <a:defPPr algn="l">
              <a:defRPr sz="1800" b="0">
                <a:solidFill>
                  <a:srgbClr val="52616A"/>
                </a:solidFill>
                <a:latin typeface="Calibri"/>
                <a:ea typeface="Calibri"/>
                <a:cs typeface="Calibri"/>
              </a:defRPr>
            </a:defPPr>
          </a:lstStyle>
          <a:p>
            <a:pPr algn="l">
              <a:defRPr sz="1800" b="0">
                <a:solidFill>
                  <a:srgbClr val="52616A"/>
                </a:solidFill>
                <a:latin typeface="Calibri"/>
                <a:ea typeface="Calibri"/>
                <a:cs typeface="Calibri"/>
              </a:defRPr>
            </a:pPr>
            <a:r>
              <a:rPr sz="1800" b="0" dirty="0" err="1">
                <a:solidFill>
                  <a:srgbClr val="52616A"/>
                </a:solidFill>
                <a:latin typeface="Calibri"/>
                <a:ea typeface="Calibri"/>
                <a:cs typeface="Calibri"/>
              </a:rPr>
              <a:t>Syft</a:t>
            </a:r>
            <a:r>
              <a:rPr sz="1800" b="0" dirty="0">
                <a:solidFill>
                  <a:srgbClr val="52616A"/>
                </a:solidFill>
                <a:latin typeface="Calibri"/>
                <a:ea typeface="Calibri"/>
                <a:cs typeface="Calibri"/>
              </a:rPr>
              <a:t> </a:t>
            </a:r>
            <a:r>
              <a:rPr sz="1800" b="0" dirty="0" err="1">
                <a:solidFill>
                  <a:srgbClr val="52616A"/>
                </a:solidFill>
                <a:latin typeface="Calibri"/>
                <a:ea typeface="Calibri"/>
                <a:cs typeface="Calibri"/>
              </a:rPr>
              <a:t>liefert</a:t>
            </a:r>
            <a:r>
              <a:rPr sz="1800" b="0" dirty="0">
                <a:solidFill>
                  <a:srgbClr val="52616A"/>
                </a:solidFill>
                <a:latin typeface="Calibri"/>
                <a:ea typeface="Calibri"/>
                <a:cs typeface="Calibri"/>
              </a:rPr>
              <a:t> </a:t>
            </a:r>
            <a:r>
              <a:rPr sz="1800" b="0" dirty="0" err="1">
                <a:solidFill>
                  <a:srgbClr val="52616A"/>
                </a:solidFill>
                <a:latin typeface="Calibri"/>
                <a:ea typeface="Calibri"/>
                <a:cs typeface="Calibri"/>
              </a:rPr>
              <a:t>eine</a:t>
            </a:r>
            <a:r>
              <a:rPr sz="1800" b="0" dirty="0">
                <a:solidFill>
                  <a:srgbClr val="52616A"/>
                </a:solidFill>
                <a:latin typeface="Calibri"/>
                <a:ea typeface="Calibri"/>
                <a:cs typeface="Calibri"/>
              </a:rPr>
              <a:t> SBOM. Ein </a:t>
            </a:r>
            <a:r>
              <a:rPr sz="1800" b="0" dirty="0" err="1">
                <a:solidFill>
                  <a:srgbClr val="52616A"/>
                </a:solidFill>
                <a:latin typeface="Calibri"/>
                <a:ea typeface="Calibri"/>
                <a:cs typeface="Calibri"/>
              </a:rPr>
              <a:t>Inventar</a:t>
            </a:r>
            <a:r>
              <a:rPr sz="1800" b="0" dirty="0">
                <a:solidFill>
                  <a:srgbClr val="52616A"/>
                </a:solidFill>
                <a:latin typeface="Calibri"/>
                <a:ea typeface="Calibri"/>
                <a:cs typeface="Calibri"/>
              </a:rPr>
              <a:t> </a:t>
            </a:r>
            <a:r>
              <a:rPr sz="1800" b="0" dirty="0" err="1">
                <a:solidFill>
                  <a:srgbClr val="52616A"/>
                </a:solidFill>
                <a:latin typeface="Calibri"/>
                <a:ea typeface="Calibri"/>
                <a:cs typeface="Calibri"/>
              </a:rPr>
              <a:t>ersetzt</a:t>
            </a:r>
            <a:r>
              <a:rPr sz="1800" b="0" dirty="0">
                <a:solidFill>
                  <a:srgbClr val="52616A"/>
                </a:solidFill>
                <a:latin typeface="Calibri"/>
                <a:ea typeface="Calibri"/>
                <a:cs typeface="Calibri"/>
              </a:rPr>
              <a:t> </a:t>
            </a:r>
            <a:r>
              <a:rPr sz="1800" b="0" dirty="0" err="1">
                <a:solidFill>
                  <a:srgbClr val="52616A"/>
                </a:solidFill>
                <a:latin typeface="Calibri"/>
                <a:ea typeface="Calibri"/>
                <a:cs typeface="Calibri"/>
              </a:rPr>
              <a:t>keinen</a:t>
            </a:r>
            <a:r>
              <a:rPr sz="1800" b="0" dirty="0">
                <a:solidFill>
                  <a:srgbClr val="52616A"/>
                </a:solidFill>
                <a:latin typeface="Calibri"/>
                <a:ea typeface="Calibri"/>
                <a:cs typeface="Calibri"/>
              </a:rPr>
              <a:t> </a:t>
            </a:r>
            <a:r>
              <a:rPr sz="1800" b="0" dirty="0" err="1">
                <a:solidFill>
                  <a:srgbClr val="52616A"/>
                </a:solidFill>
                <a:latin typeface="Calibri"/>
                <a:ea typeface="Calibri"/>
                <a:cs typeface="Calibri"/>
              </a:rPr>
              <a:t>Schwachstellenscan</a:t>
            </a:r>
            <a:r>
              <a:rPr sz="1800" b="0" dirty="0">
                <a:solidFill>
                  <a:srgbClr val="52616A"/>
                </a:solidFill>
                <a:latin typeface="Calibri"/>
                <a:ea typeface="Calibri"/>
                <a:cs typeface="Calibri"/>
              </a:rPr>
              <a:t>.</a:t>
            </a:r>
          </a:p>
        </p:txBody>
      </p:sp>
    </p:spTree>
    <p:extLst>
      <p:ext uri="{BB962C8B-B14F-4D97-AF65-F5344CB8AC3E}">
        <p14:creationId xmlns:p14="http://schemas.microsoft.com/office/powerpoint/2010/main" val="2141613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6E200-9A6E-8C30-30B0-DDB70516FD49}"/>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76F6F3F3-C98F-402F-342C-50C8D09243B9}"/>
              </a:ext>
            </a:extLst>
          </p:cNvPr>
          <p:cNvPicPr>
            <a:picLocks noChangeAspect="1"/>
          </p:cNvPicPr>
          <p:nvPr/>
        </p:nvPicPr>
        <p:blipFill>
          <a:blip r:embed="rId3"/>
          <a:stretch/>
        </p:blipFill>
        <p:spPr>
          <a:xfrm>
            <a:off x="10325100" y="228600"/>
            <a:ext cx="1295400" cy="693039"/>
          </a:xfrm>
          <a:prstGeom prst="rect">
            <a:avLst/>
          </a:prstGeom>
        </p:spPr>
      </p:pic>
      <p:sp>
        <p:nvSpPr>
          <p:cNvPr id="2" name="Demo: Code, Finding und Gateentscheidung">
            <a:extLst>
              <a:ext uri="{FF2B5EF4-FFF2-40B4-BE49-F238E27FC236}">
                <a16:creationId xmlns:a16="http://schemas.microsoft.com/office/drawing/2014/main" id="{BE1B928D-55E1-C7C6-443C-AFD327A218BF}"/>
              </a:ext>
            </a:extLst>
          </p:cNvPr>
          <p:cNvSpPr>
            <a:spLocks noGrp="1"/>
          </p:cNvSpPr>
          <p:nvPr/>
        </p:nvSpPr>
        <p:spPr>
          <a:xfrm>
            <a:off x="3216275" y="781050"/>
            <a:ext cx="57594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lang="en-US" sz="4800" b="0" dirty="0">
                <a:solidFill>
                  <a:srgbClr val="52616A"/>
                </a:solidFill>
                <a:latin typeface="Calibri"/>
                <a:ea typeface="Calibri"/>
                <a:cs typeface="Calibri"/>
              </a:rPr>
              <a:t>Live-Demo der Pipeline</a:t>
            </a:r>
            <a:endParaRPr sz="4800" b="0" dirty="0">
              <a:solidFill>
                <a:srgbClr val="52616A"/>
              </a:solidFill>
              <a:latin typeface="Calibri"/>
              <a:ea typeface="Calibri"/>
              <a:cs typeface="Calibri"/>
            </a:endParaRPr>
          </a:p>
        </p:txBody>
      </p:sp>
      <p:sp>
        <p:nvSpPr>
          <p:cNvPr id="4" name="Befehle im Verzeichnis devsecops-pipeline; vollständige Nach">
            <a:extLst>
              <a:ext uri="{FF2B5EF4-FFF2-40B4-BE49-F238E27FC236}">
                <a16:creationId xmlns:a16="http://schemas.microsoft.com/office/drawing/2014/main" id="{2B854866-5F3F-EDE0-A9CC-59DFF7889C41}"/>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endParaRPr sz="1200" b="0" dirty="0">
              <a:solidFill>
                <a:srgbClr val="52616A"/>
              </a:solidFill>
              <a:latin typeface="Calibri"/>
              <a:ea typeface="Calibri"/>
              <a:cs typeface="Calibri"/>
            </a:endParaRPr>
          </a:p>
        </p:txBody>
      </p:sp>
      <p:sp>
        <p:nvSpPr>
          <p:cNvPr id="5" name="Rectangle 4">
            <a:extLst>
              <a:ext uri="{FF2B5EF4-FFF2-40B4-BE49-F238E27FC236}">
                <a16:creationId xmlns:a16="http://schemas.microsoft.com/office/drawing/2014/main" id="{4C608F54-61A5-1134-2C9F-B515B44D2F33}"/>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32AC5134-2062-B510-7342-5042AAF901AD}"/>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defRPr sz="1125" b="0">
                <a:solidFill>
                  <a:srgbClr val="52616A"/>
                </a:solidFill>
                <a:latin typeface="Calibri"/>
                <a:ea typeface="Calibri"/>
                <a:cs typeface="Calibri"/>
              </a:defRPr>
            </a:pPr>
            <a:r>
              <a:rPr lang="de-DE" sz="1125" dirty="0">
                <a:solidFill>
                  <a:srgbClr val="52616A"/>
                </a:solidFill>
                <a:latin typeface="Calibri"/>
                <a:ea typeface="Calibri"/>
                <a:cs typeface="Calibri"/>
              </a:rPr>
              <a:t>DHBW Mosbach – Angewandte Informatik | IT-Sicherheit</a:t>
            </a:r>
          </a:p>
        </p:txBody>
      </p:sp>
      <p:sp>
        <p:nvSpPr>
          <p:cNvPr id="7" name="13">
            <a:extLst>
              <a:ext uri="{FF2B5EF4-FFF2-40B4-BE49-F238E27FC236}">
                <a16:creationId xmlns:a16="http://schemas.microsoft.com/office/drawing/2014/main" id="{490E3AA1-4AE0-63BD-2CAC-BFFD2652D0BC}"/>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lang="en-US" sz="1275" b="0" dirty="0">
                <a:solidFill>
                  <a:srgbClr val="52616A"/>
                </a:solidFill>
                <a:latin typeface="Calibri"/>
                <a:ea typeface="Calibri"/>
                <a:cs typeface="Calibri"/>
              </a:rPr>
              <a:t>7</a:t>
            </a:r>
            <a:endParaRPr sz="1275" b="0" dirty="0">
              <a:solidFill>
                <a:srgbClr val="52616A"/>
              </a:solidFill>
              <a:latin typeface="Calibri"/>
              <a:ea typeface="Calibri"/>
              <a:cs typeface="Calibri"/>
            </a:endParaRPr>
          </a:p>
        </p:txBody>
      </p:sp>
      <p:sp>
        <p:nvSpPr>
          <p:cNvPr id="9" name="2  Dateidienst unsicher und bereinigt vergleichen">
            <a:extLst>
              <a:ext uri="{FF2B5EF4-FFF2-40B4-BE49-F238E27FC236}">
                <a16:creationId xmlns:a16="http://schemas.microsoft.com/office/drawing/2014/main" id="{0AB51692-5B17-F998-01FE-8B98A6E10827}"/>
              </a:ext>
            </a:extLst>
          </p:cNvPr>
          <p:cNvSpPr>
            <a:spLocks noGrp="1"/>
          </p:cNvSpPr>
          <p:nvPr/>
        </p:nvSpPr>
        <p:spPr>
          <a:xfrm>
            <a:off x="666750" y="2543175"/>
            <a:ext cx="10858500" cy="457200"/>
          </a:xfrm>
          <a:prstGeom prst="rect">
            <a:avLst/>
          </a:prstGeom>
          <a:noFill/>
          <a:ln w="0">
            <a:noFill/>
          </a:ln>
        </p:spPr>
        <p:txBody>
          <a:bodyPr wrap="square" lIns="0" tIns="0" rIns="0" bIns="0" anchor="t">
            <a:noAutofit/>
          </a:bodyPr>
          <a:lstStyle>
            <a:defPPr algn="l">
              <a:defRPr sz="2250" b="1">
                <a:solidFill>
                  <a:srgbClr val="52616A"/>
                </a:solidFill>
                <a:latin typeface="Calibri"/>
                <a:ea typeface="Calibri"/>
                <a:cs typeface="Calibri"/>
              </a:defRPr>
            </a:defPPr>
          </a:lstStyle>
          <a:p>
            <a:pPr algn="l">
              <a:defRPr sz="2250" b="1">
                <a:solidFill>
                  <a:srgbClr val="52616A"/>
                </a:solidFill>
                <a:latin typeface="Calibri"/>
                <a:ea typeface="Calibri"/>
                <a:cs typeface="Calibri"/>
              </a:defRPr>
            </a:pPr>
            <a:endParaRPr sz="2250" b="1" dirty="0">
              <a:solidFill>
                <a:srgbClr val="52616A"/>
              </a:solidFill>
              <a:latin typeface="Calibri"/>
              <a:ea typeface="Calibri"/>
              <a:cs typeface="Calibri"/>
            </a:endParaRPr>
          </a:p>
        </p:txBody>
      </p:sp>
      <p:sp>
        <p:nvSpPr>
          <p:cNvPr id="10" name="python scripts/pipeline.py workloads/03-container-service/vu">
            <a:extLst>
              <a:ext uri="{FF2B5EF4-FFF2-40B4-BE49-F238E27FC236}">
                <a16:creationId xmlns:a16="http://schemas.microsoft.com/office/drawing/2014/main" id="{1D0FA64A-47FF-5092-9881-DC885DEF7EA4}"/>
              </a:ext>
            </a:extLst>
          </p:cNvPr>
          <p:cNvSpPr>
            <a:spLocks noGrp="1"/>
          </p:cNvSpPr>
          <p:nvPr/>
        </p:nvSpPr>
        <p:spPr>
          <a:xfrm>
            <a:off x="666750" y="3200400"/>
            <a:ext cx="10858500" cy="857250"/>
          </a:xfrm>
          <a:prstGeom prst="rect">
            <a:avLst/>
          </a:prstGeom>
          <a:noFill/>
          <a:ln w="0">
            <a:noFill/>
          </a:ln>
        </p:spPr>
        <p:txBody>
          <a:bodyPr wrap="square" lIns="0" tIns="0" rIns="0" bIns="0" anchor="t">
            <a:noAutofit/>
          </a:bodyPr>
          <a:lstStyle>
            <a:defPPr algn="l">
              <a:defRPr sz="1725" b="0">
                <a:solidFill>
                  <a:srgbClr val="263640"/>
                </a:solidFill>
                <a:latin typeface="Consolas"/>
                <a:ea typeface="Consolas"/>
                <a:cs typeface="Consolas"/>
              </a:defRPr>
            </a:defPPr>
          </a:lstStyle>
          <a:p>
            <a:pPr algn="l">
              <a:defRPr sz="1725" b="0">
                <a:solidFill>
                  <a:srgbClr val="263640"/>
                </a:solidFill>
                <a:latin typeface="Consolas"/>
                <a:ea typeface="Consolas"/>
                <a:cs typeface="Consolas"/>
              </a:defRPr>
            </a:pPr>
            <a:endParaRPr sz="1725" b="0" dirty="0">
              <a:solidFill>
                <a:srgbClr val="263640"/>
              </a:solidFill>
              <a:latin typeface="Consolas"/>
              <a:ea typeface="Consolas"/>
              <a:cs typeface="Consolas"/>
            </a:endParaRPr>
          </a:p>
        </p:txBody>
      </p:sp>
      <p:sp>
        <p:nvSpPr>
          <p:cNvPr id="11" name="3  Bericht und Gate-Datei öffnen">
            <a:extLst>
              <a:ext uri="{FF2B5EF4-FFF2-40B4-BE49-F238E27FC236}">
                <a16:creationId xmlns:a16="http://schemas.microsoft.com/office/drawing/2014/main" id="{7A0059C9-7D53-5312-307B-1C9D7ABC29E1}"/>
              </a:ext>
            </a:extLst>
          </p:cNvPr>
          <p:cNvSpPr>
            <a:spLocks noGrp="1"/>
          </p:cNvSpPr>
          <p:nvPr/>
        </p:nvSpPr>
        <p:spPr>
          <a:xfrm>
            <a:off x="666750" y="4343400"/>
            <a:ext cx="10858500" cy="457200"/>
          </a:xfrm>
          <a:prstGeom prst="rect">
            <a:avLst/>
          </a:prstGeom>
          <a:noFill/>
          <a:ln w="0">
            <a:noFill/>
          </a:ln>
        </p:spPr>
        <p:txBody>
          <a:bodyPr wrap="square" lIns="0" tIns="0" rIns="0" bIns="0" anchor="t">
            <a:noAutofit/>
          </a:bodyPr>
          <a:lstStyle>
            <a:defPPr algn="l">
              <a:defRPr sz="2250" b="1">
                <a:solidFill>
                  <a:srgbClr val="52616A"/>
                </a:solidFill>
                <a:latin typeface="Calibri"/>
                <a:ea typeface="Calibri"/>
                <a:cs typeface="Calibri"/>
              </a:defRPr>
            </a:defPPr>
          </a:lstStyle>
          <a:p>
            <a:pPr algn="l">
              <a:defRPr sz="2250" b="1">
                <a:solidFill>
                  <a:srgbClr val="52616A"/>
                </a:solidFill>
                <a:latin typeface="Calibri"/>
                <a:ea typeface="Calibri"/>
                <a:cs typeface="Calibri"/>
              </a:defRPr>
            </a:pPr>
            <a:endParaRPr sz="2250" b="1" dirty="0">
              <a:solidFill>
                <a:srgbClr val="52616A"/>
              </a:solidFill>
              <a:latin typeface="Calibri"/>
              <a:ea typeface="Calibri"/>
              <a:cs typeface="Calibri"/>
            </a:endParaRPr>
          </a:p>
        </p:txBody>
      </p:sp>
      <p:sp>
        <p:nvSpPr>
          <p:cNvPr id="12" name="run.json erklärt den Ablauf, raw/ zeigt den Toolbefund, gate">
            <a:extLst>
              <a:ext uri="{FF2B5EF4-FFF2-40B4-BE49-F238E27FC236}">
                <a16:creationId xmlns:a16="http://schemas.microsoft.com/office/drawing/2014/main" id="{DB4EDF04-739D-36ED-03E7-0F32B991C99C}"/>
              </a:ext>
            </a:extLst>
          </p:cNvPr>
          <p:cNvSpPr>
            <a:spLocks noGrp="1"/>
          </p:cNvSpPr>
          <p:nvPr/>
        </p:nvSpPr>
        <p:spPr>
          <a:xfrm>
            <a:off x="666750" y="4962525"/>
            <a:ext cx="10858500" cy="685800"/>
          </a:xfrm>
          <a:prstGeom prst="rect">
            <a:avLst/>
          </a:prstGeom>
          <a:noFill/>
          <a:ln w="0">
            <a:noFill/>
          </a:ln>
        </p:spPr>
        <p:txBody>
          <a:bodyPr wrap="square" lIns="0" tIns="0" rIns="0" bIns="0" anchor="t">
            <a:noAutofit/>
          </a:bodyPr>
          <a:lstStyle>
            <a:defPPr algn="l">
              <a:defRPr sz="1950" b="0">
                <a:solidFill>
                  <a:srgbClr val="263640"/>
                </a:solidFill>
                <a:latin typeface="Calibri"/>
                <a:ea typeface="Calibri"/>
                <a:cs typeface="Calibri"/>
              </a:defRPr>
            </a:defPPr>
          </a:lstStyle>
          <a:p>
            <a:pPr algn="l">
              <a:defRPr sz="1950" b="0">
                <a:solidFill>
                  <a:srgbClr val="263640"/>
                </a:solidFill>
                <a:latin typeface="Calibri"/>
                <a:ea typeface="Calibri"/>
                <a:cs typeface="Calibri"/>
              </a:defRPr>
            </a:pPr>
            <a:endParaRPr sz="1950" b="0" dirty="0">
              <a:solidFill>
                <a:srgbClr val="263640"/>
              </a:solidFill>
              <a:latin typeface="Calibri"/>
              <a:ea typeface="Calibri"/>
              <a:cs typeface="Calibri"/>
            </a:endParaRPr>
          </a:p>
        </p:txBody>
      </p:sp>
      <p:sp>
        <p:nvSpPr>
          <p:cNvPr id="13" name="Demo-Job grün: vulnerable wird abgelehnt, fixed besteht die ">
            <a:extLst>
              <a:ext uri="{FF2B5EF4-FFF2-40B4-BE49-F238E27FC236}">
                <a16:creationId xmlns:a16="http://schemas.microsoft.com/office/drawing/2014/main" id="{7AE1C36A-5210-D9D2-EC60-B146F45C8C05}"/>
              </a:ext>
            </a:extLst>
          </p:cNvPr>
          <p:cNvSpPr>
            <a:spLocks noGrp="1"/>
          </p:cNvSpPr>
          <p:nvPr/>
        </p:nvSpPr>
        <p:spPr>
          <a:xfrm>
            <a:off x="666750" y="5619750"/>
            <a:ext cx="10858500" cy="361950"/>
          </a:xfrm>
          <a:prstGeom prst="rect">
            <a:avLst/>
          </a:prstGeom>
          <a:noFill/>
          <a:ln w="0">
            <a:noFill/>
          </a:ln>
        </p:spPr>
        <p:txBody>
          <a:bodyPr wrap="square" lIns="0" tIns="0" rIns="0" bIns="0" anchor="t">
            <a:noAutofit/>
          </a:bodyPr>
          <a:lstStyle>
            <a:defPPr algn="l">
              <a:defRPr sz="1875" b="1">
                <a:solidFill>
                  <a:srgbClr val="E2001A"/>
                </a:solidFill>
                <a:latin typeface="Calibri"/>
                <a:ea typeface="Calibri"/>
                <a:cs typeface="Calibri"/>
              </a:defRPr>
            </a:defPPr>
          </a:lstStyle>
          <a:p>
            <a:pPr algn="l">
              <a:defRPr sz="1875" b="1">
                <a:solidFill>
                  <a:srgbClr val="E2001A"/>
                </a:solidFill>
                <a:latin typeface="Calibri"/>
                <a:ea typeface="Calibri"/>
                <a:cs typeface="Calibri"/>
              </a:defRPr>
            </a:pPr>
            <a:endParaRPr sz="1875" b="1" dirty="0">
              <a:solidFill>
                <a:srgbClr val="E2001A"/>
              </a:solidFill>
              <a:latin typeface="Calibri"/>
              <a:ea typeface="Calibri"/>
              <a:cs typeface="Calibri"/>
            </a:endParaRPr>
          </a:p>
        </p:txBody>
      </p:sp>
      <p:pic>
        <p:nvPicPr>
          <p:cNvPr id="15" name="Picture 14">
            <a:extLst>
              <a:ext uri="{FF2B5EF4-FFF2-40B4-BE49-F238E27FC236}">
                <a16:creationId xmlns:a16="http://schemas.microsoft.com/office/drawing/2014/main" id="{67806159-D6D8-AA48-796F-DC908A0076DE}"/>
              </a:ext>
            </a:extLst>
          </p:cNvPr>
          <p:cNvPicPr>
            <a:picLocks noChangeAspect="1"/>
          </p:cNvPicPr>
          <p:nvPr/>
        </p:nvPicPr>
        <p:blipFill>
          <a:blip r:embed="rId4"/>
          <a:srcRect t="1000"/>
          <a:stretch>
            <a:fillRect/>
          </a:stretch>
        </p:blipFill>
        <p:spPr>
          <a:xfrm>
            <a:off x="2225675" y="1752600"/>
            <a:ext cx="7740650" cy="4032008"/>
          </a:xfrm>
          <a:prstGeom prst="rect">
            <a:avLst/>
          </a:prstGeom>
        </p:spPr>
      </p:pic>
      <p:sp>
        <p:nvSpPr>
          <p:cNvPr id="17" name="Skript S. 32–33, 37–39 und 46 (PDF-Seiten 33–34, 38–40 und 4">
            <a:extLst>
              <a:ext uri="{FF2B5EF4-FFF2-40B4-BE49-F238E27FC236}">
                <a16:creationId xmlns:a16="http://schemas.microsoft.com/office/drawing/2014/main" id="{86369F87-3576-8284-95C0-4701A4A5AC14}"/>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r>
              <a:rPr sz="1200" b="0" dirty="0" err="1">
                <a:solidFill>
                  <a:srgbClr val="52616A"/>
                </a:solidFill>
                <a:latin typeface="Calibri"/>
                <a:ea typeface="Calibri"/>
                <a:cs typeface="Calibri"/>
              </a:rPr>
              <a:t>Skript</a:t>
            </a:r>
            <a:r>
              <a:rPr sz="1200" b="0" dirty="0">
                <a:solidFill>
                  <a:srgbClr val="52616A"/>
                </a:solidFill>
                <a:latin typeface="Calibri"/>
                <a:ea typeface="Calibri"/>
                <a:cs typeface="Calibri"/>
              </a:rPr>
              <a:t> S. </a:t>
            </a:r>
            <a:r>
              <a:rPr lang="en-US" sz="1200" b="0" dirty="0">
                <a:solidFill>
                  <a:srgbClr val="52616A"/>
                </a:solidFill>
                <a:latin typeface="Calibri"/>
                <a:ea typeface="Calibri"/>
                <a:cs typeface="Calibri"/>
              </a:rPr>
              <a:t>36</a:t>
            </a:r>
            <a:endParaRPr sz="1200" b="0" dirty="0">
              <a:solidFill>
                <a:srgbClr val="52616A"/>
              </a:solidFill>
              <a:latin typeface="Calibri"/>
              <a:ea typeface="Calibri"/>
              <a:cs typeface="Calibri"/>
            </a:endParaRPr>
          </a:p>
        </p:txBody>
      </p:sp>
    </p:spTree>
    <p:extLst>
      <p:ext uri="{BB962C8B-B14F-4D97-AF65-F5344CB8AC3E}">
        <p14:creationId xmlns:p14="http://schemas.microsoft.com/office/powerpoint/2010/main" val="3577525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5063CB9-DF56-4192-978C-9F775C8C39F1}"/>
              </a:ext>
            </a:extLst>
          </p:cNvPr>
          <p:cNvPicPr>
            <a:picLocks noChangeAspect="1"/>
          </p:cNvPicPr>
          <p:nvPr/>
        </p:nvPicPr>
        <p:blipFill>
          <a:blip r:embed="rId3"/>
          <a:stretch/>
        </p:blipFill>
        <p:spPr>
          <a:xfrm>
            <a:off x="10325100" y="228600"/>
            <a:ext cx="1295400" cy="693039"/>
          </a:xfrm>
          <a:prstGeom prst="rect">
            <a:avLst/>
          </a:prstGeom>
        </p:spPr>
      </p:pic>
      <p:sp>
        <p:nvSpPr>
          <p:cNvPr id="2" name="Reserve: vollständige Gate-Matrix">
            <a:extLst>
              <a:ext uri="{FF2B5EF4-FFF2-40B4-BE49-F238E27FC236}">
                <a16:creationId xmlns:a16="http://schemas.microsoft.com/office/drawing/2014/main" id="{8065BA01-18C5-4B67-AE78-4C719769AA86}"/>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lang="en-US" sz="3150" dirty="0" err="1">
                <a:solidFill>
                  <a:srgbClr val="52616A"/>
                </a:solidFill>
                <a:latin typeface="Calibri"/>
                <a:ea typeface="Calibri"/>
                <a:cs typeface="Calibri"/>
              </a:rPr>
              <a:t>V</a:t>
            </a:r>
            <a:r>
              <a:rPr sz="3150" b="0" dirty="0" err="1">
                <a:solidFill>
                  <a:srgbClr val="52616A"/>
                </a:solidFill>
                <a:latin typeface="Calibri"/>
                <a:ea typeface="Calibri"/>
                <a:cs typeface="Calibri"/>
              </a:rPr>
              <a:t>ollständige</a:t>
            </a:r>
            <a:r>
              <a:rPr sz="3150" b="0" dirty="0">
                <a:solidFill>
                  <a:srgbClr val="52616A"/>
                </a:solidFill>
                <a:latin typeface="Calibri"/>
                <a:ea typeface="Calibri"/>
                <a:cs typeface="Calibri"/>
              </a:rPr>
              <a:t> Gate-Matrix</a:t>
            </a:r>
          </a:p>
        </p:txBody>
      </p:sp>
      <p:sp>
        <p:nvSpPr>
          <p:cNvPr id="3" name="Rectangle 2">
            <a:extLst>
              <a:ext uri="{FF2B5EF4-FFF2-40B4-BE49-F238E27FC236}">
                <a16:creationId xmlns:a16="http://schemas.microsoft.com/office/drawing/2014/main" id="{01EFE864-B5FC-46B3-883A-5F2A782A9E49}"/>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policy/thresholds.yaml; technische Fehler führen unabhängig ">
            <a:extLst>
              <a:ext uri="{FF2B5EF4-FFF2-40B4-BE49-F238E27FC236}">
                <a16:creationId xmlns:a16="http://schemas.microsoft.com/office/drawing/2014/main" id="{0392C0D4-4425-4A76-A635-2A92344B796A}"/>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endParaRPr sz="1200" b="0" dirty="0">
              <a:solidFill>
                <a:srgbClr val="52616A"/>
              </a:solidFill>
              <a:latin typeface="Calibri"/>
              <a:ea typeface="Calibri"/>
              <a:cs typeface="Calibri"/>
            </a:endParaRPr>
          </a:p>
        </p:txBody>
      </p:sp>
      <p:sp>
        <p:nvSpPr>
          <p:cNvPr id="5" name="Rectangle 4">
            <a:extLst>
              <a:ext uri="{FF2B5EF4-FFF2-40B4-BE49-F238E27FC236}">
                <a16:creationId xmlns:a16="http://schemas.microsoft.com/office/drawing/2014/main" id="{62DBAF80-2B91-405B-AA46-A13B74C4120E}"/>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8B644FA7-AA04-410E-AA9D-917B5A5591D8}"/>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defRPr sz="1125" b="0">
                <a:solidFill>
                  <a:srgbClr val="52616A"/>
                </a:solidFill>
                <a:latin typeface="Calibri"/>
                <a:ea typeface="Calibri"/>
                <a:cs typeface="Calibri"/>
              </a:defRPr>
            </a:pPr>
            <a:r>
              <a:rPr lang="de-DE" sz="1125" dirty="0">
                <a:solidFill>
                  <a:srgbClr val="52616A"/>
                </a:solidFill>
                <a:latin typeface="Calibri"/>
                <a:ea typeface="Calibri"/>
                <a:cs typeface="Calibri"/>
              </a:rPr>
              <a:t>DHBW Mosbach – Angewandte Informatik | IT-Sicherheit</a:t>
            </a:r>
          </a:p>
        </p:txBody>
      </p:sp>
      <p:sp>
        <p:nvSpPr>
          <p:cNvPr id="7" name="Anhang 1">
            <a:extLst>
              <a:ext uri="{FF2B5EF4-FFF2-40B4-BE49-F238E27FC236}">
                <a16:creationId xmlns:a16="http://schemas.microsoft.com/office/drawing/2014/main" id="{225119B6-11A4-4252-BFED-3C23F364FEF3}"/>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lang="en-US" sz="1275" dirty="0">
                <a:solidFill>
                  <a:srgbClr val="52616A"/>
                </a:solidFill>
                <a:latin typeface="Calibri"/>
                <a:ea typeface="Calibri"/>
                <a:cs typeface="Calibri"/>
              </a:rPr>
              <a:t>8</a:t>
            </a:r>
            <a:endParaRPr sz="1275" b="0" dirty="0">
              <a:solidFill>
                <a:srgbClr val="52616A"/>
              </a:solidFill>
              <a:latin typeface="Calibri"/>
              <a:ea typeface="Calibri"/>
              <a:cs typeface="Calibri"/>
            </a:endParaRPr>
          </a:p>
        </p:txBody>
      </p:sp>
      <p:graphicFrame>
        <p:nvGraphicFramePr>
          <p:cNvPr id="8" name="Table 7">
            <a:extLst>
              <a:ext uri="{FF2B5EF4-FFF2-40B4-BE49-F238E27FC236}">
                <a16:creationId xmlns:a16="http://schemas.microsoft.com/office/drawing/2014/main" id="{9321CCF5-29BB-408F-B0C9-5C9450E8F914}"/>
              </a:ext>
            </a:extLst>
          </p:cNvPr>
          <p:cNvGraphicFramePr/>
          <p:nvPr>
            <p:extLst>
              <p:ext uri="{D42A27DB-BD31-4B8C-83A1-F6EECF244321}">
                <p14:modId xmlns:p14="http://schemas.microsoft.com/office/powerpoint/2010/main" val="681463334"/>
              </p:ext>
            </p:extLst>
          </p:nvPr>
        </p:nvGraphicFramePr>
        <p:xfrm>
          <a:off x="666750" y="1762125"/>
          <a:ext cx="10858500" cy="3762374"/>
        </p:xfrm>
        <a:graphic>
          <a:graphicData uri="http://schemas.openxmlformats.org/drawingml/2006/table">
            <a:tbl>
              <a:tblPr/>
              <a:tblGrid>
                <a:gridCol w="24765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gridCol w="2095500">
                  <a:extLst>
                    <a:ext uri="{9D8B030D-6E8A-4147-A177-3AD203B41FA5}">
                      <a16:colId xmlns:a16="http://schemas.microsoft.com/office/drawing/2014/main" val="20004"/>
                    </a:ext>
                  </a:extLst>
                </a:gridCol>
              </a:tblGrid>
              <a:tr h="537482">
                <a:tc>
                  <a:txBody>
                    <a:bodyPr/>
                    <a:lstStyle/>
                    <a:p>
                      <a:r>
                        <a:rPr lang="en-US" sz="1875" b="1" dirty="0">
                          <a:solidFill>
                            <a:srgbClr val="FFFFFF"/>
                          </a:solidFill>
                          <a:latin typeface="Calibri"/>
                          <a:ea typeface="Calibri"/>
                          <a:cs typeface="Calibri"/>
                        </a:rPr>
                        <a:t>Prüfk</a:t>
                      </a:r>
                      <a:r>
                        <a:rPr sz="1875" b="1" dirty="0">
                          <a:solidFill>
                            <a:srgbClr val="FFFFFF"/>
                          </a:solidFill>
                          <a:latin typeface="Calibri"/>
                          <a:ea typeface="Calibri"/>
                          <a:cs typeface="Calibri"/>
                        </a:rPr>
                        <a:t>lasse</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75" b="1">
                          <a:solidFill>
                            <a:srgbClr val="FFFFFF"/>
                          </a:solidFill>
                          <a:latin typeface="Calibri"/>
                          <a:ea typeface="Calibri"/>
                          <a:cs typeface="Calibri"/>
                        </a:rPr>
                        <a:t>CRITICAL</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75" b="1">
                          <a:solidFill>
                            <a:srgbClr val="FFFFFF"/>
                          </a:solidFill>
                          <a:latin typeface="Calibri"/>
                          <a:ea typeface="Calibri"/>
                          <a:cs typeface="Calibri"/>
                        </a:rPr>
                        <a:t>HIGH</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75" b="1">
                          <a:solidFill>
                            <a:srgbClr val="FFFFFF"/>
                          </a:solidFill>
                          <a:latin typeface="Calibri"/>
                          <a:ea typeface="Calibri"/>
                          <a:cs typeface="Calibri"/>
                        </a:rPr>
                        <a:t>MEDIUM</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75" b="1">
                          <a:solidFill>
                            <a:srgbClr val="FFFFFF"/>
                          </a:solidFill>
                          <a:latin typeface="Calibri"/>
                          <a:ea typeface="Calibri"/>
                          <a:cs typeface="Calibri"/>
                        </a:rPr>
                        <a:t>LOW / 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537482">
                <a:tc>
                  <a:txBody>
                    <a:bodyPr/>
                    <a:lstStyle/>
                    <a:p>
                      <a:r>
                        <a:rPr sz="1875" b="0">
                          <a:solidFill>
                            <a:srgbClr val="263640"/>
                          </a:solidFill>
                          <a:latin typeface="Calibri"/>
                          <a:ea typeface="Calibri"/>
                          <a:cs typeface="Calibri"/>
                        </a:rPr>
                        <a:t>Secrets</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dirty="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537482">
                <a:tc>
                  <a:txBody>
                    <a:bodyPr/>
                    <a:lstStyle/>
                    <a:p>
                      <a:r>
                        <a:rPr sz="1875" b="0">
                          <a:solidFill>
                            <a:srgbClr val="263640"/>
                          </a:solidFill>
                          <a:latin typeface="Calibri"/>
                          <a:ea typeface="Calibri"/>
                          <a:cs typeface="Calibri"/>
                        </a:rPr>
                        <a:t>SAST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dirty="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537482">
                <a:tc>
                  <a:txBody>
                    <a:bodyPr/>
                    <a:lstStyle/>
                    <a:p>
                      <a:r>
                        <a:rPr sz="1875" b="0">
                          <a:solidFill>
                            <a:srgbClr val="263640"/>
                          </a:solidFill>
                          <a:latin typeface="Calibri"/>
                          <a:ea typeface="Calibri"/>
                          <a:cs typeface="Calibri"/>
                        </a:rPr>
                        <a:t>SCA</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3"/>
                  </a:ext>
                </a:extLst>
              </a:tr>
              <a:tr h="537482">
                <a:tc>
                  <a:txBody>
                    <a:bodyPr/>
                    <a:lstStyle/>
                    <a:p>
                      <a:r>
                        <a:rPr sz="1875" b="0">
                          <a:solidFill>
                            <a:srgbClr val="263640"/>
                          </a:solidFill>
                          <a:latin typeface="Calibri"/>
                          <a:ea typeface="Calibri"/>
                          <a:cs typeface="Calibri"/>
                        </a:rPr>
                        <a:t>Image</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4"/>
                  </a:ext>
                </a:extLst>
              </a:tr>
              <a:tr h="537482">
                <a:tc>
                  <a:txBody>
                    <a:bodyPr/>
                    <a:lstStyle/>
                    <a:p>
                      <a:r>
                        <a:rPr sz="1875" b="0">
                          <a:solidFill>
                            <a:srgbClr val="263640"/>
                          </a:solidFill>
                          <a:latin typeface="Calibri"/>
                          <a:ea typeface="Calibri"/>
                          <a:cs typeface="Calibri"/>
                        </a:rPr>
                        <a:t>DAST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875" b="0">
                          <a:solidFill>
                            <a:srgbClr val="263640"/>
                          </a:solidFill>
                          <a:latin typeface="Calibri"/>
                          <a:ea typeface="Calibri"/>
                          <a:cs typeface="Calibri"/>
                        </a:rPr>
                        <a:t>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5"/>
                  </a:ext>
                </a:extLst>
              </a:tr>
              <a:tr h="537482">
                <a:tc>
                  <a:txBody>
                    <a:bodyPr/>
                    <a:lstStyle/>
                    <a:p>
                      <a:r>
                        <a:rPr sz="1875" b="0">
                          <a:solidFill>
                            <a:srgbClr val="263640"/>
                          </a:solidFill>
                          <a:latin typeface="Calibri"/>
                          <a:ea typeface="Calibri"/>
                          <a:cs typeface="Calibri"/>
                        </a:rPr>
                        <a:t>Default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block</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warn</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a:solidFill>
                            <a:srgbClr val="263640"/>
                          </a:solidFill>
                          <a:latin typeface="Calibri"/>
                          <a:ea typeface="Calibri"/>
                          <a:cs typeface="Calibri"/>
                        </a:rPr>
                        <a:t>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75" b="0" dirty="0">
                          <a:solidFill>
                            <a:srgbClr val="263640"/>
                          </a:solidFill>
                          <a:latin typeface="Calibri"/>
                          <a:ea typeface="Calibri"/>
                          <a:cs typeface="Calibri"/>
                        </a:rPr>
                        <a:t>info</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9" name="Die Schwellenwerte sind eine Lehrprojekt-Policy und erforder">
            <a:extLst>
              <a:ext uri="{FF2B5EF4-FFF2-40B4-BE49-F238E27FC236}">
                <a16:creationId xmlns:a16="http://schemas.microsoft.com/office/drawing/2014/main" id="{AE79F47E-D34F-409F-A24C-AD11584DB0E7}"/>
              </a:ext>
            </a:extLst>
          </p:cNvPr>
          <p:cNvSpPr>
            <a:spLocks noGrp="1"/>
          </p:cNvSpPr>
          <p:nvPr/>
        </p:nvSpPr>
        <p:spPr>
          <a:xfrm>
            <a:off x="666750" y="5734050"/>
            <a:ext cx="10858500" cy="333375"/>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lang="en-US" sz="1875" dirty="0">
                <a:solidFill>
                  <a:srgbClr val="263640"/>
                </a:solidFill>
                <a:latin typeface="Calibri"/>
                <a:ea typeface="Calibri"/>
                <a:cs typeface="Calibri"/>
              </a:rPr>
              <a:t>Policy </a:t>
            </a:r>
            <a:r>
              <a:rPr lang="en-US" sz="1875" dirty="0" err="1">
                <a:solidFill>
                  <a:srgbClr val="263640"/>
                </a:solidFill>
                <a:latin typeface="Calibri"/>
                <a:ea typeface="Calibri"/>
                <a:cs typeface="Calibri"/>
              </a:rPr>
              <a:t>ist</a:t>
            </a:r>
            <a:r>
              <a:rPr lang="en-US" sz="1875" dirty="0">
                <a:solidFill>
                  <a:srgbClr val="263640"/>
                </a:solidFill>
                <a:latin typeface="Calibri"/>
                <a:ea typeface="Calibri"/>
                <a:cs typeface="Calibri"/>
              </a:rPr>
              <a:t> in der </a:t>
            </a:r>
            <a:r>
              <a:rPr lang="en-US" sz="1875" dirty="0" err="1">
                <a:solidFill>
                  <a:srgbClr val="263640"/>
                </a:solidFill>
                <a:latin typeface="Calibri"/>
                <a:ea typeface="Calibri"/>
                <a:cs typeface="Calibri"/>
              </a:rPr>
              <a:t>Datei</a:t>
            </a:r>
            <a:r>
              <a:rPr lang="en-US" sz="1875" dirty="0">
                <a:solidFill>
                  <a:srgbClr val="263640"/>
                </a:solidFill>
                <a:latin typeface="Calibri"/>
                <a:ea typeface="Calibri"/>
                <a:cs typeface="Calibri"/>
              </a:rPr>
              <a:t> </a:t>
            </a:r>
            <a:r>
              <a:rPr lang="en-US" sz="1875" dirty="0" err="1">
                <a:solidFill>
                  <a:srgbClr val="263640"/>
                </a:solidFill>
                <a:latin typeface="Calibri"/>
                <a:ea typeface="Calibri"/>
                <a:cs typeface="Calibri"/>
              </a:rPr>
              <a:t>thresholds.yaml</a:t>
            </a:r>
            <a:r>
              <a:rPr lang="en-US" sz="1875" dirty="0">
                <a:solidFill>
                  <a:srgbClr val="263640"/>
                </a:solidFill>
                <a:latin typeface="Calibri"/>
                <a:ea typeface="Calibri"/>
                <a:cs typeface="Calibri"/>
              </a:rPr>
              <a:t> </a:t>
            </a:r>
            <a:r>
              <a:rPr lang="en-US" sz="1875" dirty="0" err="1">
                <a:solidFill>
                  <a:srgbClr val="263640"/>
                </a:solidFill>
                <a:latin typeface="Calibri"/>
                <a:ea typeface="Calibri"/>
                <a:cs typeface="Calibri"/>
              </a:rPr>
              <a:t>festgelegt</a:t>
            </a:r>
            <a:r>
              <a:rPr lang="en-US" sz="1875" dirty="0">
                <a:solidFill>
                  <a:srgbClr val="263640"/>
                </a:solidFill>
                <a:latin typeface="Calibri"/>
                <a:ea typeface="Calibri"/>
                <a:cs typeface="Calibri"/>
              </a:rPr>
              <a:t> und </a:t>
            </a:r>
            <a:r>
              <a:rPr lang="en-US" sz="1875" dirty="0" err="1">
                <a:solidFill>
                  <a:srgbClr val="263640"/>
                </a:solidFill>
                <a:latin typeface="Calibri"/>
                <a:ea typeface="Calibri"/>
                <a:cs typeface="Calibri"/>
              </a:rPr>
              <a:t>wir</a:t>
            </a:r>
            <a:r>
              <a:rPr lang="en-US" sz="1875" dirty="0">
                <a:solidFill>
                  <a:srgbClr val="263640"/>
                </a:solidFill>
                <a:latin typeface="Calibri"/>
                <a:ea typeface="Calibri"/>
                <a:cs typeface="Calibri"/>
              </a:rPr>
              <a:t> </a:t>
            </a:r>
            <a:r>
              <a:rPr lang="en-US" sz="1875" dirty="0" err="1">
                <a:solidFill>
                  <a:srgbClr val="263640"/>
                </a:solidFill>
                <a:latin typeface="Calibri"/>
                <a:ea typeface="Calibri"/>
                <a:cs typeface="Calibri"/>
              </a:rPr>
              <a:t>hier</a:t>
            </a:r>
            <a:r>
              <a:rPr lang="en-US" sz="1875" dirty="0">
                <a:solidFill>
                  <a:srgbClr val="263640"/>
                </a:solidFill>
                <a:latin typeface="Calibri"/>
                <a:ea typeface="Calibri"/>
                <a:cs typeface="Calibri"/>
              </a:rPr>
              <a:t> </a:t>
            </a:r>
            <a:r>
              <a:rPr lang="en-US" sz="1875" dirty="0" err="1">
                <a:solidFill>
                  <a:srgbClr val="263640"/>
                </a:solidFill>
                <a:latin typeface="Calibri"/>
                <a:ea typeface="Calibri"/>
                <a:cs typeface="Calibri"/>
              </a:rPr>
              <a:t>gegengeprüft</a:t>
            </a:r>
            <a:endParaRPr sz="1875" b="0" dirty="0">
              <a:solidFill>
                <a:srgbClr val="263640"/>
              </a:solidFill>
              <a:latin typeface="Calibri"/>
              <a:ea typeface="Calibri"/>
              <a:cs typeface="Calibri"/>
            </a:endParaRPr>
          </a:p>
        </p:txBody>
      </p:sp>
    </p:spTree>
    <p:extLst>
      <p:ext uri="{BB962C8B-B14F-4D97-AF65-F5344CB8AC3E}">
        <p14:creationId xmlns:p14="http://schemas.microsoft.com/office/powerpoint/2010/main" val="2301877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BEEBB9A-6771-46A9-B4CE-DF362A96DB7C}"/>
              </a:ext>
            </a:extLst>
          </p:cNvPr>
          <p:cNvPicPr>
            <a:picLocks noChangeAspect="1"/>
          </p:cNvPicPr>
          <p:nvPr/>
        </p:nvPicPr>
        <p:blipFill>
          <a:blip r:embed="rId3"/>
          <a:stretch/>
        </p:blipFill>
        <p:spPr>
          <a:xfrm>
            <a:off x="10325100" y="228600"/>
            <a:ext cx="1295400" cy="693039"/>
          </a:xfrm>
          <a:prstGeom prst="rect">
            <a:avLst/>
          </a:prstGeom>
        </p:spPr>
      </p:pic>
      <p:sp>
        <p:nvSpPr>
          <p:cNvPr id="2" name="Gate-Policy und Fehlerbehandlung">
            <a:extLst>
              <a:ext uri="{FF2B5EF4-FFF2-40B4-BE49-F238E27FC236}">
                <a16:creationId xmlns:a16="http://schemas.microsoft.com/office/drawing/2014/main" id="{D7848F07-7F01-4EC1-96D4-AC37AB833A0C}"/>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Gate-Policy und Fehlerbehandlung</a:t>
            </a:r>
          </a:p>
        </p:txBody>
      </p:sp>
      <p:sp>
        <p:nvSpPr>
          <p:cNvPr id="3" name="Rectangle 2">
            <a:extLst>
              <a:ext uri="{FF2B5EF4-FFF2-40B4-BE49-F238E27FC236}">
                <a16:creationId xmlns:a16="http://schemas.microsoft.com/office/drawing/2014/main" id="{C492EE38-18C4-4C6D-AC4D-6E39DC0F38B4}"/>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policy/thresholds.yaml; scripts/gate.py; scripts/pipeline.py">
            <a:extLst>
              <a:ext uri="{FF2B5EF4-FFF2-40B4-BE49-F238E27FC236}">
                <a16:creationId xmlns:a16="http://schemas.microsoft.com/office/drawing/2014/main" id="{5CD7D60B-C403-4E4A-B246-A45E941B04AA}"/>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endParaRPr sz="1200" b="0" dirty="0">
              <a:solidFill>
                <a:srgbClr val="52616A"/>
              </a:solidFill>
              <a:latin typeface="Calibri"/>
              <a:ea typeface="Calibri"/>
              <a:cs typeface="Calibri"/>
            </a:endParaRPr>
          </a:p>
        </p:txBody>
      </p:sp>
      <p:sp>
        <p:nvSpPr>
          <p:cNvPr id="5" name="Rectangle 4">
            <a:extLst>
              <a:ext uri="{FF2B5EF4-FFF2-40B4-BE49-F238E27FC236}">
                <a16:creationId xmlns:a16="http://schemas.microsoft.com/office/drawing/2014/main" id="{2D69E3D8-7763-442C-910C-2300EE41B4BD}"/>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27B4699B-5DD9-4565-81AC-64B4F158D927}"/>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defRPr sz="1125" b="0">
                <a:solidFill>
                  <a:srgbClr val="52616A"/>
                </a:solidFill>
                <a:latin typeface="Calibri"/>
                <a:ea typeface="Calibri"/>
                <a:cs typeface="Calibri"/>
              </a:defRPr>
            </a:pPr>
            <a:r>
              <a:rPr lang="de-DE" sz="1125" dirty="0">
                <a:solidFill>
                  <a:srgbClr val="52616A"/>
                </a:solidFill>
                <a:latin typeface="Calibri"/>
                <a:ea typeface="Calibri"/>
                <a:cs typeface="Calibri"/>
              </a:rPr>
              <a:t>DHBW Mosbach – Angewandte Informatik | IT-Sicherheit</a:t>
            </a:r>
          </a:p>
        </p:txBody>
      </p:sp>
      <p:sp>
        <p:nvSpPr>
          <p:cNvPr id="7" name="9">
            <a:extLst>
              <a:ext uri="{FF2B5EF4-FFF2-40B4-BE49-F238E27FC236}">
                <a16:creationId xmlns:a16="http://schemas.microsoft.com/office/drawing/2014/main" id="{112E8595-96F8-4492-940B-E4778442E586}"/>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a:solidFill>
                  <a:srgbClr val="52616A"/>
                </a:solidFill>
                <a:latin typeface="Calibri"/>
                <a:ea typeface="Calibri"/>
                <a:cs typeface="Calibri"/>
              </a:rPr>
              <a:t>9</a:t>
            </a:r>
          </a:p>
        </p:txBody>
      </p:sp>
      <p:graphicFrame>
        <p:nvGraphicFramePr>
          <p:cNvPr id="8" name="Table 7">
            <a:extLst>
              <a:ext uri="{FF2B5EF4-FFF2-40B4-BE49-F238E27FC236}">
                <a16:creationId xmlns:a16="http://schemas.microsoft.com/office/drawing/2014/main" id="{2840A3B7-4F78-4B07-B767-F15A2887EACE}"/>
              </a:ext>
            </a:extLst>
          </p:cNvPr>
          <p:cNvGraphicFramePr/>
          <p:nvPr/>
        </p:nvGraphicFramePr>
        <p:xfrm>
          <a:off x="666750" y="1762125"/>
          <a:ext cx="6858000" cy="3619500"/>
        </p:xfrm>
        <a:graphic>
          <a:graphicData uri="http://schemas.openxmlformats.org/drawingml/2006/table">
            <a:tbl>
              <a:tblPr/>
              <a:tblGrid>
                <a:gridCol w="1952625">
                  <a:extLst>
                    <a:ext uri="{9D8B030D-6E8A-4147-A177-3AD203B41FA5}">
                      <a16:colId xmlns:a16="http://schemas.microsoft.com/office/drawing/2014/main" val="20000"/>
                    </a:ext>
                  </a:extLst>
                </a:gridCol>
                <a:gridCol w="4905375">
                  <a:extLst>
                    <a:ext uri="{9D8B030D-6E8A-4147-A177-3AD203B41FA5}">
                      <a16:colId xmlns:a16="http://schemas.microsoft.com/office/drawing/2014/main" val="20001"/>
                    </a:ext>
                  </a:extLst>
                </a:gridCol>
              </a:tblGrid>
              <a:tr h="603250">
                <a:tc>
                  <a:txBody>
                    <a:bodyPr/>
                    <a:lstStyle/>
                    <a:p>
                      <a:r>
                        <a:rPr sz="1725" b="1">
                          <a:solidFill>
                            <a:srgbClr val="FFFFFF"/>
                          </a:solidFill>
                          <a:latin typeface="Calibri"/>
                          <a:ea typeface="Calibri"/>
                          <a:cs typeface="Calibri"/>
                        </a:rPr>
                        <a:t>Prüfklasse</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725" b="1">
                          <a:solidFill>
                            <a:srgbClr val="FFFFFF"/>
                          </a:solidFill>
                          <a:latin typeface="Calibri"/>
                          <a:ea typeface="Calibri"/>
                          <a:cs typeface="Calibri"/>
                        </a:rPr>
                        <a:t>Automatische Ablehnung</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603250">
                <a:tc>
                  <a:txBody>
                    <a:bodyPr/>
                    <a:lstStyle/>
                    <a:p>
                      <a:r>
                        <a:rPr sz="1725" b="0">
                          <a:solidFill>
                            <a:srgbClr val="263640"/>
                          </a:solidFill>
                          <a:latin typeface="Calibri"/>
                          <a:ea typeface="Calibri"/>
                          <a:cs typeface="Calibri"/>
                        </a:rPr>
                        <a:t>Secrets</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725" b="0" dirty="0" err="1">
                          <a:solidFill>
                            <a:srgbClr val="263640"/>
                          </a:solidFill>
                          <a:latin typeface="Calibri"/>
                          <a:ea typeface="Calibri"/>
                          <a:cs typeface="Calibri"/>
                        </a:rPr>
                        <a:t>Jeder</a:t>
                      </a:r>
                      <a:r>
                        <a:rPr sz="1725" b="0" dirty="0">
                          <a:solidFill>
                            <a:srgbClr val="263640"/>
                          </a:solidFill>
                          <a:latin typeface="Calibri"/>
                          <a:ea typeface="Calibri"/>
                          <a:cs typeface="Calibri"/>
                        </a:rPr>
                        <a:t> </a:t>
                      </a:r>
                      <a:r>
                        <a:rPr sz="1725" b="0" dirty="0" err="1">
                          <a:solidFill>
                            <a:srgbClr val="263640"/>
                          </a:solidFill>
                          <a:latin typeface="Calibri"/>
                          <a:ea typeface="Calibri"/>
                          <a:cs typeface="Calibri"/>
                        </a:rPr>
                        <a:t>gemeldete</a:t>
                      </a:r>
                      <a:r>
                        <a:rPr sz="1725" b="0" dirty="0">
                          <a:solidFill>
                            <a:srgbClr val="263640"/>
                          </a:solidFill>
                          <a:latin typeface="Calibri"/>
                          <a:ea typeface="Calibri"/>
                          <a:cs typeface="Calibri"/>
                        </a:rPr>
                        <a:t> </a:t>
                      </a:r>
                      <a:r>
                        <a:rPr sz="1725" b="0" dirty="0" err="1">
                          <a:solidFill>
                            <a:srgbClr val="263640"/>
                          </a:solidFill>
                          <a:latin typeface="Calibri"/>
                          <a:ea typeface="Calibri"/>
                          <a:cs typeface="Calibri"/>
                        </a:rPr>
                        <a:t>Schweregrad</a:t>
                      </a:r>
                      <a:endParaRPr sz="1725" b="0" dirty="0">
                        <a:solidFill>
                          <a:srgbClr val="263640"/>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603250">
                <a:tc>
                  <a:txBody>
                    <a:bodyPr/>
                    <a:lstStyle/>
                    <a:p>
                      <a:r>
                        <a:rPr sz="1725" b="0">
                          <a:solidFill>
                            <a:srgbClr val="263640"/>
                          </a:solidFill>
                          <a:latin typeface="Calibri"/>
                          <a:ea typeface="Calibri"/>
                          <a:cs typeface="Calibri"/>
                        </a:rPr>
                        <a:t>SAST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725" b="0" dirty="0">
                          <a:solidFill>
                            <a:srgbClr val="263640"/>
                          </a:solidFill>
                          <a:latin typeface="Calibri"/>
                          <a:ea typeface="Calibri"/>
                          <a:cs typeface="Calibri"/>
                        </a:rPr>
                        <a:t>HIGH und CRITICAL</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603250">
                <a:tc>
                  <a:txBody>
                    <a:bodyPr/>
                    <a:lstStyle/>
                    <a:p>
                      <a:r>
                        <a:rPr sz="1725" b="0">
                          <a:solidFill>
                            <a:srgbClr val="263640"/>
                          </a:solidFill>
                          <a:latin typeface="Calibri"/>
                          <a:ea typeface="Calibri"/>
                          <a:cs typeface="Calibri"/>
                        </a:rPr>
                        <a:t>SCA</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725" b="0" dirty="0">
                          <a:solidFill>
                            <a:srgbClr val="263640"/>
                          </a:solidFill>
                          <a:latin typeface="Calibri"/>
                          <a:ea typeface="Calibri"/>
                          <a:cs typeface="Calibri"/>
                        </a:rPr>
                        <a:t>CRITICAL</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3"/>
                  </a:ext>
                </a:extLst>
              </a:tr>
              <a:tr h="603250">
                <a:tc>
                  <a:txBody>
                    <a:bodyPr/>
                    <a:lstStyle/>
                    <a:p>
                      <a:r>
                        <a:rPr sz="1725" b="0">
                          <a:solidFill>
                            <a:srgbClr val="263640"/>
                          </a:solidFill>
                          <a:latin typeface="Calibri"/>
                          <a:ea typeface="Calibri"/>
                          <a:cs typeface="Calibri"/>
                        </a:rPr>
                        <a:t>Image</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725" b="0" dirty="0">
                          <a:solidFill>
                            <a:srgbClr val="263640"/>
                          </a:solidFill>
                          <a:latin typeface="Calibri"/>
                          <a:ea typeface="Calibri"/>
                          <a:cs typeface="Calibri"/>
                        </a:rPr>
                        <a:t>HIGH und CRITICAL</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4"/>
                  </a:ext>
                </a:extLst>
              </a:tr>
              <a:tr h="603250">
                <a:tc>
                  <a:txBody>
                    <a:bodyPr/>
                    <a:lstStyle/>
                    <a:p>
                      <a:r>
                        <a:rPr sz="1725" b="0">
                          <a:solidFill>
                            <a:srgbClr val="263640"/>
                          </a:solidFill>
                          <a:latin typeface="Calibri"/>
                          <a:ea typeface="Calibri"/>
                          <a:cs typeface="Calibri"/>
                        </a:rPr>
                        <a:t>Passiver DAST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725" b="0" dirty="0">
                          <a:solidFill>
                            <a:srgbClr val="263640"/>
                          </a:solidFill>
                          <a:latin typeface="Calibri"/>
                          <a:ea typeface="Calibri"/>
                          <a:cs typeface="Calibri"/>
                        </a:rPr>
                        <a:t>Findings </a:t>
                      </a:r>
                      <a:r>
                        <a:rPr sz="1725" b="0" dirty="0" err="1">
                          <a:solidFill>
                            <a:srgbClr val="263640"/>
                          </a:solidFill>
                          <a:latin typeface="Calibri"/>
                          <a:ea typeface="Calibri"/>
                          <a:cs typeface="Calibri"/>
                        </a:rPr>
                        <a:t>warnen</a:t>
                      </a:r>
                      <a:r>
                        <a:rPr sz="1725" b="0" dirty="0">
                          <a:solidFill>
                            <a:srgbClr val="263640"/>
                          </a:solidFill>
                          <a:latin typeface="Calibri"/>
                          <a:ea typeface="Calibri"/>
                          <a:cs typeface="Calibri"/>
                        </a:rPr>
                        <a:t>, </a:t>
                      </a:r>
                      <a:r>
                        <a:rPr sz="1725" b="0" dirty="0" err="1">
                          <a:solidFill>
                            <a:srgbClr val="263640"/>
                          </a:solidFill>
                          <a:latin typeface="Calibri"/>
                          <a:ea typeface="Calibri"/>
                          <a:cs typeface="Calibri"/>
                        </a:rPr>
                        <a:t>technische</a:t>
                      </a:r>
                      <a:r>
                        <a:rPr sz="1725" b="0" dirty="0">
                          <a:solidFill>
                            <a:srgbClr val="263640"/>
                          </a:solidFill>
                          <a:latin typeface="Calibri"/>
                          <a:ea typeface="Calibri"/>
                          <a:cs typeface="Calibri"/>
                        </a:rPr>
                        <a:t> Fehler </a:t>
                      </a:r>
                      <a:r>
                        <a:rPr sz="1725" b="0" dirty="0" err="1">
                          <a:solidFill>
                            <a:srgbClr val="263640"/>
                          </a:solidFill>
                          <a:latin typeface="Calibri"/>
                          <a:ea typeface="Calibri"/>
                          <a:cs typeface="Calibri"/>
                        </a:rPr>
                        <a:t>blockieren</a:t>
                      </a:r>
                      <a:endParaRPr sz="1725" b="0" dirty="0">
                        <a:solidFill>
                          <a:srgbClr val="263640"/>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5"/>
                  </a:ext>
                </a:extLst>
              </a:tr>
            </a:tbl>
          </a:graphicData>
        </a:graphic>
      </p:graphicFrame>
      <p:sp>
        <p:nvSpPr>
          <p:cNvPr id="9" name="0   PASS">
            <a:extLst>
              <a:ext uri="{FF2B5EF4-FFF2-40B4-BE49-F238E27FC236}">
                <a16:creationId xmlns:a16="http://schemas.microsoft.com/office/drawing/2014/main" id="{15870DEB-1AF8-43D9-BCD1-B02FDE76D7DC}"/>
              </a:ext>
            </a:extLst>
          </p:cNvPr>
          <p:cNvSpPr>
            <a:spLocks noGrp="1"/>
          </p:cNvSpPr>
          <p:nvPr/>
        </p:nvSpPr>
        <p:spPr>
          <a:xfrm>
            <a:off x="8096250" y="1905000"/>
            <a:ext cx="3429000" cy="476250"/>
          </a:xfrm>
          <a:prstGeom prst="rect">
            <a:avLst/>
          </a:prstGeom>
          <a:noFill/>
          <a:ln w="0">
            <a:noFill/>
          </a:ln>
        </p:spPr>
        <p:txBody>
          <a:bodyPr wrap="square" lIns="0" tIns="0" rIns="0" bIns="0" anchor="t">
            <a:noAutofit/>
          </a:bodyPr>
          <a:lstStyle>
            <a:defPPr algn="l">
              <a:defRPr sz="2625" b="1">
                <a:solidFill>
                  <a:srgbClr val="236646"/>
                </a:solidFill>
                <a:latin typeface="Calibri"/>
                <a:ea typeface="Calibri"/>
                <a:cs typeface="Calibri"/>
              </a:defRPr>
            </a:defPPr>
          </a:lstStyle>
          <a:p>
            <a:pPr algn="l">
              <a:defRPr sz="2625" b="1">
                <a:solidFill>
                  <a:srgbClr val="236646"/>
                </a:solidFill>
                <a:latin typeface="Calibri"/>
                <a:ea typeface="Calibri"/>
                <a:cs typeface="Calibri"/>
              </a:defRPr>
            </a:pPr>
            <a:r>
              <a:rPr sz="2625" b="1">
                <a:solidFill>
                  <a:srgbClr val="236646"/>
                </a:solidFill>
                <a:latin typeface="Calibri"/>
                <a:ea typeface="Calibri"/>
                <a:cs typeface="Calibri"/>
              </a:rPr>
              <a:t>0   PASS</a:t>
            </a:r>
          </a:p>
        </p:txBody>
      </p:sp>
      <p:sp>
        <p:nvSpPr>
          <p:cNvPr id="10" name="Policy bestanden">
            <a:extLst>
              <a:ext uri="{FF2B5EF4-FFF2-40B4-BE49-F238E27FC236}">
                <a16:creationId xmlns:a16="http://schemas.microsoft.com/office/drawing/2014/main" id="{5DA5673F-53A2-45F8-9719-AA597B4C7F0C}"/>
              </a:ext>
            </a:extLst>
          </p:cNvPr>
          <p:cNvSpPr>
            <a:spLocks noGrp="1"/>
          </p:cNvSpPr>
          <p:nvPr/>
        </p:nvSpPr>
        <p:spPr>
          <a:xfrm>
            <a:off x="8096250" y="2409825"/>
            <a:ext cx="3429000" cy="400050"/>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a:solidFill>
                  <a:srgbClr val="263640"/>
                </a:solidFill>
                <a:latin typeface="Calibri"/>
                <a:ea typeface="Calibri"/>
                <a:cs typeface="Calibri"/>
              </a:rPr>
              <a:t>Policy bestanden</a:t>
            </a:r>
          </a:p>
        </p:txBody>
      </p:sp>
      <p:sp>
        <p:nvSpPr>
          <p:cNvPr id="11" name="1   FAIL">
            <a:extLst>
              <a:ext uri="{FF2B5EF4-FFF2-40B4-BE49-F238E27FC236}">
                <a16:creationId xmlns:a16="http://schemas.microsoft.com/office/drawing/2014/main" id="{F8B41268-A71F-46C5-ADA6-CF8DFA0342FF}"/>
              </a:ext>
            </a:extLst>
          </p:cNvPr>
          <p:cNvSpPr>
            <a:spLocks noGrp="1"/>
          </p:cNvSpPr>
          <p:nvPr/>
        </p:nvSpPr>
        <p:spPr>
          <a:xfrm>
            <a:off x="8096250" y="3095625"/>
            <a:ext cx="3429000" cy="476250"/>
          </a:xfrm>
          <a:prstGeom prst="rect">
            <a:avLst/>
          </a:prstGeom>
          <a:noFill/>
          <a:ln w="0">
            <a:noFill/>
          </a:ln>
        </p:spPr>
        <p:txBody>
          <a:bodyPr wrap="square" lIns="0" tIns="0" rIns="0" bIns="0" anchor="t">
            <a:noAutofit/>
          </a:bodyPr>
          <a:lstStyle>
            <a:defPPr algn="l">
              <a:defRPr sz="2625" b="1">
                <a:solidFill>
                  <a:srgbClr val="E2001A"/>
                </a:solidFill>
                <a:latin typeface="Calibri"/>
                <a:ea typeface="Calibri"/>
                <a:cs typeface="Calibri"/>
              </a:defRPr>
            </a:defPPr>
          </a:lstStyle>
          <a:p>
            <a:pPr algn="l">
              <a:defRPr sz="2625" b="1">
                <a:solidFill>
                  <a:srgbClr val="E2001A"/>
                </a:solidFill>
                <a:latin typeface="Calibri"/>
                <a:ea typeface="Calibri"/>
                <a:cs typeface="Calibri"/>
              </a:defRPr>
            </a:pPr>
            <a:r>
              <a:rPr sz="2625" b="1">
                <a:solidFill>
                  <a:srgbClr val="E2001A"/>
                </a:solidFill>
                <a:latin typeface="Calibri"/>
                <a:ea typeface="Calibri"/>
                <a:cs typeface="Calibri"/>
              </a:rPr>
              <a:t>1   FAIL</a:t>
            </a:r>
          </a:p>
        </p:txBody>
      </p:sp>
      <p:sp>
        <p:nvSpPr>
          <p:cNvPr id="12" name="Blockierendes Finding">
            <a:extLst>
              <a:ext uri="{FF2B5EF4-FFF2-40B4-BE49-F238E27FC236}">
                <a16:creationId xmlns:a16="http://schemas.microsoft.com/office/drawing/2014/main" id="{B134D1E5-96E2-4DBD-B375-581E2099B3D3}"/>
              </a:ext>
            </a:extLst>
          </p:cNvPr>
          <p:cNvSpPr>
            <a:spLocks noGrp="1"/>
          </p:cNvSpPr>
          <p:nvPr/>
        </p:nvSpPr>
        <p:spPr>
          <a:xfrm>
            <a:off x="8096250" y="3600450"/>
            <a:ext cx="3429000" cy="400050"/>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a:solidFill>
                  <a:srgbClr val="263640"/>
                </a:solidFill>
                <a:latin typeface="Calibri"/>
                <a:ea typeface="Calibri"/>
                <a:cs typeface="Calibri"/>
              </a:rPr>
              <a:t>Blockierendes Finding</a:t>
            </a:r>
          </a:p>
        </p:txBody>
      </p:sp>
      <p:sp>
        <p:nvSpPr>
          <p:cNvPr id="13" name="2   ERROR">
            <a:extLst>
              <a:ext uri="{FF2B5EF4-FFF2-40B4-BE49-F238E27FC236}">
                <a16:creationId xmlns:a16="http://schemas.microsoft.com/office/drawing/2014/main" id="{817C54CD-A7E6-42C1-8789-38484865B726}"/>
              </a:ext>
            </a:extLst>
          </p:cNvPr>
          <p:cNvSpPr>
            <a:spLocks noGrp="1"/>
          </p:cNvSpPr>
          <p:nvPr/>
        </p:nvSpPr>
        <p:spPr>
          <a:xfrm>
            <a:off x="8096250" y="4286250"/>
            <a:ext cx="3429000" cy="476250"/>
          </a:xfrm>
          <a:prstGeom prst="rect">
            <a:avLst/>
          </a:prstGeom>
          <a:noFill/>
          <a:ln w="0">
            <a:noFill/>
          </a:ln>
        </p:spPr>
        <p:txBody>
          <a:bodyPr wrap="square" lIns="0" tIns="0" rIns="0" bIns="0" anchor="t">
            <a:noAutofit/>
          </a:bodyPr>
          <a:lstStyle>
            <a:defPPr algn="l">
              <a:defRPr sz="2625" b="1">
                <a:solidFill>
                  <a:srgbClr val="925616"/>
                </a:solidFill>
                <a:latin typeface="Calibri"/>
                <a:ea typeface="Calibri"/>
                <a:cs typeface="Calibri"/>
              </a:defRPr>
            </a:defPPr>
          </a:lstStyle>
          <a:p>
            <a:pPr algn="l">
              <a:defRPr sz="2625" b="1">
                <a:solidFill>
                  <a:srgbClr val="925616"/>
                </a:solidFill>
                <a:latin typeface="Calibri"/>
                <a:ea typeface="Calibri"/>
                <a:cs typeface="Calibri"/>
              </a:defRPr>
            </a:pPr>
            <a:r>
              <a:rPr sz="2625" b="1">
                <a:solidFill>
                  <a:srgbClr val="925616"/>
                </a:solidFill>
                <a:latin typeface="Calibri"/>
                <a:ea typeface="Calibri"/>
                <a:cs typeface="Calibri"/>
              </a:rPr>
              <a:t>2   ERROR</a:t>
            </a:r>
          </a:p>
        </p:txBody>
      </p:sp>
      <p:sp>
        <p:nvSpPr>
          <p:cNvPr id="14" name="Technischer Fehler">
            <a:extLst>
              <a:ext uri="{FF2B5EF4-FFF2-40B4-BE49-F238E27FC236}">
                <a16:creationId xmlns:a16="http://schemas.microsoft.com/office/drawing/2014/main" id="{3A366879-7EE1-4F73-AD03-E7F8D108D3EF}"/>
              </a:ext>
            </a:extLst>
          </p:cNvPr>
          <p:cNvSpPr>
            <a:spLocks noGrp="1"/>
          </p:cNvSpPr>
          <p:nvPr/>
        </p:nvSpPr>
        <p:spPr>
          <a:xfrm>
            <a:off x="8096250" y="4791075"/>
            <a:ext cx="3429000" cy="400050"/>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a:solidFill>
                  <a:srgbClr val="263640"/>
                </a:solidFill>
                <a:latin typeface="Calibri"/>
                <a:ea typeface="Calibri"/>
                <a:cs typeface="Calibri"/>
              </a:rPr>
              <a:t>Technischer Fehler</a:t>
            </a:r>
          </a:p>
        </p:txBody>
      </p:sp>
      <p:sp>
        <p:nvSpPr>
          <p:cNvPr id="15" name="Fehlender oder kaputter Pflichtreport führt zu ERROR.">
            <a:extLst>
              <a:ext uri="{FF2B5EF4-FFF2-40B4-BE49-F238E27FC236}">
                <a16:creationId xmlns:a16="http://schemas.microsoft.com/office/drawing/2014/main" id="{003485A2-0D35-4FC8-9C2C-A34353C18A10}"/>
              </a:ext>
            </a:extLst>
          </p:cNvPr>
          <p:cNvSpPr>
            <a:spLocks noGrp="1"/>
          </p:cNvSpPr>
          <p:nvPr/>
        </p:nvSpPr>
        <p:spPr>
          <a:xfrm>
            <a:off x="666750" y="5648325"/>
            <a:ext cx="10858500" cy="361950"/>
          </a:xfrm>
          <a:prstGeom prst="rect">
            <a:avLst/>
          </a:prstGeom>
          <a:noFill/>
          <a:ln w="0">
            <a:noFill/>
          </a:ln>
        </p:spPr>
        <p:txBody>
          <a:bodyPr wrap="square" lIns="0" tIns="0" rIns="0" bIns="0" anchor="t">
            <a:noAutofit/>
          </a:bodyPr>
          <a:lstStyle>
            <a:defPPr algn="l">
              <a:defRPr sz="2025" b="1">
                <a:solidFill>
                  <a:srgbClr val="E2001A"/>
                </a:solidFill>
                <a:latin typeface="Calibri"/>
                <a:ea typeface="Calibri"/>
                <a:cs typeface="Calibri"/>
              </a:defRPr>
            </a:defPPr>
          </a:lstStyle>
          <a:p>
            <a:pPr algn="l">
              <a:defRPr sz="2025" b="1">
                <a:solidFill>
                  <a:srgbClr val="E2001A"/>
                </a:solidFill>
                <a:latin typeface="Calibri"/>
                <a:ea typeface="Calibri"/>
                <a:cs typeface="Calibri"/>
              </a:defRPr>
            </a:pPr>
            <a:r>
              <a:rPr sz="2025" b="1" dirty="0" err="1">
                <a:solidFill>
                  <a:srgbClr val="E2001A"/>
                </a:solidFill>
                <a:latin typeface="Calibri"/>
                <a:ea typeface="Calibri"/>
                <a:cs typeface="Calibri"/>
              </a:rPr>
              <a:t>Fehlender</a:t>
            </a:r>
            <a:r>
              <a:rPr sz="2025" b="1" dirty="0">
                <a:solidFill>
                  <a:srgbClr val="E2001A"/>
                </a:solidFill>
                <a:latin typeface="Calibri"/>
                <a:ea typeface="Calibri"/>
                <a:cs typeface="Calibri"/>
              </a:rPr>
              <a:t> </a:t>
            </a:r>
            <a:r>
              <a:rPr sz="2025" b="1" dirty="0" err="1">
                <a:solidFill>
                  <a:srgbClr val="E2001A"/>
                </a:solidFill>
                <a:latin typeface="Calibri"/>
                <a:ea typeface="Calibri"/>
                <a:cs typeface="Calibri"/>
              </a:rPr>
              <a:t>oder</a:t>
            </a:r>
            <a:r>
              <a:rPr sz="2025" b="1" dirty="0">
                <a:solidFill>
                  <a:srgbClr val="E2001A"/>
                </a:solidFill>
                <a:latin typeface="Calibri"/>
                <a:ea typeface="Calibri"/>
                <a:cs typeface="Calibri"/>
              </a:rPr>
              <a:t> </a:t>
            </a:r>
            <a:r>
              <a:rPr sz="2025" b="1" dirty="0" err="1">
                <a:solidFill>
                  <a:srgbClr val="E2001A"/>
                </a:solidFill>
                <a:latin typeface="Calibri"/>
                <a:ea typeface="Calibri"/>
                <a:cs typeface="Calibri"/>
              </a:rPr>
              <a:t>kaputter</a:t>
            </a:r>
            <a:r>
              <a:rPr sz="2025" b="1" dirty="0">
                <a:solidFill>
                  <a:srgbClr val="E2001A"/>
                </a:solidFill>
                <a:latin typeface="Calibri"/>
                <a:ea typeface="Calibri"/>
                <a:cs typeface="Calibri"/>
              </a:rPr>
              <a:t> </a:t>
            </a:r>
            <a:r>
              <a:rPr sz="2025" b="1" dirty="0" err="1">
                <a:solidFill>
                  <a:srgbClr val="E2001A"/>
                </a:solidFill>
                <a:latin typeface="Calibri"/>
                <a:ea typeface="Calibri"/>
                <a:cs typeface="Calibri"/>
              </a:rPr>
              <a:t>Pflichtreport</a:t>
            </a:r>
            <a:r>
              <a:rPr sz="2025" b="1" dirty="0">
                <a:solidFill>
                  <a:srgbClr val="E2001A"/>
                </a:solidFill>
                <a:latin typeface="Calibri"/>
                <a:ea typeface="Calibri"/>
                <a:cs typeface="Calibri"/>
              </a:rPr>
              <a:t> </a:t>
            </a:r>
            <a:r>
              <a:rPr sz="2025" b="1" dirty="0" err="1">
                <a:solidFill>
                  <a:srgbClr val="E2001A"/>
                </a:solidFill>
                <a:latin typeface="Calibri"/>
                <a:ea typeface="Calibri"/>
                <a:cs typeface="Calibri"/>
              </a:rPr>
              <a:t>führt</a:t>
            </a:r>
            <a:r>
              <a:rPr sz="2025" b="1" dirty="0">
                <a:solidFill>
                  <a:srgbClr val="E2001A"/>
                </a:solidFill>
                <a:latin typeface="Calibri"/>
                <a:ea typeface="Calibri"/>
                <a:cs typeface="Calibri"/>
              </a:rPr>
              <a:t> </a:t>
            </a:r>
            <a:r>
              <a:rPr sz="2025" b="1" dirty="0" err="1">
                <a:solidFill>
                  <a:srgbClr val="E2001A"/>
                </a:solidFill>
                <a:latin typeface="Calibri"/>
                <a:ea typeface="Calibri"/>
                <a:cs typeface="Calibri"/>
              </a:rPr>
              <a:t>zu</a:t>
            </a:r>
            <a:r>
              <a:rPr sz="2025" b="1" dirty="0">
                <a:solidFill>
                  <a:srgbClr val="E2001A"/>
                </a:solidFill>
                <a:latin typeface="Calibri"/>
                <a:ea typeface="Calibri"/>
                <a:cs typeface="Calibri"/>
              </a:rPr>
              <a:t> ERROR.</a:t>
            </a:r>
          </a:p>
        </p:txBody>
      </p:sp>
    </p:spTree>
    <p:extLst>
      <p:ext uri="{BB962C8B-B14F-4D97-AF65-F5344CB8AC3E}">
        <p14:creationId xmlns:p14="http://schemas.microsoft.com/office/powerpoint/2010/main" val="653404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27ABAB8-9753-45A0-9B39-5B286566B0CE}"/>
              </a:ext>
            </a:extLst>
          </p:cNvPr>
          <p:cNvPicPr>
            <a:picLocks noChangeAspect="1"/>
          </p:cNvPicPr>
          <p:nvPr/>
        </p:nvPicPr>
        <p:blipFill>
          <a:blip r:embed="rId3"/>
          <a:stretch/>
        </p:blipFill>
        <p:spPr>
          <a:xfrm>
            <a:off x="10325100" y="228600"/>
            <a:ext cx="1295400" cy="693039"/>
          </a:xfrm>
          <a:prstGeom prst="rect">
            <a:avLst/>
          </a:prstGeom>
        </p:spPr>
      </p:pic>
      <p:sp>
        <p:nvSpPr>
          <p:cNvPr id="2" name="Ergebnisse der drei Programme">
            <a:extLst>
              <a:ext uri="{FF2B5EF4-FFF2-40B4-BE49-F238E27FC236}">
                <a16:creationId xmlns:a16="http://schemas.microsoft.com/office/drawing/2014/main" id="{88B8C5F9-245D-402D-A04A-9A30AED9191D}"/>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Ergebnisse der drei Programme</a:t>
            </a:r>
          </a:p>
        </p:txBody>
      </p:sp>
      <p:sp>
        <p:nvSpPr>
          <p:cNvPr id="3" name="Rectangle 2">
            <a:extLst>
              <a:ext uri="{FF2B5EF4-FFF2-40B4-BE49-F238E27FC236}">
                <a16:creationId xmlns:a16="http://schemas.microsoft.com/office/drawing/2014/main" id="{2A7DE7FD-0F26-44BD-A31D-B91C81BE5923}"/>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Archivierte Offline-Läufe vom 21.10.2026; docs/validation/20">
            <a:extLst>
              <a:ext uri="{FF2B5EF4-FFF2-40B4-BE49-F238E27FC236}">
                <a16:creationId xmlns:a16="http://schemas.microsoft.com/office/drawing/2014/main" id="{D6BDCAB5-2635-43D8-8E80-C4A3EE429B84}"/>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endParaRPr sz="1200" b="0" dirty="0">
              <a:solidFill>
                <a:srgbClr val="52616A"/>
              </a:solidFill>
              <a:latin typeface="Calibri"/>
              <a:ea typeface="Calibri"/>
              <a:cs typeface="Calibri"/>
            </a:endParaRPr>
          </a:p>
        </p:txBody>
      </p:sp>
      <p:sp>
        <p:nvSpPr>
          <p:cNvPr id="5" name="Rectangle 4">
            <a:extLst>
              <a:ext uri="{FF2B5EF4-FFF2-40B4-BE49-F238E27FC236}">
                <a16:creationId xmlns:a16="http://schemas.microsoft.com/office/drawing/2014/main" id="{4FF262FA-0C40-4A8F-8AEF-C6B95ED00338}"/>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67BE5C87-287F-4F34-9D55-BC3DC9910106}"/>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defRPr sz="1125" b="0">
                <a:solidFill>
                  <a:srgbClr val="52616A"/>
                </a:solidFill>
                <a:latin typeface="Calibri"/>
                <a:ea typeface="Calibri"/>
                <a:cs typeface="Calibri"/>
              </a:defRPr>
            </a:pPr>
            <a:r>
              <a:rPr lang="de-DE" sz="1125" dirty="0">
                <a:solidFill>
                  <a:srgbClr val="52616A"/>
                </a:solidFill>
                <a:latin typeface="Calibri"/>
                <a:ea typeface="Calibri"/>
                <a:cs typeface="Calibri"/>
              </a:rPr>
              <a:t>DHBW Mosbach – Angewandte Informatik | IT-Sicherheit</a:t>
            </a:r>
          </a:p>
        </p:txBody>
      </p:sp>
      <p:sp>
        <p:nvSpPr>
          <p:cNvPr id="7" name="10">
            <a:extLst>
              <a:ext uri="{FF2B5EF4-FFF2-40B4-BE49-F238E27FC236}">
                <a16:creationId xmlns:a16="http://schemas.microsoft.com/office/drawing/2014/main" id="{0BA7E965-4A6D-4490-BB38-ACEB97E7D0E5}"/>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lang="en-US" sz="1275" dirty="0">
                <a:solidFill>
                  <a:srgbClr val="52616A"/>
                </a:solidFill>
                <a:latin typeface="Calibri"/>
                <a:ea typeface="Calibri"/>
                <a:cs typeface="Calibri"/>
              </a:rPr>
              <a:t>9</a:t>
            </a:r>
            <a:endParaRPr sz="1275" b="0" dirty="0">
              <a:solidFill>
                <a:srgbClr val="52616A"/>
              </a:solidFill>
              <a:latin typeface="Calibri"/>
              <a:ea typeface="Calibri"/>
              <a:cs typeface="Calibri"/>
            </a:endParaRPr>
          </a:p>
        </p:txBody>
      </p:sp>
      <p:graphicFrame>
        <p:nvGraphicFramePr>
          <p:cNvPr id="8" name="Table 7">
            <a:extLst>
              <a:ext uri="{FF2B5EF4-FFF2-40B4-BE49-F238E27FC236}">
                <a16:creationId xmlns:a16="http://schemas.microsoft.com/office/drawing/2014/main" id="{74099423-69B5-44C6-A472-CDBB36514BA2}"/>
              </a:ext>
            </a:extLst>
          </p:cNvPr>
          <p:cNvGraphicFramePr/>
          <p:nvPr/>
        </p:nvGraphicFramePr>
        <p:xfrm>
          <a:off x="666750" y="1762125"/>
          <a:ext cx="10858500" cy="2801778"/>
        </p:xfrm>
        <a:graphic>
          <a:graphicData uri="http://schemas.openxmlformats.org/drawingml/2006/table">
            <a:tbl>
              <a:tblPr/>
              <a:tblGrid>
                <a:gridCol w="2333625">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gridCol w="2047875">
                  <a:extLst>
                    <a:ext uri="{9D8B030D-6E8A-4147-A177-3AD203B41FA5}">
                      <a16:colId xmlns:a16="http://schemas.microsoft.com/office/drawing/2014/main" val="20003"/>
                    </a:ext>
                  </a:extLst>
                </a:gridCol>
              </a:tblGrid>
              <a:tr h="678656">
                <a:tc>
                  <a:txBody>
                    <a:bodyPr/>
                    <a:lstStyle/>
                    <a:p>
                      <a:r>
                        <a:rPr sz="1950" b="1">
                          <a:solidFill>
                            <a:srgbClr val="FFFFFF"/>
                          </a:solidFill>
                          <a:latin typeface="Calibri"/>
                          <a:ea typeface="Calibri"/>
                          <a:cs typeface="Calibri"/>
                        </a:rPr>
                        <a:t>Programm</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950" b="1">
                          <a:solidFill>
                            <a:srgbClr val="FFFFFF"/>
                          </a:solidFill>
                          <a:latin typeface="Calibri"/>
                          <a:ea typeface="Calibri"/>
                          <a:cs typeface="Calibri"/>
                        </a:rPr>
                        <a:t>Vulnerable</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950" b="1">
                          <a:solidFill>
                            <a:srgbClr val="FFFFFF"/>
                          </a:solidFill>
                          <a:latin typeface="Calibri"/>
                          <a:ea typeface="Calibri"/>
                          <a:cs typeface="Calibri"/>
                        </a:rPr>
                        <a:t>Fixed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950" b="1">
                          <a:solidFill>
                            <a:srgbClr val="FFFFFF"/>
                          </a:solidFill>
                          <a:latin typeface="Calibri"/>
                          <a:ea typeface="Calibri"/>
                          <a:cs typeface="Calibri"/>
                        </a:rPr>
                        <a:t>Ausnahmen</a:t>
                      </a:r>
                    </a:p>
                    <a:p>
                      <a:r>
                        <a:rPr sz="1950" b="1">
                          <a:solidFill>
                            <a:srgbClr val="FFFFFF"/>
                          </a:solidFill>
                          <a:latin typeface="Calibri"/>
                          <a:ea typeface="Calibri"/>
                          <a:cs typeface="Calibri"/>
                        </a:rPr>
                        <a:t>bei Fixed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678656">
                <a:tc>
                  <a:txBody>
                    <a:bodyPr/>
                    <a:lstStyle/>
                    <a:p>
                      <a:r>
                        <a:rPr sz="1950" b="0">
                          <a:solidFill>
                            <a:srgbClr val="263640"/>
                          </a:solidFill>
                          <a:latin typeface="Calibri"/>
                          <a:ea typeface="Calibri"/>
                          <a:cs typeface="Calibri"/>
                        </a:rPr>
                        <a:t>Flask-API</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1" dirty="0">
                          <a:solidFill>
                            <a:srgbClr val="E2001A"/>
                          </a:solidFill>
                          <a:latin typeface="Calibri"/>
                          <a:ea typeface="Calibri"/>
                          <a:cs typeface="Calibri"/>
                        </a:rPr>
                        <a:t>FAIL / 8 </a:t>
                      </a:r>
                      <a:r>
                        <a:rPr sz="1950" b="1" dirty="0" err="1">
                          <a:solidFill>
                            <a:srgbClr val="E2001A"/>
                          </a:solidFill>
                          <a:latin typeface="Calibri"/>
                          <a:ea typeface="Calibri"/>
                          <a:cs typeface="Calibri"/>
                        </a:rPr>
                        <a:t>blockierend</a:t>
                      </a:r>
                      <a:endParaRPr sz="1950" b="1" dirty="0">
                        <a:solidFill>
                          <a:srgbClr val="E2001A"/>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1">
                          <a:solidFill>
                            <a:srgbClr val="236646"/>
                          </a:solidFill>
                          <a:latin typeface="Calibri"/>
                          <a:ea typeface="Calibri"/>
                          <a:cs typeface="Calibri"/>
                        </a:rPr>
                        <a:t>PASS / 0 blockierend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0" dirty="0">
                          <a:solidFill>
                            <a:srgbClr val="263640"/>
                          </a:solidFill>
                          <a:latin typeface="Calibri"/>
                          <a:ea typeface="Calibri"/>
                          <a:cs typeface="Calibri"/>
                        </a:rPr>
                        <a:t>1</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678656">
                <a:tc>
                  <a:txBody>
                    <a:bodyPr/>
                    <a:lstStyle/>
                    <a:p>
                      <a:r>
                        <a:rPr sz="1950" b="0">
                          <a:solidFill>
                            <a:srgbClr val="263640"/>
                          </a:solidFill>
                          <a:latin typeface="Calibri"/>
                          <a:ea typeface="Calibri"/>
                          <a:cs typeface="Calibri"/>
                        </a:rPr>
                        <a:t>YAML-CLI</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950" b="1" dirty="0">
                          <a:solidFill>
                            <a:srgbClr val="E2001A"/>
                          </a:solidFill>
                          <a:latin typeface="Calibri"/>
                          <a:ea typeface="Calibri"/>
                          <a:cs typeface="Calibri"/>
                        </a:rPr>
                        <a:t>FAIL / 4 </a:t>
                      </a:r>
                      <a:r>
                        <a:rPr sz="1950" b="1" dirty="0" err="1">
                          <a:solidFill>
                            <a:srgbClr val="E2001A"/>
                          </a:solidFill>
                          <a:latin typeface="Calibri"/>
                          <a:ea typeface="Calibri"/>
                          <a:cs typeface="Calibri"/>
                        </a:rPr>
                        <a:t>blockierend</a:t>
                      </a:r>
                      <a:endParaRPr sz="1950" b="1" dirty="0">
                        <a:solidFill>
                          <a:srgbClr val="E2001A"/>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950" b="1">
                          <a:solidFill>
                            <a:srgbClr val="236646"/>
                          </a:solidFill>
                          <a:latin typeface="Calibri"/>
                          <a:ea typeface="Calibri"/>
                          <a:cs typeface="Calibri"/>
                        </a:rPr>
                        <a:t>PASS / 0 blockierend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950" b="0">
                          <a:solidFill>
                            <a:srgbClr val="263640"/>
                          </a:solidFill>
                          <a:latin typeface="Calibri"/>
                          <a:ea typeface="Calibri"/>
                          <a:cs typeface="Calibri"/>
                        </a:rPr>
                        <a:t>1</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678656">
                <a:tc>
                  <a:txBody>
                    <a:bodyPr/>
                    <a:lstStyle/>
                    <a:p>
                      <a:r>
                        <a:rPr sz="1950" b="0">
                          <a:solidFill>
                            <a:srgbClr val="263640"/>
                          </a:solidFill>
                          <a:latin typeface="Calibri"/>
                          <a:ea typeface="Calibri"/>
                          <a:cs typeface="Calibri"/>
                        </a:rPr>
                        <a:t>Dateidienst</a:t>
                      </a: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1">
                          <a:solidFill>
                            <a:srgbClr val="E2001A"/>
                          </a:solidFill>
                          <a:latin typeface="Calibri"/>
                          <a:ea typeface="Calibri"/>
                          <a:cs typeface="Calibri"/>
                        </a:rPr>
                        <a:t>FAIL / 10 blockierend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1">
                          <a:solidFill>
                            <a:srgbClr val="236646"/>
                          </a:solidFill>
                          <a:latin typeface="Calibri"/>
                          <a:ea typeface="Calibri"/>
                          <a:cs typeface="Calibri"/>
                        </a:rPr>
                        <a:t>PASS / 0 blockierend</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sz="1950" b="0" dirty="0">
                          <a:solidFill>
                            <a:srgbClr val="263640"/>
                          </a:solidFill>
                          <a:latin typeface="Calibri"/>
                          <a:ea typeface="Calibri"/>
                          <a:cs typeface="Calibri"/>
                        </a:rPr>
                        <a:t>1</a:t>
                      </a: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3"/>
                  </a:ext>
                </a:extLst>
              </a:tr>
            </a:tbl>
          </a:graphicData>
        </a:graphic>
      </p:graphicFrame>
      <p:sp>
        <p:nvSpPr>
          <p:cNvPr id="9" name="12 echte Security-Läufe: 6 online und 6 offline">
            <a:extLst>
              <a:ext uri="{FF2B5EF4-FFF2-40B4-BE49-F238E27FC236}">
                <a16:creationId xmlns:a16="http://schemas.microsoft.com/office/drawing/2014/main" id="{C1366F50-770A-4B30-B976-CBD9DFEC102F}"/>
              </a:ext>
            </a:extLst>
          </p:cNvPr>
          <p:cNvSpPr>
            <a:spLocks noGrp="1"/>
          </p:cNvSpPr>
          <p:nvPr/>
        </p:nvSpPr>
        <p:spPr>
          <a:xfrm>
            <a:off x="666750" y="4829175"/>
            <a:ext cx="10858500" cy="409575"/>
          </a:xfrm>
          <a:prstGeom prst="rect">
            <a:avLst/>
          </a:prstGeom>
          <a:noFill/>
          <a:ln w="0">
            <a:noFill/>
          </a:ln>
        </p:spPr>
        <p:txBody>
          <a:bodyPr wrap="square" lIns="0" tIns="0" rIns="0" bIns="0" anchor="t">
            <a:noAutofit/>
          </a:bodyPr>
          <a:lstStyle>
            <a:defPPr algn="l">
              <a:defRPr sz="2250" b="1">
                <a:solidFill>
                  <a:srgbClr val="52616A"/>
                </a:solidFill>
                <a:latin typeface="Calibri"/>
                <a:ea typeface="Calibri"/>
                <a:cs typeface="Calibri"/>
              </a:defRPr>
            </a:defPPr>
          </a:lstStyle>
          <a:p>
            <a:pPr algn="l">
              <a:defRPr sz="2250" b="1">
                <a:solidFill>
                  <a:srgbClr val="52616A"/>
                </a:solidFill>
                <a:latin typeface="Calibri"/>
                <a:ea typeface="Calibri"/>
                <a:cs typeface="Calibri"/>
              </a:defRPr>
            </a:pPr>
            <a:r>
              <a:rPr sz="2250" b="1" dirty="0">
                <a:solidFill>
                  <a:srgbClr val="52616A"/>
                </a:solidFill>
                <a:latin typeface="Calibri"/>
                <a:ea typeface="Calibri"/>
                <a:cs typeface="Calibri"/>
              </a:rPr>
              <a:t>1</a:t>
            </a:r>
            <a:r>
              <a:rPr lang="en-US" sz="2250" b="1" dirty="0">
                <a:solidFill>
                  <a:srgbClr val="52616A"/>
                </a:solidFill>
                <a:latin typeface="Calibri"/>
                <a:ea typeface="Calibri"/>
                <a:cs typeface="Calibri"/>
              </a:rPr>
              <a:t>8</a:t>
            </a:r>
            <a:r>
              <a:rPr sz="2250" b="1" dirty="0">
                <a:solidFill>
                  <a:srgbClr val="52616A"/>
                </a:solidFill>
                <a:latin typeface="Calibri"/>
                <a:ea typeface="Calibri"/>
                <a:cs typeface="Calibri"/>
              </a:rPr>
              <a:t> </a:t>
            </a:r>
            <a:r>
              <a:rPr sz="2250" b="1" dirty="0" err="1">
                <a:solidFill>
                  <a:srgbClr val="52616A"/>
                </a:solidFill>
                <a:latin typeface="Calibri"/>
                <a:ea typeface="Calibri"/>
                <a:cs typeface="Calibri"/>
              </a:rPr>
              <a:t>echte</a:t>
            </a:r>
            <a:r>
              <a:rPr lang="en-US" sz="2250" b="1" dirty="0">
                <a:solidFill>
                  <a:srgbClr val="52616A"/>
                </a:solidFill>
                <a:latin typeface="Calibri"/>
                <a:ea typeface="Calibri"/>
                <a:cs typeface="Calibri"/>
              </a:rPr>
              <a:t> und </a:t>
            </a:r>
            <a:r>
              <a:rPr lang="en-US" sz="2250" b="1" dirty="0" err="1">
                <a:solidFill>
                  <a:srgbClr val="52616A"/>
                </a:solidFill>
                <a:latin typeface="Calibri"/>
                <a:ea typeface="Calibri"/>
                <a:cs typeface="Calibri"/>
              </a:rPr>
              <a:t>erfolgreiche</a:t>
            </a:r>
            <a:r>
              <a:rPr lang="en-US" sz="2250" b="1" dirty="0">
                <a:solidFill>
                  <a:srgbClr val="52616A"/>
                </a:solidFill>
                <a:latin typeface="Calibri"/>
                <a:ea typeface="Calibri"/>
                <a:cs typeface="Calibri"/>
              </a:rPr>
              <a:t> </a:t>
            </a:r>
            <a:r>
              <a:rPr lang="en-US" sz="2250" b="1" dirty="0" err="1">
                <a:solidFill>
                  <a:srgbClr val="52616A"/>
                </a:solidFill>
                <a:latin typeface="Calibri"/>
                <a:ea typeface="Calibri"/>
                <a:cs typeface="Calibri"/>
              </a:rPr>
              <a:t>Durchläufe</a:t>
            </a:r>
            <a:r>
              <a:rPr lang="en-US" sz="2250" b="1" dirty="0">
                <a:solidFill>
                  <a:srgbClr val="52616A"/>
                </a:solidFill>
                <a:latin typeface="Calibri"/>
                <a:ea typeface="Calibri"/>
                <a:cs typeface="Calibri"/>
              </a:rPr>
              <a:t>: 6 Smoke-Tests, 6 Offline </a:t>
            </a:r>
            <a:r>
              <a:rPr lang="en-US" sz="2250" b="1" dirty="0" err="1">
                <a:solidFill>
                  <a:srgbClr val="52616A"/>
                </a:solidFill>
                <a:latin typeface="Calibri"/>
                <a:ea typeface="Calibri"/>
                <a:cs typeface="Calibri"/>
              </a:rPr>
              <a:t>Läufe</a:t>
            </a:r>
            <a:r>
              <a:rPr lang="en-US" sz="2250" b="1" dirty="0">
                <a:solidFill>
                  <a:srgbClr val="52616A"/>
                </a:solidFill>
                <a:latin typeface="Calibri"/>
                <a:ea typeface="Calibri"/>
                <a:cs typeface="Calibri"/>
              </a:rPr>
              <a:t> und 6 Online </a:t>
            </a:r>
            <a:r>
              <a:rPr lang="en-US" sz="2250" b="1" dirty="0" err="1">
                <a:solidFill>
                  <a:srgbClr val="52616A"/>
                </a:solidFill>
                <a:latin typeface="Calibri"/>
                <a:ea typeface="Calibri"/>
                <a:cs typeface="Calibri"/>
              </a:rPr>
              <a:t>Läufe</a:t>
            </a:r>
            <a:endParaRPr lang="en-US" sz="2250" b="1" dirty="0">
              <a:solidFill>
                <a:srgbClr val="52616A"/>
              </a:solidFill>
              <a:latin typeface="Calibri"/>
              <a:ea typeface="Calibri"/>
              <a:cs typeface="Calibri"/>
            </a:endParaRPr>
          </a:p>
          <a:p>
            <a:pPr algn="l">
              <a:defRPr sz="2250" b="1">
                <a:solidFill>
                  <a:srgbClr val="52616A"/>
                </a:solidFill>
                <a:latin typeface="Calibri"/>
                <a:ea typeface="Calibri"/>
                <a:cs typeface="Calibri"/>
              </a:defRPr>
            </a:pPr>
            <a:endParaRPr lang="en-US" sz="2250" b="1" dirty="0">
              <a:solidFill>
                <a:srgbClr val="52616A"/>
              </a:solidFill>
              <a:latin typeface="Calibri"/>
              <a:ea typeface="Calibri"/>
              <a:cs typeface="Calibri"/>
            </a:endParaRPr>
          </a:p>
          <a:p>
            <a:pPr algn="l">
              <a:defRPr sz="2250" b="1">
                <a:solidFill>
                  <a:srgbClr val="52616A"/>
                </a:solidFill>
                <a:latin typeface="Calibri"/>
                <a:ea typeface="Calibri"/>
                <a:cs typeface="Calibri"/>
              </a:defRPr>
            </a:pPr>
            <a:r>
              <a:rPr lang="en-US" sz="2250" b="1" dirty="0">
                <a:solidFill>
                  <a:srgbClr val="52616A"/>
                </a:solidFill>
                <a:latin typeface="Calibri"/>
                <a:ea typeface="Calibri"/>
                <a:cs typeface="Calibri"/>
              </a:rPr>
              <a:t>41 </a:t>
            </a:r>
            <a:r>
              <a:rPr lang="en-US" sz="2250" b="1" dirty="0" err="1">
                <a:solidFill>
                  <a:srgbClr val="52616A"/>
                </a:solidFill>
                <a:latin typeface="Calibri"/>
                <a:ea typeface="Calibri"/>
                <a:cs typeface="Calibri"/>
              </a:rPr>
              <a:t>erfolgreich</a:t>
            </a:r>
            <a:r>
              <a:rPr lang="en-US" sz="2250" b="1" dirty="0">
                <a:solidFill>
                  <a:srgbClr val="52616A"/>
                </a:solidFill>
                <a:latin typeface="Calibri"/>
                <a:ea typeface="Calibri"/>
                <a:cs typeface="Calibri"/>
              </a:rPr>
              <a:t> </a:t>
            </a:r>
            <a:r>
              <a:rPr lang="en-US" sz="2250" b="1" dirty="0" err="1">
                <a:solidFill>
                  <a:srgbClr val="52616A"/>
                </a:solidFill>
                <a:latin typeface="Calibri"/>
                <a:ea typeface="Calibri"/>
                <a:cs typeface="Calibri"/>
              </a:rPr>
              <a:t>durchgeführte</a:t>
            </a:r>
            <a:r>
              <a:rPr lang="en-US" sz="2250" b="1" dirty="0">
                <a:solidFill>
                  <a:srgbClr val="52616A"/>
                </a:solidFill>
                <a:latin typeface="Calibri"/>
                <a:ea typeface="Calibri"/>
                <a:cs typeface="Calibri"/>
              </a:rPr>
              <a:t> Unit-Tests der Pipeline</a:t>
            </a:r>
            <a:endParaRPr sz="2250" b="1" dirty="0">
              <a:solidFill>
                <a:srgbClr val="52616A"/>
              </a:solidFill>
              <a:latin typeface="Calibri"/>
              <a:ea typeface="Calibri"/>
              <a:cs typeface="Calibri"/>
            </a:endParaRPr>
          </a:p>
        </p:txBody>
      </p:sp>
    </p:spTree>
    <p:extLst>
      <p:ext uri="{BB962C8B-B14F-4D97-AF65-F5344CB8AC3E}">
        <p14:creationId xmlns:p14="http://schemas.microsoft.com/office/powerpoint/2010/main" val="1571649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E7F8668-7AB6-49E5-B6CC-9AE67B2D2BA7}"/>
              </a:ext>
            </a:extLst>
          </p:cNvPr>
          <p:cNvPicPr>
            <a:picLocks noChangeAspect="1"/>
          </p:cNvPicPr>
          <p:nvPr/>
        </p:nvPicPr>
        <p:blipFill>
          <a:blip r:embed="rId3"/>
          <a:stretch/>
        </p:blipFill>
        <p:spPr>
          <a:xfrm>
            <a:off x="10325100" y="228600"/>
            <a:ext cx="1295400" cy="693039"/>
          </a:xfrm>
          <a:prstGeom prst="rect">
            <a:avLst/>
          </a:prstGeom>
        </p:spPr>
      </p:pic>
      <p:sp>
        <p:nvSpPr>
          <p:cNvPr id="2" name="Probleme während der Implementierung">
            <a:extLst>
              <a:ext uri="{FF2B5EF4-FFF2-40B4-BE49-F238E27FC236}">
                <a16:creationId xmlns:a16="http://schemas.microsoft.com/office/drawing/2014/main" id="{F08D2FAD-8C0D-42A2-A172-3CB8F6998641}"/>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Probleme während der Implementierung</a:t>
            </a:r>
          </a:p>
        </p:txBody>
      </p:sp>
      <p:sp>
        <p:nvSpPr>
          <p:cNvPr id="3" name="Rectangle 2">
            <a:extLst>
              <a:ext uri="{FF2B5EF4-FFF2-40B4-BE49-F238E27FC236}">
                <a16:creationId xmlns:a16="http://schemas.microsoft.com/office/drawing/2014/main" id="{E39CDA2A-C2CC-436E-BC60-2A2A4D7F542C}"/>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4" name="Historische Erstvalidierung und Nachprüfung der zehn Befundg">
            <a:extLst>
              <a:ext uri="{FF2B5EF4-FFF2-40B4-BE49-F238E27FC236}">
                <a16:creationId xmlns:a16="http://schemas.microsoft.com/office/drawing/2014/main" id="{6CF97580-6CF8-4FF4-8F36-09F162CCF6B2}"/>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endParaRPr sz="1200" b="0" dirty="0">
              <a:solidFill>
                <a:srgbClr val="52616A"/>
              </a:solidFill>
              <a:latin typeface="Calibri"/>
              <a:ea typeface="Calibri"/>
              <a:cs typeface="Calibri"/>
            </a:endParaRPr>
          </a:p>
        </p:txBody>
      </p:sp>
      <p:sp>
        <p:nvSpPr>
          <p:cNvPr id="5" name="Rectangle 4">
            <a:extLst>
              <a:ext uri="{FF2B5EF4-FFF2-40B4-BE49-F238E27FC236}">
                <a16:creationId xmlns:a16="http://schemas.microsoft.com/office/drawing/2014/main" id="{F7AC748D-CA8A-4CA4-9762-CC9ED7F02511}"/>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B7D94DAF-E9B3-4E0F-B51C-68E52A5058A2}"/>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defRPr sz="1125" b="0">
                <a:solidFill>
                  <a:srgbClr val="52616A"/>
                </a:solidFill>
                <a:latin typeface="Calibri"/>
                <a:ea typeface="Calibri"/>
                <a:cs typeface="Calibri"/>
              </a:defRPr>
            </a:pPr>
            <a:r>
              <a:rPr lang="de-DE" sz="1125" dirty="0">
                <a:solidFill>
                  <a:srgbClr val="52616A"/>
                </a:solidFill>
                <a:latin typeface="Calibri"/>
                <a:ea typeface="Calibri"/>
                <a:cs typeface="Calibri"/>
              </a:rPr>
              <a:t>DHBW Mosbach – Angewandte Informatik | IT-Sicherheit</a:t>
            </a:r>
          </a:p>
        </p:txBody>
      </p:sp>
      <p:sp>
        <p:nvSpPr>
          <p:cNvPr id="7" name="11">
            <a:extLst>
              <a:ext uri="{FF2B5EF4-FFF2-40B4-BE49-F238E27FC236}">
                <a16:creationId xmlns:a16="http://schemas.microsoft.com/office/drawing/2014/main" id="{F9E7574F-516B-4F76-97B7-3EEDD39271F0}"/>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dirty="0">
                <a:solidFill>
                  <a:srgbClr val="52616A"/>
                </a:solidFill>
                <a:latin typeface="Calibri"/>
                <a:ea typeface="Calibri"/>
                <a:cs typeface="Calibri"/>
              </a:rPr>
              <a:t>1</a:t>
            </a:r>
            <a:r>
              <a:rPr lang="en-US" sz="1275" b="0" dirty="0">
                <a:solidFill>
                  <a:srgbClr val="52616A"/>
                </a:solidFill>
                <a:latin typeface="Calibri"/>
                <a:ea typeface="Calibri"/>
                <a:cs typeface="Calibri"/>
              </a:rPr>
              <a:t>0</a:t>
            </a:r>
            <a:endParaRPr sz="1275" b="0" dirty="0">
              <a:solidFill>
                <a:srgbClr val="52616A"/>
              </a:solidFill>
              <a:latin typeface="Calibri"/>
              <a:ea typeface="Calibri"/>
              <a:cs typeface="Calibri"/>
            </a:endParaRPr>
          </a:p>
        </p:txBody>
      </p:sp>
      <p:graphicFrame>
        <p:nvGraphicFramePr>
          <p:cNvPr id="8" name="Table 7">
            <a:extLst>
              <a:ext uri="{FF2B5EF4-FFF2-40B4-BE49-F238E27FC236}">
                <a16:creationId xmlns:a16="http://schemas.microsoft.com/office/drawing/2014/main" id="{6C0AFCC2-2988-4247-9BD0-63B7BD4D6C51}"/>
              </a:ext>
            </a:extLst>
          </p:cNvPr>
          <p:cNvGraphicFramePr/>
          <p:nvPr>
            <p:extLst>
              <p:ext uri="{D42A27DB-BD31-4B8C-83A1-F6EECF244321}">
                <p14:modId xmlns:p14="http://schemas.microsoft.com/office/powerpoint/2010/main" val="4015002836"/>
              </p:ext>
            </p:extLst>
          </p:nvPr>
        </p:nvGraphicFramePr>
        <p:xfrm>
          <a:off x="666750" y="1707832"/>
          <a:ext cx="10858500" cy="4156710"/>
        </p:xfrm>
        <a:graphic>
          <a:graphicData uri="http://schemas.openxmlformats.org/drawingml/2006/table">
            <a:tbl>
              <a:tblPr/>
              <a:tblGrid>
                <a:gridCol w="4721087">
                  <a:extLst>
                    <a:ext uri="{9D8B030D-6E8A-4147-A177-3AD203B41FA5}">
                      <a16:colId xmlns:a16="http://schemas.microsoft.com/office/drawing/2014/main" val="20000"/>
                    </a:ext>
                  </a:extLst>
                </a:gridCol>
                <a:gridCol w="6137413">
                  <a:extLst>
                    <a:ext uri="{9D8B030D-6E8A-4147-A177-3AD203B41FA5}">
                      <a16:colId xmlns:a16="http://schemas.microsoft.com/office/drawing/2014/main" val="20001"/>
                    </a:ext>
                  </a:extLst>
                </a:gridCol>
              </a:tblGrid>
              <a:tr h="790575">
                <a:tc>
                  <a:txBody>
                    <a:bodyPr/>
                    <a:lstStyle/>
                    <a:p>
                      <a:r>
                        <a:rPr sz="1800" b="1">
                          <a:solidFill>
                            <a:srgbClr val="FFFFFF"/>
                          </a:solidFill>
                          <a:latin typeface="Calibri"/>
                          <a:ea typeface="Calibri"/>
                          <a:cs typeface="Calibri"/>
                        </a:rPr>
                        <a:t>Problem</a:t>
                      </a:r>
                    </a:p>
                  </a:txBody>
                  <a:tcPr marL="114300" marR="114300" marT="95250" marB="762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tc>
                  <a:txBody>
                    <a:bodyPr/>
                    <a:lstStyle/>
                    <a:p>
                      <a:r>
                        <a:rPr sz="1800" b="1" dirty="0" err="1">
                          <a:solidFill>
                            <a:srgbClr val="FFFFFF"/>
                          </a:solidFill>
                          <a:latin typeface="Calibri"/>
                          <a:ea typeface="Calibri"/>
                          <a:cs typeface="Calibri"/>
                        </a:rPr>
                        <a:t>Korrektur</a:t>
                      </a:r>
                      <a:endParaRPr sz="1800" b="1" dirty="0">
                        <a:solidFill>
                          <a:srgbClr val="FFFFFF"/>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a:solidFill>
                        <a:srgbClr val="FFFFFF"/>
                      </a:solidFill>
                      <a:prstDash val="solid"/>
                    </a:lnT>
                    <a:lnB w="19050">
                      <a:solidFill>
                        <a:srgbClr val="FFFFFF"/>
                      </a:solidFill>
                      <a:prstDash val="solid"/>
                    </a:lnB>
                    <a:solidFill>
                      <a:srgbClr val="52616A"/>
                    </a:solidFill>
                  </a:tcPr>
                </a:tc>
                <a:extLst>
                  <a:ext uri="{0D108BD9-81ED-4DB2-BD59-A6C34878D82A}">
                    <a16:rowId xmlns:a16="http://schemas.microsoft.com/office/drawing/2014/main" val="10000"/>
                  </a:ext>
                </a:extLst>
              </a:tr>
              <a:tr h="790575">
                <a:tc>
                  <a:txBody>
                    <a:bodyPr/>
                    <a:lstStyle/>
                    <a:p>
                      <a:r>
                        <a:rPr sz="1800" b="0" dirty="0">
                          <a:solidFill>
                            <a:srgbClr val="263640"/>
                          </a:solidFill>
                          <a:latin typeface="Calibri"/>
                          <a:ea typeface="Calibri"/>
                          <a:cs typeface="Calibri"/>
                        </a:rPr>
                        <a:t>CI-</a:t>
                      </a:r>
                      <a:r>
                        <a:rPr sz="1800" b="0" dirty="0" err="1">
                          <a:solidFill>
                            <a:srgbClr val="263640"/>
                          </a:solidFill>
                          <a:latin typeface="Calibri"/>
                          <a:ea typeface="Calibri"/>
                          <a:cs typeface="Calibri"/>
                        </a:rPr>
                        <a:t>Pfade</a:t>
                      </a:r>
                      <a:r>
                        <a:rPr sz="1800" b="0" dirty="0">
                          <a:solidFill>
                            <a:srgbClr val="263640"/>
                          </a:solidFill>
                          <a:latin typeface="Calibri"/>
                          <a:ea typeface="Calibri"/>
                          <a:cs typeface="Calibri"/>
                        </a:rPr>
                        <a:t> und Git-Stamm </a:t>
                      </a:r>
                      <a:r>
                        <a:rPr sz="1800" b="0" dirty="0" err="1">
                          <a:solidFill>
                            <a:srgbClr val="263640"/>
                          </a:solidFill>
                          <a:latin typeface="Calibri"/>
                          <a:ea typeface="Calibri"/>
                          <a:cs typeface="Calibri"/>
                        </a:rPr>
                        <a:t>falsch</a:t>
                      </a:r>
                      <a:endParaRPr sz="1800" b="0" dirty="0">
                        <a:solidFill>
                          <a:srgbClr val="263640"/>
                        </a:solidFill>
                        <a:latin typeface="Calibri"/>
                        <a:ea typeface="Calibri"/>
                        <a:cs typeface="Calibri"/>
                      </a:endParaRPr>
                    </a:p>
                  </a:txBody>
                  <a:tcPr marL="114300" marR="114300" marT="95250" marB="76200" anchor="ctr">
                    <a:lnL w="19050">
                      <a:solidFill>
                        <a:srgbClr val="FFFFFF"/>
                      </a:solidFill>
                      <a:prstDash val="soli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lang="en-US" sz="1800" b="0" dirty="0" err="1">
                          <a:solidFill>
                            <a:srgbClr val="263640"/>
                          </a:solidFill>
                          <a:latin typeface="Calibri"/>
                          <a:ea typeface="Calibri"/>
                          <a:cs typeface="Calibri"/>
                        </a:rPr>
                        <a:t>R</a:t>
                      </a:r>
                      <a:r>
                        <a:rPr sz="1800" b="0" dirty="0" err="1">
                          <a:solidFill>
                            <a:srgbClr val="263640"/>
                          </a:solidFill>
                          <a:latin typeface="Calibri"/>
                          <a:ea typeface="Calibri"/>
                          <a:cs typeface="Calibri"/>
                        </a:rPr>
                        <a:t>ichtige</a:t>
                      </a:r>
                      <a:r>
                        <a:rPr lang="en-US" sz="1800" b="0" dirty="0" err="1">
                          <a:solidFill>
                            <a:srgbClr val="263640"/>
                          </a:solidFill>
                          <a:latin typeface="Calibri"/>
                          <a:ea typeface="Calibri"/>
                          <a:cs typeface="Calibri"/>
                        </a:rPr>
                        <a:t>n</a:t>
                      </a:r>
                      <a:r>
                        <a:rPr lang="en-US" sz="1800" b="0" dirty="0">
                          <a:solidFill>
                            <a:srgbClr val="263640"/>
                          </a:solidFill>
                          <a:latin typeface="Calibri"/>
                          <a:ea typeface="Calibri"/>
                          <a:cs typeface="Calibri"/>
                        </a:rPr>
                        <a:t> Git-Stamm und</a:t>
                      </a:r>
                      <a:r>
                        <a:rPr sz="1800" b="0" dirty="0">
                          <a:solidFill>
                            <a:srgbClr val="263640"/>
                          </a:solidFill>
                          <a:latin typeface="Calibri"/>
                          <a:ea typeface="Calibri"/>
                          <a:cs typeface="Calibri"/>
                        </a:rPr>
                        <a:t> </a:t>
                      </a:r>
                      <a:r>
                        <a:rPr sz="1800" b="0" dirty="0" err="1">
                          <a:solidFill>
                            <a:srgbClr val="263640"/>
                          </a:solidFill>
                          <a:latin typeface="Calibri"/>
                          <a:ea typeface="Calibri"/>
                          <a:cs typeface="Calibri"/>
                        </a:rPr>
                        <a:t>Arbeitsverzeichnis</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setzen</a:t>
                      </a:r>
                      <a:endParaRPr sz="1800" b="0" dirty="0">
                        <a:solidFill>
                          <a:srgbClr val="263640"/>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10001"/>
                  </a:ext>
                </a:extLst>
              </a:tr>
              <a:tr h="790575">
                <a:tc>
                  <a:txBody>
                    <a:bodyPr/>
                    <a:lstStyle/>
                    <a:p>
                      <a:r>
                        <a:rPr sz="1800" b="0" dirty="0">
                          <a:solidFill>
                            <a:srgbClr val="263640"/>
                          </a:solidFill>
                          <a:latin typeface="Calibri"/>
                          <a:ea typeface="Calibri"/>
                          <a:cs typeface="Calibri"/>
                        </a:rPr>
                        <a:t>Scanner-</a:t>
                      </a:r>
                      <a:r>
                        <a:rPr sz="1800" b="0" dirty="0" err="1">
                          <a:solidFill>
                            <a:srgbClr val="263640"/>
                          </a:solidFill>
                          <a:latin typeface="Calibri"/>
                          <a:ea typeface="Calibri"/>
                          <a:cs typeface="Calibri"/>
                        </a:rPr>
                        <a:t>Ausfall</a:t>
                      </a:r>
                      <a:r>
                        <a:rPr sz="1800" b="0" dirty="0">
                          <a:solidFill>
                            <a:srgbClr val="263640"/>
                          </a:solidFill>
                          <a:latin typeface="Calibri"/>
                          <a:ea typeface="Calibri"/>
                          <a:cs typeface="Calibri"/>
                        </a:rPr>
                        <a:t> </a:t>
                      </a:r>
                      <a:r>
                        <a:rPr sz="1800" b="0" dirty="0" err="1">
                          <a:solidFill>
                            <a:srgbClr val="263640"/>
                          </a:solidFill>
                          <a:latin typeface="Calibri"/>
                          <a:ea typeface="Calibri"/>
                          <a:cs typeface="Calibri"/>
                        </a:rPr>
                        <a:t>konnte</a:t>
                      </a:r>
                      <a:r>
                        <a:rPr sz="1800" b="0" dirty="0">
                          <a:solidFill>
                            <a:srgbClr val="263640"/>
                          </a:solidFill>
                          <a:latin typeface="Calibri"/>
                          <a:ea typeface="Calibri"/>
                          <a:cs typeface="Calibri"/>
                        </a:rPr>
                        <a:t> PASS </a:t>
                      </a:r>
                      <a:r>
                        <a:rPr sz="1800" b="0" dirty="0" err="1">
                          <a:solidFill>
                            <a:srgbClr val="263640"/>
                          </a:solidFill>
                          <a:latin typeface="Calibri"/>
                          <a:ea typeface="Calibri"/>
                          <a:cs typeface="Calibri"/>
                        </a:rPr>
                        <a:t>liefern</a:t>
                      </a:r>
                      <a:endParaRPr sz="1800" b="0" dirty="0">
                        <a:solidFill>
                          <a:srgbClr val="263640"/>
                        </a:solidFill>
                        <a:latin typeface="Calibri"/>
                        <a:ea typeface="Calibri"/>
                        <a:cs typeface="Calibri"/>
                      </a:endParaRP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tc>
                  <a:txBody>
                    <a:bodyPr/>
                    <a:lstStyle/>
                    <a:p>
                      <a:r>
                        <a:rPr sz="1800" b="0" dirty="0" err="1">
                          <a:solidFill>
                            <a:srgbClr val="263640"/>
                          </a:solidFill>
                          <a:latin typeface="Calibri"/>
                          <a:ea typeface="Calibri"/>
                          <a:cs typeface="Calibri"/>
                        </a:rPr>
                        <a:t>Checkzustand</a:t>
                      </a:r>
                      <a:r>
                        <a:rPr sz="1800" b="0" dirty="0">
                          <a:solidFill>
                            <a:srgbClr val="263640"/>
                          </a:solidFill>
                          <a:latin typeface="Calibri"/>
                          <a:ea typeface="Calibri"/>
                          <a:cs typeface="Calibri"/>
                        </a:rPr>
                        <a:t> und </a:t>
                      </a:r>
                      <a:r>
                        <a:rPr sz="1800" b="0" dirty="0" err="1">
                          <a:solidFill>
                            <a:srgbClr val="263640"/>
                          </a:solidFill>
                          <a:latin typeface="Calibri"/>
                          <a:ea typeface="Calibri"/>
                          <a:cs typeface="Calibri"/>
                        </a:rPr>
                        <a:t>Pflichtreport</a:t>
                      </a:r>
                      <a:r>
                        <a:rPr sz="1800" b="0" dirty="0">
                          <a:solidFill>
                            <a:srgbClr val="263640"/>
                          </a:solidFill>
                          <a:latin typeface="Calibri"/>
                          <a:ea typeface="Calibri"/>
                          <a:cs typeface="Calibri"/>
                        </a:rPr>
                        <a:t> </a:t>
                      </a:r>
                      <a:r>
                        <a:rPr sz="1800" b="0" dirty="0" err="1">
                          <a:solidFill>
                            <a:srgbClr val="263640"/>
                          </a:solidFill>
                          <a:latin typeface="Calibri"/>
                          <a:ea typeface="Calibri"/>
                          <a:cs typeface="Calibri"/>
                        </a:rPr>
                        <a:t>validieren</a:t>
                      </a:r>
                      <a:endParaRPr sz="1800" b="0" dirty="0">
                        <a:solidFill>
                          <a:srgbClr val="263640"/>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FFFFF"/>
                    </a:solidFill>
                  </a:tcPr>
                </a:tc>
                <a:extLst>
                  <a:ext uri="{0D108BD9-81ED-4DB2-BD59-A6C34878D82A}">
                    <a16:rowId xmlns:a16="http://schemas.microsoft.com/office/drawing/2014/main" val="10002"/>
                  </a:ext>
                </a:extLst>
              </a:tr>
              <a:tr h="790575">
                <a:tc>
                  <a:txBody>
                    <a:bodyPr/>
                    <a:lstStyle/>
                    <a:p>
                      <a:r>
                        <a:rPr sz="1800" b="0" dirty="0">
                          <a:solidFill>
                            <a:srgbClr val="263640"/>
                          </a:solidFill>
                          <a:latin typeface="Calibri"/>
                          <a:ea typeface="Calibri"/>
                          <a:cs typeface="Calibri"/>
                        </a:rPr>
                        <a:t>Alte CLI war nicht </a:t>
                      </a:r>
                      <a:r>
                        <a:rPr sz="1800" b="0" dirty="0" err="1">
                          <a:solidFill>
                            <a:srgbClr val="263640"/>
                          </a:solidFill>
                          <a:latin typeface="Calibri"/>
                          <a:ea typeface="Calibri"/>
                          <a:cs typeface="Calibri"/>
                        </a:rPr>
                        <a:t>lauffähig</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durch</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zu</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alte</a:t>
                      </a:r>
                      <a:r>
                        <a:rPr lang="en-US" sz="1800" b="0" dirty="0">
                          <a:solidFill>
                            <a:srgbClr val="263640"/>
                          </a:solidFill>
                          <a:latin typeface="Calibri"/>
                          <a:ea typeface="Calibri"/>
                          <a:cs typeface="Calibri"/>
                        </a:rPr>
                        <a:t> Packages</a:t>
                      </a:r>
                      <a:endParaRPr sz="1800" b="0" dirty="0">
                        <a:solidFill>
                          <a:srgbClr val="263640"/>
                        </a:solidFill>
                        <a:latin typeface="Calibri"/>
                        <a:ea typeface="Calibri"/>
                        <a:cs typeface="Calibri"/>
                      </a:endParaRPr>
                    </a:p>
                  </a:txBody>
                  <a:tcPr marL="114300" marR="114300" marT="95250" marB="76200" anchor="ctr">
                    <a:lnL w="19050">
                      <a:solidFill>
                        <a:srgbClr val="FFFFFF"/>
                      </a:solidFill>
                      <a:prstDash val="solid"/>
                    </a:lnL>
                    <a:lnR w="19050">
                      <a:solidFill>
                        <a:srgbClr val="FFFFFF"/>
                      </a:solidFill>
                      <a:prstDash val="soli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2F3"/>
                    </a:solidFill>
                  </a:tcPr>
                </a:tc>
                <a:tc>
                  <a:txBody>
                    <a:bodyPr/>
                    <a:lstStyle/>
                    <a:p>
                      <a:r>
                        <a:rPr lang="en-US" sz="1800" b="0" dirty="0">
                          <a:solidFill>
                            <a:srgbClr val="263640"/>
                          </a:solidFill>
                          <a:latin typeface="Calibri"/>
                          <a:ea typeface="Calibri"/>
                          <a:cs typeface="Calibri"/>
                        </a:rPr>
                        <a:t>Packages </a:t>
                      </a:r>
                      <a:r>
                        <a:rPr lang="en-US" sz="1800" b="0" dirty="0" err="1">
                          <a:solidFill>
                            <a:srgbClr val="263640"/>
                          </a:solidFill>
                          <a:latin typeface="Calibri"/>
                          <a:ea typeface="Calibri"/>
                          <a:cs typeface="Calibri"/>
                        </a:rPr>
                        <a:t>wählen</a:t>
                      </a:r>
                      <a:r>
                        <a:rPr lang="en-US" sz="1800" b="0" dirty="0">
                          <a:solidFill>
                            <a:srgbClr val="263640"/>
                          </a:solidFill>
                          <a:latin typeface="Calibri"/>
                          <a:ea typeface="Calibri"/>
                          <a:cs typeface="Calibri"/>
                        </a:rPr>
                        <a:t> die </a:t>
                      </a:r>
                      <a:r>
                        <a:rPr lang="en-US" sz="1800" b="0" dirty="0" err="1">
                          <a:solidFill>
                            <a:srgbClr val="263640"/>
                          </a:solidFill>
                          <a:latin typeface="Calibri"/>
                          <a:ea typeface="Calibri"/>
                          <a:cs typeface="Calibri"/>
                        </a:rPr>
                        <a:t>lauffähig</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waren</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jedoch</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trotzdem</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eine</a:t>
                      </a:r>
                      <a:r>
                        <a:rPr lang="en-US" sz="1800" b="0" dirty="0">
                          <a:solidFill>
                            <a:srgbClr val="263640"/>
                          </a:solidFill>
                          <a:latin typeface="Calibri"/>
                          <a:ea typeface="Calibri"/>
                          <a:cs typeface="Calibri"/>
                        </a:rPr>
                        <a:t> Vulnerability </a:t>
                      </a:r>
                      <a:r>
                        <a:rPr lang="en-US" sz="1800" b="0" dirty="0" err="1">
                          <a:solidFill>
                            <a:srgbClr val="263640"/>
                          </a:solidFill>
                          <a:latin typeface="Calibri"/>
                          <a:ea typeface="Calibri"/>
                          <a:cs typeface="Calibri"/>
                        </a:rPr>
                        <a:t>erzeugten</a:t>
                      </a:r>
                      <a:endParaRPr sz="1800" b="0" dirty="0">
                        <a:solidFill>
                          <a:srgbClr val="263640"/>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0F2F3"/>
                    </a:solidFill>
                  </a:tcPr>
                </a:tc>
                <a:extLst>
                  <a:ext uri="{0D108BD9-81ED-4DB2-BD59-A6C34878D82A}">
                    <a16:rowId xmlns:a16="http://schemas.microsoft.com/office/drawing/2014/main" val="10003"/>
                  </a:ext>
                </a:extLst>
              </a:tr>
              <a:tr h="790575">
                <a:tc>
                  <a:txBody>
                    <a:bodyPr/>
                    <a:lstStyle/>
                    <a:p>
                      <a:r>
                        <a:rPr lang="en-US" sz="1800" b="0" dirty="0" err="1">
                          <a:solidFill>
                            <a:srgbClr val="263640"/>
                          </a:solidFill>
                          <a:latin typeface="Calibri"/>
                          <a:ea typeface="Calibri"/>
                          <a:cs typeface="Calibri"/>
                        </a:rPr>
                        <a:t>Künstliche</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Intelligenz</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verwendete</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falsche</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Pakete</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oder</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erzeugte</a:t>
                      </a:r>
                      <a:r>
                        <a:rPr lang="en-US" sz="1800" b="0" dirty="0">
                          <a:solidFill>
                            <a:srgbClr val="263640"/>
                          </a:solidFill>
                          <a:latin typeface="Calibri"/>
                          <a:ea typeface="Calibri"/>
                          <a:cs typeface="Calibri"/>
                        </a:rPr>
                        <a:t> Code der </a:t>
                      </a:r>
                      <a:r>
                        <a:rPr lang="en-US" sz="1800" b="0" dirty="0" err="1">
                          <a:solidFill>
                            <a:srgbClr val="263640"/>
                          </a:solidFill>
                          <a:latin typeface="Calibri"/>
                          <a:ea typeface="Calibri"/>
                          <a:cs typeface="Calibri"/>
                        </a:rPr>
                        <a:t>nur</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Ausgaben</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generiert</a:t>
                      </a:r>
                      <a:r>
                        <a:rPr lang="en-US" sz="1800" b="0" dirty="0">
                          <a:solidFill>
                            <a:srgbClr val="263640"/>
                          </a:solidFill>
                          <a:latin typeface="Calibri"/>
                          <a:ea typeface="Calibri"/>
                          <a:cs typeface="Calibri"/>
                        </a:rPr>
                        <a:t> hat, </a:t>
                      </a:r>
                      <a:r>
                        <a:rPr lang="en-US" sz="1800" b="0" dirty="0" err="1">
                          <a:solidFill>
                            <a:srgbClr val="263640"/>
                          </a:solidFill>
                          <a:latin typeface="Calibri"/>
                          <a:ea typeface="Calibri"/>
                          <a:cs typeface="Calibri"/>
                        </a:rPr>
                        <a:t>ohne</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zu</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prüfen</a:t>
                      </a:r>
                      <a:endParaRPr sz="1800" b="0" dirty="0">
                        <a:solidFill>
                          <a:srgbClr val="263640"/>
                        </a:solidFill>
                        <a:latin typeface="Calibri"/>
                        <a:ea typeface="Calibri"/>
                        <a:cs typeface="Calibri"/>
                      </a:endParaRPr>
                    </a:p>
                  </a:txBody>
                  <a:tcPr marL="114300" marR="114300" marT="95250" marB="76200" anchor="ctr">
                    <a:lnL w="19050">
                      <a:solidFill>
                        <a:srgbClr val="FFFFFF"/>
                      </a:solidFill>
                      <a:prstDash val="soli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tc>
                  <a:txBody>
                    <a:bodyPr/>
                    <a:lstStyle/>
                    <a:p>
                      <a:r>
                        <a:rPr lang="en-US" sz="1800" b="0" dirty="0">
                          <a:solidFill>
                            <a:srgbClr val="263640"/>
                          </a:solidFill>
                          <a:latin typeface="Calibri"/>
                          <a:ea typeface="Calibri"/>
                          <a:cs typeface="Calibri"/>
                        </a:rPr>
                        <a:t>Manuelle </a:t>
                      </a:r>
                      <a:r>
                        <a:rPr lang="en-US" sz="1800" b="0" dirty="0" err="1">
                          <a:solidFill>
                            <a:srgbClr val="263640"/>
                          </a:solidFill>
                          <a:latin typeface="Calibri"/>
                          <a:ea typeface="Calibri"/>
                          <a:cs typeface="Calibri"/>
                        </a:rPr>
                        <a:t>Prüfung</a:t>
                      </a:r>
                      <a:r>
                        <a:rPr lang="en-US" sz="1800" b="0" dirty="0">
                          <a:solidFill>
                            <a:srgbClr val="263640"/>
                          </a:solidFill>
                          <a:latin typeface="Calibri"/>
                          <a:ea typeface="Calibri"/>
                          <a:cs typeface="Calibri"/>
                        </a:rPr>
                        <a:t> der </a:t>
                      </a:r>
                      <a:r>
                        <a:rPr lang="en-US" sz="1800" b="0" dirty="0" err="1">
                          <a:solidFill>
                            <a:srgbClr val="263640"/>
                          </a:solidFill>
                          <a:latin typeface="Calibri"/>
                          <a:ea typeface="Calibri"/>
                          <a:cs typeface="Calibri"/>
                        </a:rPr>
                        <a:t>Codestellen</a:t>
                      </a:r>
                      <a:r>
                        <a:rPr lang="en-US" sz="1800" b="0" dirty="0">
                          <a:solidFill>
                            <a:srgbClr val="263640"/>
                          </a:solidFill>
                          <a:latin typeface="Calibri"/>
                          <a:ea typeface="Calibri"/>
                          <a:cs typeface="Calibri"/>
                        </a:rPr>
                        <a:t> und </a:t>
                      </a:r>
                      <a:r>
                        <a:rPr lang="en-US" sz="1800" b="0" dirty="0" err="1">
                          <a:solidFill>
                            <a:srgbClr val="263640"/>
                          </a:solidFill>
                          <a:latin typeface="Calibri"/>
                          <a:ea typeface="Calibri"/>
                          <a:cs typeface="Calibri"/>
                        </a:rPr>
                        <a:t>detailliertes</a:t>
                      </a:r>
                      <a:r>
                        <a:rPr lang="en-US" sz="1800" b="0" dirty="0">
                          <a:solidFill>
                            <a:srgbClr val="263640"/>
                          </a:solidFill>
                          <a:latin typeface="Calibri"/>
                          <a:ea typeface="Calibri"/>
                          <a:cs typeface="Calibri"/>
                        </a:rPr>
                        <a:t> Prompting </a:t>
                      </a:r>
                      <a:r>
                        <a:rPr lang="en-US" sz="1800" b="0" dirty="0" err="1">
                          <a:solidFill>
                            <a:srgbClr val="263640"/>
                          </a:solidFill>
                          <a:latin typeface="Calibri"/>
                          <a:ea typeface="Calibri"/>
                          <a:cs typeface="Calibri"/>
                        </a:rPr>
                        <a:t>mit</a:t>
                      </a:r>
                      <a:r>
                        <a:rPr lang="en-US" sz="1800" b="0" dirty="0">
                          <a:solidFill>
                            <a:srgbClr val="263640"/>
                          </a:solidFill>
                          <a:latin typeface="Calibri"/>
                          <a:ea typeface="Calibri"/>
                          <a:cs typeface="Calibri"/>
                        </a:rPr>
                        <a:t> </a:t>
                      </a:r>
                      <a:r>
                        <a:rPr lang="en-US" sz="1800" b="0" dirty="0" err="1">
                          <a:solidFill>
                            <a:srgbClr val="263640"/>
                          </a:solidFill>
                          <a:latin typeface="Calibri"/>
                          <a:ea typeface="Calibri"/>
                          <a:cs typeface="Calibri"/>
                        </a:rPr>
                        <a:t>Verwendung</a:t>
                      </a:r>
                      <a:r>
                        <a:rPr lang="en-US" sz="1800" b="0" dirty="0">
                          <a:solidFill>
                            <a:srgbClr val="263640"/>
                          </a:solidFill>
                          <a:latin typeface="Calibri"/>
                          <a:ea typeface="Calibri"/>
                          <a:cs typeface="Calibri"/>
                        </a:rPr>
                        <a:t> von MCP (</a:t>
                      </a:r>
                      <a:r>
                        <a:rPr lang="en-US" sz="1800" b="0" dirty="0" err="1">
                          <a:solidFill>
                            <a:srgbClr val="263640"/>
                          </a:solidFill>
                          <a:latin typeface="Calibri"/>
                          <a:ea typeface="Calibri"/>
                          <a:cs typeface="Calibri"/>
                        </a:rPr>
                        <a:t>z.B.</a:t>
                      </a:r>
                      <a:r>
                        <a:rPr lang="en-US" sz="1800" b="0" dirty="0">
                          <a:solidFill>
                            <a:srgbClr val="263640"/>
                          </a:solidFill>
                          <a:latin typeface="Calibri"/>
                          <a:ea typeface="Calibri"/>
                          <a:cs typeface="Calibri"/>
                        </a:rPr>
                        <a:t> Context7)</a:t>
                      </a:r>
                      <a:endParaRPr sz="1800" b="0" dirty="0">
                        <a:solidFill>
                          <a:srgbClr val="263640"/>
                        </a:solidFill>
                        <a:latin typeface="Calibri"/>
                        <a:ea typeface="Calibri"/>
                        <a:cs typeface="Calibri"/>
                      </a:endParaRPr>
                    </a:p>
                  </a:txBody>
                  <a:tcPr marL="114300" marR="114300" marT="95250" marB="76200" anchor="ctr">
                    <a:lnL w="19050" cap="flat" cmpd="sng" algn="ctr">
                      <a:solidFill>
                        <a:srgbClr val="FFFFFF"/>
                      </a:solidFill>
                      <a:prstDash val="solid"/>
                      <a:round/>
                      <a:headEnd type="none" w="med" len="med"/>
                      <a:tailEnd type="none" w="med" len="med"/>
                    </a:lnL>
                    <a:lnR w="19050">
                      <a:solidFill>
                        <a:srgbClr val="FFFFFF"/>
                      </a:solidFill>
                      <a:prstDash val="solid"/>
                    </a:lnR>
                    <a:lnT w="19050" cap="flat" cmpd="sng" algn="ctr">
                      <a:solidFill>
                        <a:srgbClr val="FFFFFF"/>
                      </a:solidFill>
                      <a:prstDash val="solid"/>
                      <a:round/>
                      <a:headEnd type="none" w="med" len="med"/>
                      <a:tailEnd type="none" w="med" len="med"/>
                    </a:lnT>
                    <a:lnB w="19050">
                      <a:solidFill>
                        <a:srgbClr val="FFFFFF"/>
                      </a:solidFill>
                      <a:prstDash val="solid"/>
                    </a:lnB>
                    <a:solidFill>
                      <a:srgbClr val="F0F2F3"/>
                    </a:solidFill>
                  </a:tcPr>
                </a:tc>
                <a:extLst>
                  <a:ext uri="{0D108BD9-81ED-4DB2-BD59-A6C34878D82A}">
                    <a16:rowId xmlns:a16="http://schemas.microsoft.com/office/drawing/2014/main" val="3366260934"/>
                  </a:ext>
                </a:extLst>
              </a:tr>
            </a:tbl>
          </a:graphicData>
        </a:graphic>
      </p:graphicFrame>
    </p:spTree>
    <p:extLst>
      <p:ext uri="{BB962C8B-B14F-4D97-AF65-F5344CB8AC3E}">
        <p14:creationId xmlns:p14="http://schemas.microsoft.com/office/powerpoint/2010/main" val="1864125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77B12B22-F7F3-48FA-8335-CF317514CFA1}"/>
              </a:ext>
            </a:extLst>
          </p:cNvPr>
          <p:cNvPicPr>
            <a:picLocks noChangeAspect="1"/>
          </p:cNvPicPr>
          <p:nvPr/>
        </p:nvPicPr>
        <p:blipFill>
          <a:blip r:embed="rId3"/>
          <a:stretch/>
        </p:blipFill>
        <p:spPr>
          <a:xfrm>
            <a:off x="10325100" y="228600"/>
            <a:ext cx="1295400" cy="693039"/>
          </a:xfrm>
          <a:prstGeom prst="rect">
            <a:avLst/>
          </a:prstGeom>
        </p:spPr>
      </p:pic>
      <p:sp>
        <p:nvSpPr>
          <p:cNvPr id="2" name="Lessons Learned">
            <a:extLst>
              <a:ext uri="{FF2B5EF4-FFF2-40B4-BE49-F238E27FC236}">
                <a16:creationId xmlns:a16="http://schemas.microsoft.com/office/drawing/2014/main" id="{0E478E56-8760-4133-8793-560E7E9D6C5B}"/>
              </a:ext>
            </a:extLst>
          </p:cNvPr>
          <p:cNvSpPr>
            <a:spLocks noGrp="1"/>
          </p:cNvSpPr>
          <p:nvPr/>
        </p:nvSpPr>
        <p:spPr>
          <a:xfrm>
            <a:off x="666750" y="552450"/>
            <a:ext cx="94297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l">
              <a:defRPr sz="3150" b="0">
                <a:solidFill>
                  <a:srgbClr val="52616A"/>
                </a:solidFill>
                <a:latin typeface="Calibri"/>
                <a:ea typeface="Calibri"/>
                <a:cs typeface="Calibri"/>
              </a:defRPr>
            </a:pPr>
            <a:r>
              <a:rPr sz="3150" b="0">
                <a:solidFill>
                  <a:srgbClr val="52616A"/>
                </a:solidFill>
                <a:latin typeface="Calibri"/>
                <a:ea typeface="Calibri"/>
                <a:cs typeface="Calibri"/>
              </a:rPr>
              <a:t>Lessons Learned</a:t>
            </a:r>
          </a:p>
        </p:txBody>
      </p:sp>
      <p:sp>
        <p:nvSpPr>
          <p:cNvPr id="3" name="Rectangle 2">
            <a:extLst>
              <a:ext uri="{FF2B5EF4-FFF2-40B4-BE49-F238E27FC236}">
                <a16:creationId xmlns:a16="http://schemas.microsoft.com/office/drawing/2014/main" id="{558E53D8-F173-4AAA-A3E8-9ABEAF21DBCC}"/>
              </a:ext>
            </a:extLst>
          </p:cNvPr>
          <p:cNvSpPr>
            <a:spLocks noGrp="1"/>
          </p:cNvSpPr>
          <p:nvPr/>
        </p:nvSpPr>
        <p:spPr>
          <a:xfrm>
            <a:off x="666750" y="1457325"/>
            <a:ext cx="10858500" cy="19050"/>
          </a:xfrm>
          <a:prstGeom prst="rect">
            <a:avLst/>
          </a:prstGeom>
          <a:solidFill>
            <a:srgbClr val="E2001A"/>
          </a:solidFill>
          <a:ln w="0">
            <a:noFill/>
          </a:ln>
        </p:spPr>
        <p:txBody>
          <a:bodyPr/>
          <a:lstStyle/>
          <a:p>
            <a:endParaRPr lang="en-DE"/>
          </a:p>
        </p:txBody>
      </p:sp>
      <p:sp>
        <p:nvSpPr>
          <p:cNvPr id="5" name="Rectangle 4">
            <a:extLst>
              <a:ext uri="{FF2B5EF4-FFF2-40B4-BE49-F238E27FC236}">
                <a16:creationId xmlns:a16="http://schemas.microsoft.com/office/drawing/2014/main" id="{FA27FEB3-49DB-466B-AEF3-CCF0FC618A15}"/>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6A5EC28D-278C-4C18-8B30-2C014A3E7F85}"/>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defRPr sz="1125" b="0">
                <a:solidFill>
                  <a:srgbClr val="52616A"/>
                </a:solidFill>
                <a:latin typeface="Calibri"/>
                <a:ea typeface="Calibri"/>
                <a:cs typeface="Calibri"/>
              </a:defRPr>
            </a:pPr>
            <a:r>
              <a:rPr lang="de-DE" sz="1125" dirty="0">
                <a:solidFill>
                  <a:srgbClr val="52616A"/>
                </a:solidFill>
                <a:latin typeface="Calibri"/>
                <a:ea typeface="Calibri"/>
                <a:cs typeface="Calibri"/>
              </a:rPr>
              <a:t>DHBW Mosbach – Angewandte Informatik | IT-Sicherheit</a:t>
            </a:r>
          </a:p>
        </p:txBody>
      </p:sp>
      <p:sp>
        <p:nvSpPr>
          <p:cNvPr id="7" name="14">
            <a:extLst>
              <a:ext uri="{FF2B5EF4-FFF2-40B4-BE49-F238E27FC236}">
                <a16:creationId xmlns:a16="http://schemas.microsoft.com/office/drawing/2014/main" id="{F99A416A-EF85-456C-8E3C-7399569E10A2}"/>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sz="1275" b="0" dirty="0">
                <a:solidFill>
                  <a:srgbClr val="52616A"/>
                </a:solidFill>
                <a:latin typeface="Calibri"/>
                <a:ea typeface="Calibri"/>
                <a:cs typeface="Calibri"/>
              </a:rPr>
              <a:t>1</a:t>
            </a:r>
            <a:r>
              <a:rPr lang="en-US" sz="1275" b="0" dirty="0">
                <a:solidFill>
                  <a:srgbClr val="52616A"/>
                </a:solidFill>
                <a:latin typeface="Calibri"/>
                <a:ea typeface="Calibri"/>
                <a:cs typeface="Calibri"/>
              </a:rPr>
              <a:t>1</a:t>
            </a:r>
            <a:endParaRPr sz="1275" b="0" dirty="0">
              <a:solidFill>
                <a:srgbClr val="52616A"/>
              </a:solidFill>
              <a:latin typeface="Calibri"/>
              <a:ea typeface="Calibri"/>
              <a:cs typeface="Calibri"/>
            </a:endParaRPr>
          </a:p>
        </p:txBody>
      </p:sp>
      <p:sp>
        <p:nvSpPr>
          <p:cNvPr id="8" name="Ein gestarteter Scanner ist noch kein erfolgreicher Check">
            <a:extLst>
              <a:ext uri="{FF2B5EF4-FFF2-40B4-BE49-F238E27FC236}">
                <a16:creationId xmlns:a16="http://schemas.microsoft.com/office/drawing/2014/main" id="{02F99B40-24FD-400E-A222-426C9A02D36F}"/>
              </a:ext>
            </a:extLst>
          </p:cNvPr>
          <p:cNvSpPr>
            <a:spLocks noGrp="1"/>
          </p:cNvSpPr>
          <p:nvPr/>
        </p:nvSpPr>
        <p:spPr>
          <a:xfrm>
            <a:off x="666750" y="1828800"/>
            <a:ext cx="10858500" cy="419100"/>
          </a:xfrm>
          <a:prstGeom prst="rect">
            <a:avLst/>
          </a:prstGeom>
          <a:noFill/>
          <a:ln w="0">
            <a:noFill/>
          </a:ln>
        </p:spPr>
        <p:txBody>
          <a:bodyPr wrap="square" lIns="0" tIns="0" rIns="0" bIns="0" anchor="t">
            <a:noAutofit/>
          </a:bodyPr>
          <a:lstStyle>
            <a:defPPr algn="l">
              <a:defRPr sz="2175" b="1">
                <a:solidFill>
                  <a:srgbClr val="52616A"/>
                </a:solidFill>
                <a:latin typeface="Calibri"/>
                <a:ea typeface="Calibri"/>
                <a:cs typeface="Calibri"/>
              </a:defRPr>
            </a:defPPr>
          </a:lstStyle>
          <a:p>
            <a:pPr algn="l">
              <a:defRPr sz="2175" b="1">
                <a:solidFill>
                  <a:srgbClr val="52616A"/>
                </a:solidFill>
                <a:latin typeface="Calibri"/>
                <a:ea typeface="Calibri"/>
                <a:cs typeface="Calibri"/>
              </a:defRPr>
            </a:pPr>
            <a:r>
              <a:rPr sz="2175" b="1">
                <a:solidFill>
                  <a:srgbClr val="52616A"/>
                </a:solidFill>
                <a:latin typeface="Calibri"/>
                <a:ea typeface="Calibri"/>
                <a:cs typeface="Calibri"/>
              </a:rPr>
              <a:t>Ein gestarteter Scanner ist noch kein erfolgreicher Check</a:t>
            </a:r>
          </a:p>
        </p:txBody>
      </p:sp>
      <p:sp>
        <p:nvSpPr>
          <p:cNvPr id="9" name="Exit-Code, Checkstatus und Report müssen zusammenpassen.">
            <a:extLst>
              <a:ext uri="{FF2B5EF4-FFF2-40B4-BE49-F238E27FC236}">
                <a16:creationId xmlns:a16="http://schemas.microsoft.com/office/drawing/2014/main" id="{C2FE91A8-64D9-448D-8E52-869C68CABB57}"/>
              </a:ext>
            </a:extLst>
          </p:cNvPr>
          <p:cNvSpPr>
            <a:spLocks noGrp="1"/>
          </p:cNvSpPr>
          <p:nvPr/>
        </p:nvSpPr>
        <p:spPr>
          <a:xfrm>
            <a:off x="666750" y="2266950"/>
            <a:ext cx="10858500" cy="428625"/>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dirty="0">
                <a:solidFill>
                  <a:srgbClr val="263640"/>
                </a:solidFill>
                <a:latin typeface="Calibri"/>
                <a:ea typeface="Calibri"/>
                <a:cs typeface="Calibri"/>
              </a:rPr>
              <a:t>Exit-Code, </a:t>
            </a:r>
            <a:r>
              <a:rPr sz="1875" b="0" dirty="0" err="1">
                <a:solidFill>
                  <a:srgbClr val="263640"/>
                </a:solidFill>
                <a:latin typeface="Calibri"/>
                <a:ea typeface="Calibri"/>
                <a:cs typeface="Calibri"/>
              </a:rPr>
              <a:t>Checkstatus</a:t>
            </a:r>
            <a:r>
              <a:rPr sz="1875" b="0" dirty="0">
                <a:solidFill>
                  <a:srgbClr val="263640"/>
                </a:solidFill>
                <a:latin typeface="Calibri"/>
                <a:ea typeface="Calibri"/>
                <a:cs typeface="Calibri"/>
              </a:rPr>
              <a:t> und Report </a:t>
            </a:r>
            <a:r>
              <a:rPr sz="1875" b="0" dirty="0" err="1">
                <a:solidFill>
                  <a:srgbClr val="263640"/>
                </a:solidFill>
                <a:latin typeface="Calibri"/>
                <a:ea typeface="Calibri"/>
                <a:cs typeface="Calibri"/>
              </a:rPr>
              <a:t>müssen</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zusammenpassen</a:t>
            </a:r>
            <a:r>
              <a:rPr sz="1875" b="0" dirty="0">
                <a:solidFill>
                  <a:srgbClr val="263640"/>
                </a:solidFill>
                <a:latin typeface="Calibri"/>
                <a:ea typeface="Calibri"/>
                <a:cs typeface="Calibri"/>
              </a:rPr>
              <a:t>.</a:t>
            </a:r>
          </a:p>
        </p:txBody>
      </p:sp>
      <p:sp>
        <p:nvSpPr>
          <p:cNvPr id="10" name="Lauffähigkeit und Sicherheitsfreigabe sind getrennte Nachwei">
            <a:extLst>
              <a:ext uri="{FF2B5EF4-FFF2-40B4-BE49-F238E27FC236}">
                <a16:creationId xmlns:a16="http://schemas.microsoft.com/office/drawing/2014/main" id="{CE4AB84C-9F15-46E0-86E3-221755543DD3}"/>
              </a:ext>
            </a:extLst>
          </p:cNvPr>
          <p:cNvSpPr>
            <a:spLocks noGrp="1"/>
          </p:cNvSpPr>
          <p:nvPr/>
        </p:nvSpPr>
        <p:spPr>
          <a:xfrm>
            <a:off x="666750" y="2847975"/>
            <a:ext cx="10858500" cy="419100"/>
          </a:xfrm>
          <a:prstGeom prst="rect">
            <a:avLst/>
          </a:prstGeom>
          <a:noFill/>
          <a:ln w="0">
            <a:noFill/>
          </a:ln>
        </p:spPr>
        <p:txBody>
          <a:bodyPr wrap="square" lIns="0" tIns="0" rIns="0" bIns="0" anchor="t">
            <a:noAutofit/>
          </a:bodyPr>
          <a:lstStyle>
            <a:defPPr algn="l">
              <a:defRPr sz="2175" b="1">
                <a:solidFill>
                  <a:srgbClr val="52616A"/>
                </a:solidFill>
                <a:latin typeface="Calibri"/>
                <a:ea typeface="Calibri"/>
                <a:cs typeface="Calibri"/>
              </a:defRPr>
            </a:defPPr>
          </a:lstStyle>
          <a:p>
            <a:pPr algn="l">
              <a:defRPr sz="2175" b="1">
                <a:solidFill>
                  <a:srgbClr val="52616A"/>
                </a:solidFill>
                <a:latin typeface="Calibri"/>
                <a:ea typeface="Calibri"/>
                <a:cs typeface="Calibri"/>
              </a:defRPr>
            </a:pPr>
            <a:r>
              <a:rPr sz="2175" b="1" dirty="0" err="1">
                <a:solidFill>
                  <a:srgbClr val="52616A"/>
                </a:solidFill>
                <a:latin typeface="Calibri"/>
                <a:ea typeface="Calibri"/>
                <a:cs typeface="Calibri"/>
              </a:rPr>
              <a:t>Lauffähigkeit</a:t>
            </a:r>
            <a:r>
              <a:rPr sz="2175" b="1" dirty="0">
                <a:solidFill>
                  <a:srgbClr val="52616A"/>
                </a:solidFill>
                <a:latin typeface="Calibri"/>
                <a:ea typeface="Calibri"/>
                <a:cs typeface="Calibri"/>
              </a:rPr>
              <a:t> und </a:t>
            </a:r>
            <a:r>
              <a:rPr sz="2175" b="1" dirty="0" err="1">
                <a:solidFill>
                  <a:srgbClr val="52616A"/>
                </a:solidFill>
                <a:latin typeface="Calibri"/>
                <a:ea typeface="Calibri"/>
                <a:cs typeface="Calibri"/>
              </a:rPr>
              <a:t>Sicherheitsfreigabe</a:t>
            </a:r>
            <a:r>
              <a:rPr sz="2175" b="1" dirty="0">
                <a:solidFill>
                  <a:srgbClr val="52616A"/>
                </a:solidFill>
                <a:latin typeface="Calibri"/>
                <a:ea typeface="Calibri"/>
                <a:cs typeface="Calibri"/>
              </a:rPr>
              <a:t> </a:t>
            </a:r>
            <a:r>
              <a:rPr sz="2175" b="1" dirty="0" err="1">
                <a:solidFill>
                  <a:srgbClr val="52616A"/>
                </a:solidFill>
                <a:latin typeface="Calibri"/>
                <a:ea typeface="Calibri"/>
                <a:cs typeface="Calibri"/>
              </a:rPr>
              <a:t>sind</a:t>
            </a:r>
            <a:r>
              <a:rPr sz="2175" b="1" dirty="0">
                <a:solidFill>
                  <a:srgbClr val="52616A"/>
                </a:solidFill>
                <a:latin typeface="Calibri"/>
                <a:ea typeface="Calibri"/>
                <a:cs typeface="Calibri"/>
              </a:rPr>
              <a:t> </a:t>
            </a:r>
            <a:r>
              <a:rPr sz="2175" b="1" dirty="0" err="1">
                <a:solidFill>
                  <a:srgbClr val="52616A"/>
                </a:solidFill>
                <a:latin typeface="Calibri"/>
                <a:ea typeface="Calibri"/>
                <a:cs typeface="Calibri"/>
              </a:rPr>
              <a:t>getrennte</a:t>
            </a:r>
            <a:r>
              <a:rPr sz="2175" b="1" dirty="0">
                <a:solidFill>
                  <a:srgbClr val="52616A"/>
                </a:solidFill>
                <a:latin typeface="Calibri"/>
                <a:ea typeface="Calibri"/>
                <a:cs typeface="Calibri"/>
              </a:rPr>
              <a:t> </a:t>
            </a:r>
            <a:r>
              <a:rPr sz="2175" b="1" dirty="0" err="1">
                <a:solidFill>
                  <a:srgbClr val="52616A"/>
                </a:solidFill>
                <a:latin typeface="Calibri"/>
                <a:ea typeface="Calibri"/>
                <a:cs typeface="Calibri"/>
              </a:rPr>
              <a:t>Nachweise</a:t>
            </a:r>
            <a:endParaRPr sz="2175" b="1" dirty="0">
              <a:solidFill>
                <a:srgbClr val="52616A"/>
              </a:solidFill>
              <a:latin typeface="Calibri"/>
              <a:ea typeface="Calibri"/>
              <a:cs typeface="Calibri"/>
            </a:endParaRPr>
          </a:p>
        </p:txBody>
      </p:sp>
      <p:sp>
        <p:nvSpPr>
          <p:cNvPr id="11" name="Negativbeispiele müssen starten können und trotzdem am Gate ">
            <a:extLst>
              <a:ext uri="{FF2B5EF4-FFF2-40B4-BE49-F238E27FC236}">
                <a16:creationId xmlns:a16="http://schemas.microsoft.com/office/drawing/2014/main" id="{0FB44CCF-CD79-4019-BB27-833A2A35C356}"/>
              </a:ext>
            </a:extLst>
          </p:cNvPr>
          <p:cNvSpPr>
            <a:spLocks noGrp="1"/>
          </p:cNvSpPr>
          <p:nvPr/>
        </p:nvSpPr>
        <p:spPr>
          <a:xfrm>
            <a:off x="666750" y="3286125"/>
            <a:ext cx="10858500" cy="428625"/>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dirty="0" err="1">
                <a:solidFill>
                  <a:srgbClr val="263640"/>
                </a:solidFill>
                <a:latin typeface="Calibri"/>
                <a:ea typeface="Calibri"/>
                <a:cs typeface="Calibri"/>
              </a:rPr>
              <a:t>Negativbeispiele</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müssen</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starten</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können</a:t>
            </a:r>
            <a:r>
              <a:rPr sz="1875" b="0" dirty="0">
                <a:solidFill>
                  <a:srgbClr val="263640"/>
                </a:solidFill>
                <a:latin typeface="Calibri"/>
                <a:ea typeface="Calibri"/>
                <a:cs typeface="Calibri"/>
              </a:rPr>
              <a:t> und </a:t>
            </a:r>
            <a:r>
              <a:rPr sz="1875" b="0" dirty="0" err="1">
                <a:solidFill>
                  <a:srgbClr val="263640"/>
                </a:solidFill>
                <a:latin typeface="Calibri"/>
                <a:ea typeface="Calibri"/>
                <a:cs typeface="Calibri"/>
              </a:rPr>
              <a:t>trotzdem</a:t>
            </a:r>
            <a:r>
              <a:rPr sz="1875" b="0" dirty="0">
                <a:solidFill>
                  <a:srgbClr val="263640"/>
                </a:solidFill>
                <a:latin typeface="Calibri"/>
                <a:ea typeface="Calibri"/>
                <a:cs typeface="Calibri"/>
              </a:rPr>
              <a:t> am Gate </a:t>
            </a:r>
            <a:r>
              <a:rPr sz="1875" b="0" dirty="0" err="1">
                <a:solidFill>
                  <a:srgbClr val="263640"/>
                </a:solidFill>
                <a:latin typeface="Calibri"/>
                <a:ea typeface="Calibri"/>
                <a:cs typeface="Calibri"/>
              </a:rPr>
              <a:t>scheitern</a:t>
            </a:r>
            <a:r>
              <a:rPr sz="1875" b="0" dirty="0">
                <a:solidFill>
                  <a:srgbClr val="263640"/>
                </a:solidFill>
                <a:latin typeface="Calibri"/>
                <a:ea typeface="Calibri"/>
                <a:cs typeface="Calibri"/>
              </a:rPr>
              <a:t>.</a:t>
            </a:r>
          </a:p>
        </p:txBody>
      </p:sp>
      <p:sp>
        <p:nvSpPr>
          <p:cNvPr id="12" name="Der Anwendungskontext bestimmt die Bewertung">
            <a:extLst>
              <a:ext uri="{FF2B5EF4-FFF2-40B4-BE49-F238E27FC236}">
                <a16:creationId xmlns:a16="http://schemas.microsoft.com/office/drawing/2014/main" id="{429B36C2-28E5-487F-BD6B-3D0F027C2B7A}"/>
              </a:ext>
            </a:extLst>
          </p:cNvPr>
          <p:cNvSpPr>
            <a:spLocks noGrp="1"/>
          </p:cNvSpPr>
          <p:nvPr/>
        </p:nvSpPr>
        <p:spPr>
          <a:xfrm>
            <a:off x="666750" y="3867150"/>
            <a:ext cx="10858500" cy="419100"/>
          </a:xfrm>
          <a:prstGeom prst="rect">
            <a:avLst/>
          </a:prstGeom>
          <a:noFill/>
          <a:ln w="0">
            <a:noFill/>
          </a:ln>
        </p:spPr>
        <p:txBody>
          <a:bodyPr wrap="square" lIns="0" tIns="0" rIns="0" bIns="0" anchor="t">
            <a:noAutofit/>
          </a:bodyPr>
          <a:lstStyle>
            <a:defPPr algn="l">
              <a:defRPr sz="2175" b="1">
                <a:solidFill>
                  <a:srgbClr val="52616A"/>
                </a:solidFill>
                <a:latin typeface="Calibri"/>
                <a:ea typeface="Calibri"/>
                <a:cs typeface="Calibri"/>
              </a:defRPr>
            </a:defPPr>
          </a:lstStyle>
          <a:p>
            <a:pPr algn="l">
              <a:defRPr sz="2175" b="1">
                <a:solidFill>
                  <a:srgbClr val="52616A"/>
                </a:solidFill>
                <a:latin typeface="Calibri"/>
                <a:ea typeface="Calibri"/>
                <a:cs typeface="Calibri"/>
              </a:defRPr>
            </a:pPr>
            <a:r>
              <a:rPr sz="2175" b="1" dirty="0">
                <a:solidFill>
                  <a:srgbClr val="52616A"/>
                </a:solidFill>
                <a:latin typeface="Calibri"/>
                <a:ea typeface="Calibri"/>
                <a:cs typeface="Calibri"/>
              </a:rPr>
              <a:t>Der </a:t>
            </a:r>
            <a:r>
              <a:rPr sz="2175" b="1" dirty="0" err="1">
                <a:solidFill>
                  <a:srgbClr val="52616A"/>
                </a:solidFill>
                <a:latin typeface="Calibri"/>
                <a:ea typeface="Calibri"/>
                <a:cs typeface="Calibri"/>
              </a:rPr>
              <a:t>Anwendungskontext</a:t>
            </a:r>
            <a:r>
              <a:rPr sz="2175" b="1" dirty="0">
                <a:solidFill>
                  <a:srgbClr val="52616A"/>
                </a:solidFill>
                <a:latin typeface="Calibri"/>
                <a:ea typeface="Calibri"/>
                <a:cs typeface="Calibri"/>
              </a:rPr>
              <a:t> </a:t>
            </a:r>
            <a:r>
              <a:rPr sz="2175" b="1" dirty="0" err="1">
                <a:solidFill>
                  <a:srgbClr val="52616A"/>
                </a:solidFill>
                <a:latin typeface="Calibri"/>
                <a:ea typeface="Calibri"/>
                <a:cs typeface="Calibri"/>
              </a:rPr>
              <a:t>bestimmt</a:t>
            </a:r>
            <a:r>
              <a:rPr sz="2175" b="1" dirty="0">
                <a:solidFill>
                  <a:srgbClr val="52616A"/>
                </a:solidFill>
                <a:latin typeface="Calibri"/>
                <a:ea typeface="Calibri"/>
                <a:cs typeface="Calibri"/>
              </a:rPr>
              <a:t> die </a:t>
            </a:r>
            <a:r>
              <a:rPr sz="2175" b="1" dirty="0" err="1">
                <a:solidFill>
                  <a:srgbClr val="52616A"/>
                </a:solidFill>
                <a:latin typeface="Calibri"/>
                <a:ea typeface="Calibri"/>
                <a:cs typeface="Calibri"/>
              </a:rPr>
              <a:t>Bewertung</a:t>
            </a:r>
            <a:endParaRPr sz="2175" b="1" dirty="0">
              <a:solidFill>
                <a:srgbClr val="52616A"/>
              </a:solidFill>
              <a:latin typeface="Calibri"/>
              <a:ea typeface="Calibri"/>
              <a:cs typeface="Calibri"/>
            </a:endParaRPr>
          </a:p>
        </p:txBody>
      </p:sp>
      <p:sp>
        <p:nvSpPr>
          <p:cNvPr id="13" name="Paketmeldung, konkreter Codefehler und Fehlalarm sind unters">
            <a:extLst>
              <a:ext uri="{FF2B5EF4-FFF2-40B4-BE49-F238E27FC236}">
                <a16:creationId xmlns:a16="http://schemas.microsoft.com/office/drawing/2014/main" id="{65BD34DA-88C8-40A8-A9D0-875A6E398823}"/>
              </a:ext>
            </a:extLst>
          </p:cNvPr>
          <p:cNvSpPr>
            <a:spLocks noGrp="1"/>
          </p:cNvSpPr>
          <p:nvPr/>
        </p:nvSpPr>
        <p:spPr>
          <a:xfrm>
            <a:off x="666750" y="4305300"/>
            <a:ext cx="10858500" cy="428625"/>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dirty="0" err="1">
                <a:solidFill>
                  <a:srgbClr val="263640"/>
                </a:solidFill>
                <a:latin typeface="Calibri"/>
                <a:ea typeface="Calibri"/>
                <a:cs typeface="Calibri"/>
              </a:rPr>
              <a:t>Paketmeldung</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konkreter</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Codefehler</a:t>
            </a:r>
            <a:r>
              <a:rPr sz="1875" b="0" dirty="0">
                <a:solidFill>
                  <a:srgbClr val="263640"/>
                </a:solidFill>
                <a:latin typeface="Calibri"/>
                <a:ea typeface="Calibri"/>
                <a:cs typeface="Calibri"/>
              </a:rPr>
              <a:t> und </a:t>
            </a:r>
            <a:r>
              <a:rPr sz="1875" b="0" dirty="0" err="1">
                <a:solidFill>
                  <a:srgbClr val="263640"/>
                </a:solidFill>
                <a:latin typeface="Calibri"/>
                <a:ea typeface="Calibri"/>
                <a:cs typeface="Calibri"/>
              </a:rPr>
              <a:t>Fehlalarm</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sind</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unterschiedliche</a:t>
            </a:r>
            <a:r>
              <a:rPr sz="1875" b="0" dirty="0">
                <a:solidFill>
                  <a:srgbClr val="263640"/>
                </a:solidFill>
                <a:latin typeface="Calibri"/>
                <a:ea typeface="Calibri"/>
                <a:cs typeface="Calibri"/>
              </a:rPr>
              <a:t> </a:t>
            </a:r>
            <a:r>
              <a:rPr sz="1875" b="0" dirty="0" err="1">
                <a:solidFill>
                  <a:srgbClr val="263640"/>
                </a:solidFill>
                <a:latin typeface="Calibri"/>
                <a:ea typeface="Calibri"/>
                <a:cs typeface="Calibri"/>
              </a:rPr>
              <a:t>Fälle</a:t>
            </a:r>
            <a:r>
              <a:rPr sz="1875" b="0" dirty="0">
                <a:solidFill>
                  <a:srgbClr val="263640"/>
                </a:solidFill>
                <a:latin typeface="Calibri"/>
                <a:ea typeface="Calibri"/>
                <a:cs typeface="Calibri"/>
              </a:rPr>
              <a:t>.</a:t>
            </a:r>
          </a:p>
        </p:txBody>
      </p:sp>
      <p:sp>
        <p:nvSpPr>
          <p:cNvPr id="14" name="Reproduzierbarkeit braucht mehr als feste Toolversionen">
            <a:extLst>
              <a:ext uri="{FF2B5EF4-FFF2-40B4-BE49-F238E27FC236}">
                <a16:creationId xmlns:a16="http://schemas.microsoft.com/office/drawing/2014/main" id="{91EB59DC-8994-4038-A4E9-B8032F56D14D}"/>
              </a:ext>
            </a:extLst>
          </p:cNvPr>
          <p:cNvSpPr>
            <a:spLocks noGrp="1"/>
          </p:cNvSpPr>
          <p:nvPr/>
        </p:nvSpPr>
        <p:spPr>
          <a:xfrm>
            <a:off x="666750" y="4886325"/>
            <a:ext cx="10858500" cy="419100"/>
          </a:xfrm>
          <a:prstGeom prst="rect">
            <a:avLst/>
          </a:prstGeom>
          <a:noFill/>
          <a:ln w="0">
            <a:noFill/>
          </a:ln>
        </p:spPr>
        <p:txBody>
          <a:bodyPr wrap="square" lIns="0" tIns="0" rIns="0" bIns="0" anchor="t">
            <a:noAutofit/>
          </a:bodyPr>
          <a:lstStyle>
            <a:defPPr algn="l">
              <a:defRPr sz="2175" b="1">
                <a:solidFill>
                  <a:srgbClr val="52616A"/>
                </a:solidFill>
                <a:latin typeface="Calibri"/>
                <a:ea typeface="Calibri"/>
                <a:cs typeface="Calibri"/>
              </a:defRPr>
            </a:defPPr>
          </a:lstStyle>
          <a:p>
            <a:pPr algn="l">
              <a:defRPr sz="2175" b="1">
                <a:solidFill>
                  <a:srgbClr val="52616A"/>
                </a:solidFill>
                <a:latin typeface="Calibri"/>
                <a:ea typeface="Calibri"/>
                <a:cs typeface="Calibri"/>
              </a:defRPr>
            </a:pPr>
            <a:r>
              <a:rPr sz="2175" b="1" dirty="0" err="1">
                <a:solidFill>
                  <a:srgbClr val="52616A"/>
                </a:solidFill>
                <a:latin typeface="Calibri"/>
                <a:ea typeface="Calibri"/>
                <a:cs typeface="Calibri"/>
              </a:rPr>
              <a:t>Reproduzierbarkeit</a:t>
            </a:r>
            <a:r>
              <a:rPr sz="2175" b="1" dirty="0">
                <a:solidFill>
                  <a:srgbClr val="52616A"/>
                </a:solidFill>
                <a:latin typeface="Calibri"/>
                <a:ea typeface="Calibri"/>
                <a:cs typeface="Calibri"/>
              </a:rPr>
              <a:t> </a:t>
            </a:r>
            <a:r>
              <a:rPr sz="2175" b="1" dirty="0" err="1">
                <a:solidFill>
                  <a:srgbClr val="52616A"/>
                </a:solidFill>
                <a:latin typeface="Calibri"/>
                <a:ea typeface="Calibri"/>
                <a:cs typeface="Calibri"/>
              </a:rPr>
              <a:t>braucht</a:t>
            </a:r>
            <a:r>
              <a:rPr sz="2175" b="1" dirty="0">
                <a:solidFill>
                  <a:srgbClr val="52616A"/>
                </a:solidFill>
                <a:latin typeface="Calibri"/>
                <a:ea typeface="Calibri"/>
                <a:cs typeface="Calibri"/>
              </a:rPr>
              <a:t> </a:t>
            </a:r>
            <a:r>
              <a:rPr sz="2175" b="1" dirty="0" err="1">
                <a:solidFill>
                  <a:srgbClr val="52616A"/>
                </a:solidFill>
                <a:latin typeface="Calibri"/>
                <a:ea typeface="Calibri"/>
                <a:cs typeface="Calibri"/>
              </a:rPr>
              <a:t>mehr</a:t>
            </a:r>
            <a:r>
              <a:rPr sz="2175" b="1" dirty="0">
                <a:solidFill>
                  <a:srgbClr val="52616A"/>
                </a:solidFill>
                <a:latin typeface="Calibri"/>
                <a:ea typeface="Calibri"/>
                <a:cs typeface="Calibri"/>
              </a:rPr>
              <a:t> </a:t>
            </a:r>
            <a:r>
              <a:rPr sz="2175" b="1" dirty="0" err="1">
                <a:solidFill>
                  <a:srgbClr val="52616A"/>
                </a:solidFill>
                <a:latin typeface="Calibri"/>
                <a:ea typeface="Calibri"/>
                <a:cs typeface="Calibri"/>
              </a:rPr>
              <a:t>als</a:t>
            </a:r>
            <a:r>
              <a:rPr sz="2175" b="1" dirty="0">
                <a:solidFill>
                  <a:srgbClr val="52616A"/>
                </a:solidFill>
                <a:latin typeface="Calibri"/>
                <a:ea typeface="Calibri"/>
                <a:cs typeface="Calibri"/>
              </a:rPr>
              <a:t> </a:t>
            </a:r>
            <a:r>
              <a:rPr sz="2175" b="1" dirty="0" err="1">
                <a:solidFill>
                  <a:srgbClr val="52616A"/>
                </a:solidFill>
                <a:latin typeface="Calibri"/>
                <a:ea typeface="Calibri"/>
                <a:cs typeface="Calibri"/>
              </a:rPr>
              <a:t>feste</a:t>
            </a:r>
            <a:r>
              <a:rPr sz="2175" b="1" dirty="0">
                <a:solidFill>
                  <a:srgbClr val="52616A"/>
                </a:solidFill>
                <a:latin typeface="Calibri"/>
                <a:ea typeface="Calibri"/>
                <a:cs typeface="Calibri"/>
              </a:rPr>
              <a:t> </a:t>
            </a:r>
            <a:r>
              <a:rPr sz="2175" b="1" dirty="0" err="1">
                <a:solidFill>
                  <a:srgbClr val="52616A"/>
                </a:solidFill>
                <a:latin typeface="Calibri"/>
                <a:ea typeface="Calibri"/>
                <a:cs typeface="Calibri"/>
              </a:rPr>
              <a:t>Toolversionen</a:t>
            </a:r>
            <a:endParaRPr sz="2175" b="1" dirty="0">
              <a:solidFill>
                <a:srgbClr val="52616A"/>
              </a:solidFill>
              <a:latin typeface="Calibri"/>
              <a:ea typeface="Calibri"/>
              <a:cs typeface="Calibri"/>
            </a:endParaRPr>
          </a:p>
        </p:txBody>
      </p:sp>
      <p:sp>
        <p:nvSpPr>
          <p:cNvPr id="15" name="Regeln, Quellen, Images, CVE-Datenbank und Cache beeinflusse">
            <a:extLst>
              <a:ext uri="{FF2B5EF4-FFF2-40B4-BE49-F238E27FC236}">
                <a16:creationId xmlns:a16="http://schemas.microsoft.com/office/drawing/2014/main" id="{3E2668C7-ED55-4D4B-AAEF-C342684A6387}"/>
              </a:ext>
            </a:extLst>
          </p:cNvPr>
          <p:cNvSpPr>
            <a:spLocks noGrp="1"/>
          </p:cNvSpPr>
          <p:nvPr/>
        </p:nvSpPr>
        <p:spPr>
          <a:xfrm>
            <a:off x="666750" y="5324475"/>
            <a:ext cx="10858500" cy="428625"/>
          </a:xfrm>
          <a:prstGeom prst="rect">
            <a:avLst/>
          </a:prstGeom>
          <a:noFill/>
          <a:ln w="0">
            <a:noFill/>
          </a:ln>
        </p:spPr>
        <p:txBody>
          <a:bodyPr wrap="square" lIns="0" tIns="0" rIns="0" bIns="0" anchor="t">
            <a:noAutofit/>
          </a:bodyPr>
          <a:lstStyle>
            <a:defPPr algn="l">
              <a:defRPr sz="1875" b="0">
                <a:solidFill>
                  <a:srgbClr val="263640"/>
                </a:solidFill>
                <a:latin typeface="Calibri"/>
                <a:ea typeface="Calibri"/>
                <a:cs typeface="Calibri"/>
              </a:defRPr>
            </a:defPPr>
          </a:lstStyle>
          <a:p>
            <a:pPr algn="l">
              <a:defRPr sz="1875" b="0">
                <a:solidFill>
                  <a:srgbClr val="263640"/>
                </a:solidFill>
                <a:latin typeface="Calibri"/>
                <a:ea typeface="Calibri"/>
                <a:cs typeface="Calibri"/>
              </a:defRPr>
            </a:pPr>
            <a:r>
              <a:rPr sz="1875" b="0">
                <a:solidFill>
                  <a:srgbClr val="263640"/>
                </a:solidFill>
                <a:latin typeface="Calibri"/>
                <a:ea typeface="Calibri"/>
                <a:cs typeface="Calibri"/>
              </a:rPr>
              <a:t>Regeln, Quellen, Images, CVE-Datenbank und Cache beeinflussen das Ergebnis.</a:t>
            </a:r>
          </a:p>
        </p:txBody>
      </p:sp>
    </p:spTree>
    <p:extLst>
      <p:ext uri="{BB962C8B-B14F-4D97-AF65-F5344CB8AC3E}">
        <p14:creationId xmlns:p14="http://schemas.microsoft.com/office/powerpoint/2010/main" val="1297157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2721E-2169-4BA5-59E9-661D29AEB82C}"/>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4E49E042-68DD-3E6D-82B5-225D76C58577}"/>
              </a:ext>
            </a:extLst>
          </p:cNvPr>
          <p:cNvPicPr>
            <a:picLocks noChangeAspect="1"/>
          </p:cNvPicPr>
          <p:nvPr/>
        </p:nvPicPr>
        <p:blipFill>
          <a:blip r:embed="rId3"/>
          <a:stretch/>
        </p:blipFill>
        <p:spPr>
          <a:xfrm>
            <a:off x="10325100" y="228600"/>
            <a:ext cx="1295400" cy="693039"/>
          </a:xfrm>
          <a:prstGeom prst="rect">
            <a:avLst/>
          </a:prstGeom>
        </p:spPr>
      </p:pic>
      <p:sp>
        <p:nvSpPr>
          <p:cNvPr id="2" name="Demo: Code, Finding und Gateentscheidung">
            <a:extLst>
              <a:ext uri="{FF2B5EF4-FFF2-40B4-BE49-F238E27FC236}">
                <a16:creationId xmlns:a16="http://schemas.microsoft.com/office/drawing/2014/main" id="{E61150AE-64D9-9B7E-C8D6-217D6438FFCE}"/>
              </a:ext>
            </a:extLst>
          </p:cNvPr>
          <p:cNvSpPr>
            <a:spLocks noGrp="1"/>
          </p:cNvSpPr>
          <p:nvPr/>
        </p:nvSpPr>
        <p:spPr>
          <a:xfrm>
            <a:off x="3216275" y="781050"/>
            <a:ext cx="5759450" cy="857250"/>
          </a:xfrm>
          <a:prstGeom prst="rect">
            <a:avLst/>
          </a:prstGeom>
          <a:noFill/>
          <a:ln w="0">
            <a:noFill/>
          </a:ln>
        </p:spPr>
        <p:txBody>
          <a:bodyPr wrap="square" lIns="0" tIns="0" rIns="0" bIns="0" anchor="t">
            <a:noAutofit/>
          </a:bodyPr>
          <a:lstStyle>
            <a:defPPr algn="l">
              <a:defRPr sz="3150" b="0">
                <a:solidFill>
                  <a:srgbClr val="52616A"/>
                </a:solidFill>
                <a:latin typeface="Calibri"/>
                <a:ea typeface="Calibri"/>
                <a:cs typeface="Calibri"/>
              </a:defRPr>
            </a:defPPr>
          </a:lstStyle>
          <a:p>
            <a:pPr algn="ctr">
              <a:defRPr sz="3150" b="0">
                <a:solidFill>
                  <a:srgbClr val="52616A"/>
                </a:solidFill>
                <a:latin typeface="Calibri"/>
                <a:ea typeface="Calibri"/>
                <a:cs typeface="Calibri"/>
              </a:defRPr>
            </a:pPr>
            <a:r>
              <a:rPr lang="en-US" sz="4800" b="0" dirty="0" err="1">
                <a:solidFill>
                  <a:srgbClr val="52616A"/>
                </a:solidFill>
                <a:latin typeface="Calibri"/>
                <a:ea typeface="Calibri"/>
                <a:cs typeface="Calibri"/>
              </a:rPr>
              <a:t>Vielen</a:t>
            </a:r>
            <a:r>
              <a:rPr lang="en-US" sz="4800" b="0" dirty="0">
                <a:solidFill>
                  <a:srgbClr val="52616A"/>
                </a:solidFill>
                <a:latin typeface="Calibri"/>
                <a:ea typeface="Calibri"/>
                <a:cs typeface="Calibri"/>
              </a:rPr>
              <a:t> Dank für </a:t>
            </a:r>
            <a:r>
              <a:rPr lang="en-US" sz="4800" b="0" dirty="0" err="1">
                <a:solidFill>
                  <a:srgbClr val="52616A"/>
                </a:solidFill>
                <a:latin typeface="Calibri"/>
                <a:ea typeface="Calibri"/>
                <a:cs typeface="Calibri"/>
              </a:rPr>
              <a:t>euere</a:t>
            </a:r>
            <a:r>
              <a:rPr lang="en-US" sz="4800" b="0" dirty="0">
                <a:solidFill>
                  <a:srgbClr val="52616A"/>
                </a:solidFill>
                <a:latin typeface="Calibri"/>
                <a:ea typeface="Calibri"/>
                <a:cs typeface="Calibri"/>
              </a:rPr>
              <a:t> </a:t>
            </a:r>
            <a:r>
              <a:rPr lang="en-US" sz="4800" b="0" dirty="0" err="1">
                <a:solidFill>
                  <a:srgbClr val="52616A"/>
                </a:solidFill>
                <a:latin typeface="Calibri"/>
                <a:ea typeface="Calibri"/>
                <a:cs typeface="Calibri"/>
              </a:rPr>
              <a:t>Aufmerksamkeit</a:t>
            </a:r>
            <a:r>
              <a:rPr lang="en-US" sz="4800" b="0" dirty="0">
                <a:solidFill>
                  <a:srgbClr val="52616A"/>
                </a:solidFill>
                <a:latin typeface="Calibri"/>
                <a:ea typeface="Calibri"/>
                <a:cs typeface="Calibri"/>
              </a:rPr>
              <a:t>!</a:t>
            </a:r>
            <a:endParaRPr sz="4800" b="0" dirty="0">
              <a:solidFill>
                <a:srgbClr val="52616A"/>
              </a:solidFill>
              <a:latin typeface="Calibri"/>
              <a:ea typeface="Calibri"/>
              <a:cs typeface="Calibri"/>
            </a:endParaRPr>
          </a:p>
        </p:txBody>
      </p:sp>
      <p:sp>
        <p:nvSpPr>
          <p:cNvPr id="4" name="Befehle im Verzeichnis devsecops-pipeline; vollständige Nach">
            <a:extLst>
              <a:ext uri="{FF2B5EF4-FFF2-40B4-BE49-F238E27FC236}">
                <a16:creationId xmlns:a16="http://schemas.microsoft.com/office/drawing/2014/main" id="{BB79DFB8-4ACD-ACC0-746D-AFC5FC996A34}"/>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endParaRPr sz="1200" b="0" dirty="0">
              <a:solidFill>
                <a:srgbClr val="52616A"/>
              </a:solidFill>
              <a:latin typeface="Calibri"/>
              <a:ea typeface="Calibri"/>
              <a:cs typeface="Calibri"/>
            </a:endParaRPr>
          </a:p>
        </p:txBody>
      </p:sp>
      <p:sp>
        <p:nvSpPr>
          <p:cNvPr id="5" name="Rectangle 4">
            <a:extLst>
              <a:ext uri="{FF2B5EF4-FFF2-40B4-BE49-F238E27FC236}">
                <a16:creationId xmlns:a16="http://schemas.microsoft.com/office/drawing/2014/main" id="{F8D39DCD-BA8E-5259-6407-E8585ABD322D}"/>
              </a:ext>
            </a:extLst>
          </p:cNvPr>
          <p:cNvSpPr>
            <a:spLocks noGrp="1"/>
          </p:cNvSpPr>
          <p:nvPr/>
        </p:nvSpPr>
        <p:spPr>
          <a:xfrm>
            <a:off x="666750" y="6448425"/>
            <a:ext cx="10858500" cy="9525"/>
          </a:xfrm>
          <a:prstGeom prst="rect">
            <a:avLst/>
          </a:prstGeom>
          <a:solidFill>
            <a:srgbClr val="E2001A"/>
          </a:solidFill>
          <a:ln w="0">
            <a:noFill/>
          </a:ln>
        </p:spPr>
        <p:txBody>
          <a:bodyPr/>
          <a:lstStyle/>
          <a:p>
            <a:endParaRPr lang="en-DE"/>
          </a:p>
        </p:txBody>
      </p:sp>
      <p:sp>
        <p:nvSpPr>
          <p:cNvPr id="6" name="IT-Sicherheit bei Herrn Graupner">
            <a:extLst>
              <a:ext uri="{FF2B5EF4-FFF2-40B4-BE49-F238E27FC236}">
                <a16:creationId xmlns:a16="http://schemas.microsoft.com/office/drawing/2014/main" id="{40EAF53A-9158-5919-B72A-E7DBD719650D}"/>
              </a:ext>
            </a:extLst>
          </p:cNvPr>
          <p:cNvSpPr>
            <a:spLocks noGrp="1"/>
          </p:cNvSpPr>
          <p:nvPr/>
        </p:nvSpPr>
        <p:spPr>
          <a:xfrm>
            <a:off x="666750" y="6534150"/>
            <a:ext cx="7143750" cy="209550"/>
          </a:xfrm>
          <a:prstGeom prst="rect">
            <a:avLst/>
          </a:prstGeom>
          <a:noFill/>
          <a:ln w="0">
            <a:noFill/>
          </a:ln>
        </p:spPr>
        <p:txBody>
          <a:bodyPr wrap="square" lIns="0" tIns="0" rIns="0" bIns="0" anchor="t">
            <a:noAutofit/>
          </a:bodyPr>
          <a:lstStyle>
            <a:defPPr algn="l">
              <a:defRPr sz="1125" b="0">
                <a:solidFill>
                  <a:srgbClr val="52616A"/>
                </a:solidFill>
                <a:latin typeface="Calibri"/>
                <a:ea typeface="Calibri"/>
                <a:cs typeface="Calibri"/>
              </a:defRPr>
            </a:defPPr>
          </a:lstStyle>
          <a:p>
            <a:pPr>
              <a:defRPr sz="1125" b="0">
                <a:solidFill>
                  <a:srgbClr val="52616A"/>
                </a:solidFill>
                <a:latin typeface="Calibri"/>
                <a:ea typeface="Calibri"/>
                <a:cs typeface="Calibri"/>
              </a:defRPr>
            </a:pPr>
            <a:r>
              <a:rPr lang="de-DE" sz="1125" dirty="0">
                <a:solidFill>
                  <a:srgbClr val="52616A"/>
                </a:solidFill>
                <a:latin typeface="Calibri"/>
                <a:ea typeface="Calibri"/>
                <a:cs typeface="Calibri"/>
              </a:rPr>
              <a:t>DHBW Mosbach – Angewandte Informatik | IT-Sicherheit</a:t>
            </a:r>
          </a:p>
        </p:txBody>
      </p:sp>
      <p:sp>
        <p:nvSpPr>
          <p:cNvPr id="7" name="13">
            <a:extLst>
              <a:ext uri="{FF2B5EF4-FFF2-40B4-BE49-F238E27FC236}">
                <a16:creationId xmlns:a16="http://schemas.microsoft.com/office/drawing/2014/main" id="{3D5A29E8-79E6-BA2F-2A5A-7CD333C9E499}"/>
              </a:ext>
            </a:extLst>
          </p:cNvPr>
          <p:cNvSpPr>
            <a:spLocks noGrp="1"/>
          </p:cNvSpPr>
          <p:nvPr/>
        </p:nvSpPr>
        <p:spPr>
          <a:xfrm>
            <a:off x="10477500" y="6515100"/>
            <a:ext cx="1047750" cy="228600"/>
          </a:xfrm>
          <a:prstGeom prst="rect">
            <a:avLst/>
          </a:prstGeom>
          <a:noFill/>
          <a:ln w="0">
            <a:noFill/>
          </a:ln>
        </p:spPr>
        <p:txBody>
          <a:bodyPr wrap="square" lIns="0" tIns="0" rIns="0" bIns="0" anchor="t">
            <a:noAutofit/>
          </a:bodyPr>
          <a:lstStyle>
            <a:defPPr algn="r">
              <a:defRPr sz="1275" b="0">
                <a:solidFill>
                  <a:srgbClr val="52616A"/>
                </a:solidFill>
                <a:latin typeface="Calibri"/>
                <a:ea typeface="Calibri"/>
                <a:cs typeface="Calibri"/>
              </a:defRPr>
            </a:defPPr>
          </a:lstStyle>
          <a:p>
            <a:pPr algn="r">
              <a:defRPr sz="1275" b="0">
                <a:solidFill>
                  <a:srgbClr val="52616A"/>
                </a:solidFill>
                <a:latin typeface="Calibri"/>
                <a:ea typeface="Calibri"/>
                <a:cs typeface="Calibri"/>
              </a:defRPr>
            </a:pPr>
            <a:r>
              <a:rPr lang="en-US" sz="1275" dirty="0">
                <a:solidFill>
                  <a:srgbClr val="52616A"/>
                </a:solidFill>
                <a:latin typeface="Calibri"/>
                <a:ea typeface="Calibri"/>
                <a:cs typeface="Calibri"/>
              </a:rPr>
              <a:t>12</a:t>
            </a:r>
            <a:endParaRPr sz="1275" b="0" dirty="0">
              <a:solidFill>
                <a:srgbClr val="52616A"/>
              </a:solidFill>
              <a:latin typeface="Calibri"/>
              <a:ea typeface="Calibri"/>
              <a:cs typeface="Calibri"/>
            </a:endParaRPr>
          </a:p>
        </p:txBody>
      </p:sp>
      <p:sp>
        <p:nvSpPr>
          <p:cNvPr id="9" name="2  Dateidienst unsicher und bereinigt vergleichen">
            <a:extLst>
              <a:ext uri="{FF2B5EF4-FFF2-40B4-BE49-F238E27FC236}">
                <a16:creationId xmlns:a16="http://schemas.microsoft.com/office/drawing/2014/main" id="{51559DC6-80DD-AA05-9F0B-D63CEFBD6466}"/>
              </a:ext>
            </a:extLst>
          </p:cNvPr>
          <p:cNvSpPr>
            <a:spLocks noGrp="1"/>
          </p:cNvSpPr>
          <p:nvPr/>
        </p:nvSpPr>
        <p:spPr>
          <a:xfrm>
            <a:off x="666750" y="2543175"/>
            <a:ext cx="10858500" cy="457200"/>
          </a:xfrm>
          <a:prstGeom prst="rect">
            <a:avLst/>
          </a:prstGeom>
          <a:noFill/>
          <a:ln w="0">
            <a:noFill/>
          </a:ln>
        </p:spPr>
        <p:txBody>
          <a:bodyPr wrap="square" lIns="0" tIns="0" rIns="0" bIns="0" anchor="t">
            <a:noAutofit/>
          </a:bodyPr>
          <a:lstStyle>
            <a:defPPr algn="l">
              <a:defRPr sz="2250" b="1">
                <a:solidFill>
                  <a:srgbClr val="52616A"/>
                </a:solidFill>
                <a:latin typeface="Calibri"/>
                <a:ea typeface="Calibri"/>
                <a:cs typeface="Calibri"/>
              </a:defRPr>
            </a:defPPr>
          </a:lstStyle>
          <a:p>
            <a:pPr algn="l">
              <a:defRPr sz="2250" b="1">
                <a:solidFill>
                  <a:srgbClr val="52616A"/>
                </a:solidFill>
                <a:latin typeface="Calibri"/>
                <a:ea typeface="Calibri"/>
                <a:cs typeface="Calibri"/>
              </a:defRPr>
            </a:pPr>
            <a:endParaRPr sz="2250" b="1" dirty="0">
              <a:solidFill>
                <a:srgbClr val="52616A"/>
              </a:solidFill>
              <a:latin typeface="Calibri"/>
              <a:ea typeface="Calibri"/>
              <a:cs typeface="Calibri"/>
            </a:endParaRPr>
          </a:p>
        </p:txBody>
      </p:sp>
      <p:sp>
        <p:nvSpPr>
          <p:cNvPr id="10" name="python scripts/pipeline.py workloads/03-container-service/vu">
            <a:extLst>
              <a:ext uri="{FF2B5EF4-FFF2-40B4-BE49-F238E27FC236}">
                <a16:creationId xmlns:a16="http://schemas.microsoft.com/office/drawing/2014/main" id="{82C39398-7C71-ECA4-7F98-7C8E4FA86A09}"/>
              </a:ext>
            </a:extLst>
          </p:cNvPr>
          <p:cNvSpPr>
            <a:spLocks noGrp="1"/>
          </p:cNvSpPr>
          <p:nvPr/>
        </p:nvSpPr>
        <p:spPr>
          <a:xfrm>
            <a:off x="666750" y="3200400"/>
            <a:ext cx="10858500" cy="857250"/>
          </a:xfrm>
          <a:prstGeom prst="rect">
            <a:avLst/>
          </a:prstGeom>
          <a:noFill/>
          <a:ln w="0">
            <a:noFill/>
          </a:ln>
        </p:spPr>
        <p:txBody>
          <a:bodyPr wrap="square" lIns="0" tIns="0" rIns="0" bIns="0" anchor="t">
            <a:noAutofit/>
          </a:bodyPr>
          <a:lstStyle>
            <a:defPPr algn="l">
              <a:defRPr sz="1725" b="0">
                <a:solidFill>
                  <a:srgbClr val="263640"/>
                </a:solidFill>
                <a:latin typeface="Consolas"/>
                <a:ea typeface="Consolas"/>
                <a:cs typeface="Consolas"/>
              </a:defRPr>
            </a:defPPr>
          </a:lstStyle>
          <a:p>
            <a:pPr algn="l">
              <a:defRPr sz="1725" b="0">
                <a:solidFill>
                  <a:srgbClr val="263640"/>
                </a:solidFill>
                <a:latin typeface="Consolas"/>
                <a:ea typeface="Consolas"/>
                <a:cs typeface="Consolas"/>
              </a:defRPr>
            </a:pPr>
            <a:endParaRPr sz="1725" b="0" dirty="0">
              <a:solidFill>
                <a:srgbClr val="263640"/>
              </a:solidFill>
              <a:latin typeface="Consolas"/>
              <a:ea typeface="Consolas"/>
              <a:cs typeface="Consolas"/>
            </a:endParaRPr>
          </a:p>
        </p:txBody>
      </p:sp>
      <p:sp>
        <p:nvSpPr>
          <p:cNvPr id="11" name="3  Bericht und Gate-Datei öffnen">
            <a:extLst>
              <a:ext uri="{FF2B5EF4-FFF2-40B4-BE49-F238E27FC236}">
                <a16:creationId xmlns:a16="http://schemas.microsoft.com/office/drawing/2014/main" id="{0E75D35E-3BB3-B3B9-AC59-B83B189900C4}"/>
              </a:ext>
            </a:extLst>
          </p:cNvPr>
          <p:cNvSpPr>
            <a:spLocks noGrp="1"/>
          </p:cNvSpPr>
          <p:nvPr/>
        </p:nvSpPr>
        <p:spPr>
          <a:xfrm>
            <a:off x="666750" y="4343400"/>
            <a:ext cx="10858500" cy="457200"/>
          </a:xfrm>
          <a:prstGeom prst="rect">
            <a:avLst/>
          </a:prstGeom>
          <a:noFill/>
          <a:ln w="0">
            <a:noFill/>
          </a:ln>
        </p:spPr>
        <p:txBody>
          <a:bodyPr wrap="square" lIns="0" tIns="0" rIns="0" bIns="0" anchor="t">
            <a:noAutofit/>
          </a:bodyPr>
          <a:lstStyle>
            <a:defPPr algn="l">
              <a:defRPr sz="2250" b="1">
                <a:solidFill>
                  <a:srgbClr val="52616A"/>
                </a:solidFill>
                <a:latin typeface="Calibri"/>
                <a:ea typeface="Calibri"/>
                <a:cs typeface="Calibri"/>
              </a:defRPr>
            </a:defPPr>
          </a:lstStyle>
          <a:p>
            <a:pPr algn="l">
              <a:defRPr sz="2250" b="1">
                <a:solidFill>
                  <a:srgbClr val="52616A"/>
                </a:solidFill>
                <a:latin typeface="Calibri"/>
                <a:ea typeface="Calibri"/>
                <a:cs typeface="Calibri"/>
              </a:defRPr>
            </a:pPr>
            <a:endParaRPr sz="2250" b="1" dirty="0">
              <a:solidFill>
                <a:srgbClr val="52616A"/>
              </a:solidFill>
              <a:latin typeface="Calibri"/>
              <a:ea typeface="Calibri"/>
              <a:cs typeface="Calibri"/>
            </a:endParaRPr>
          </a:p>
        </p:txBody>
      </p:sp>
      <p:sp>
        <p:nvSpPr>
          <p:cNvPr id="12" name="run.json erklärt den Ablauf, raw/ zeigt den Toolbefund, gate">
            <a:extLst>
              <a:ext uri="{FF2B5EF4-FFF2-40B4-BE49-F238E27FC236}">
                <a16:creationId xmlns:a16="http://schemas.microsoft.com/office/drawing/2014/main" id="{94BE4450-64D5-4D48-440C-29F006A0D725}"/>
              </a:ext>
            </a:extLst>
          </p:cNvPr>
          <p:cNvSpPr>
            <a:spLocks noGrp="1"/>
          </p:cNvSpPr>
          <p:nvPr/>
        </p:nvSpPr>
        <p:spPr>
          <a:xfrm>
            <a:off x="666750" y="4962525"/>
            <a:ext cx="10858500" cy="685800"/>
          </a:xfrm>
          <a:prstGeom prst="rect">
            <a:avLst/>
          </a:prstGeom>
          <a:noFill/>
          <a:ln w="0">
            <a:noFill/>
          </a:ln>
        </p:spPr>
        <p:txBody>
          <a:bodyPr wrap="square" lIns="0" tIns="0" rIns="0" bIns="0" anchor="t">
            <a:noAutofit/>
          </a:bodyPr>
          <a:lstStyle>
            <a:defPPr algn="l">
              <a:defRPr sz="1950" b="0">
                <a:solidFill>
                  <a:srgbClr val="263640"/>
                </a:solidFill>
                <a:latin typeface="Calibri"/>
                <a:ea typeface="Calibri"/>
                <a:cs typeface="Calibri"/>
              </a:defRPr>
            </a:defPPr>
          </a:lstStyle>
          <a:p>
            <a:pPr algn="l">
              <a:defRPr sz="1950" b="0">
                <a:solidFill>
                  <a:srgbClr val="263640"/>
                </a:solidFill>
                <a:latin typeface="Calibri"/>
                <a:ea typeface="Calibri"/>
                <a:cs typeface="Calibri"/>
              </a:defRPr>
            </a:pPr>
            <a:endParaRPr sz="1950" b="0" dirty="0">
              <a:solidFill>
                <a:srgbClr val="263640"/>
              </a:solidFill>
              <a:latin typeface="Calibri"/>
              <a:ea typeface="Calibri"/>
              <a:cs typeface="Calibri"/>
            </a:endParaRPr>
          </a:p>
        </p:txBody>
      </p:sp>
      <p:sp>
        <p:nvSpPr>
          <p:cNvPr id="13" name="Demo-Job grün: vulnerable wird abgelehnt, fixed besteht die ">
            <a:extLst>
              <a:ext uri="{FF2B5EF4-FFF2-40B4-BE49-F238E27FC236}">
                <a16:creationId xmlns:a16="http://schemas.microsoft.com/office/drawing/2014/main" id="{EAA0B140-B0AB-FF4E-F50E-1E5915F211FB}"/>
              </a:ext>
            </a:extLst>
          </p:cNvPr>
          <p:cNvSpPr>
            <a:spLocks noGrp="1"/>
          </p:cNvSpPr>
          <p:nvPr/>
        </p:nvSpPr>
        <p:spPr>
          <a:xfrm>
            <a:off x="666750" y="5619750"/>
            <a:ext cx="10858500" cy="361950"/>
          </a:xfrm>
          <a:prstGeom prst="rect">
            <a:avLst/>
          </a:prstGeom>
          <a:noFill/>
          <a:ln w="0">
            <a:noFill/>
          </a:ln>
        </p:spPr>
        <p:txBody>
          <a:bodyPr wrap="square" lIns="0" tIns="0" rIns="0" bIns="0" anchor="t">
            <a:noAutofit/>
          </a:bodyPr>
          <a:lstStyle>
            <a:defPPr algn="l">
              <a:defRPr sz="1875" b="1">
                <a:solidFill>
                  <a:srgbClr val="E2001A"/>
                </a:solidFill>
                <a:latin typeface="Calibri"/>
                <a:ea typeface="Calibri"/>
                <a:cs typeface="Calibri"/>
              </a:defRPr>
            </a:defPPr>
          </a:lstStyle>
          <a:p>
            <a:pPr algn="l">
              <a:defRPr sz="1875" b="1">
                <a:solidFill>
                  <a:srgbClr val="E2001A"/>
                </a:solidFill>
                <a:latin typeface="Calibri"/>
                <a:ea typeface="Calibri"/>
                <a:cs typeface="Calibri"/>
              </a:defRPr>
            </a:pPr>
            <a:endParaRPr sz="1875" b="1" dirty="0">
              <a:solidFill>
                <a:srgbClr val="E2001A"/>
              </a:solidFill>
              <a:latin typeface="Calibri"/>
              <a:ea typeface="Calibri"/>
              <a:cs typeface="Calibri"/>
            </a:endParaRPr>
          </a:p>
        </p:txBody>
      </p:sp>
      <p:sp>
        <p:nvSpPr>
          <p:cNvPr id="17" name="Skript S. 32–33, 37–39 und 46 (PDF-Seiten 33–34, 38–40 und 4">
            <a:extLst>
              <a:ext uri="{FF2B5EF4-FFF2-40B4-BE49-F238E27FC236}">
                <a16:creationId xmlns:a16="http://schemas.microsoft.com/office/drawing/2014/main" id="{C0888FB0-4689-ACA6-C09F-703C2DF88EFB}"/>
              </a:ext>
            </a:extLst>
          </p:cNvPr>
          <p:cNvSpPr>
            <a:spLocks noGrp="1"/>
          </p:cNvSpPr>
          <p:nvPr/>
        </p:nvSpPr>
        <p:spPr>
          <a:xfrm>
            <a:off x="666750" y="6096000"/>
            <a:ext cx="10572750" cy="247650"/>
          </a:xfrm>
          <a:prstGeom prst="rect">
            <a:avLst/>
          </a:prstGeom>
          <a:noFill/>
          <a:ln w="0">
            <a:noFill/>
          </a:ln>
        </p:spPr>
        <p:txBody>
          <a:bodyPr wrap="square" lIns="0" tIns="0" rIns="0" bIns="0" anchor="t">
            <a:noAutofit/>
          </a:bodyPr>
          <a:lstStyle>
            <a:defPPr algn="l">
              <a:defRPr sz="1200" b="0">
                <a:solidFill>
                  <a:srgbClr val="52616A"/>
                </a:solidFill>
                <a:latin typeface="Calibri"/>
                <a:ea typeface="Calibri"/>
                <a:cs typeface="Calibri"/>
              </a:defRPr>
            </a:defPPr>
          </a:lstStyle>
          <a:p>
            <a:pPr algn="l">
              <a:defRPr sz="1200" b="0">
                <a:solidFill>
                  <a:srgbClr val="52616A"/>
                </a:solidFill>
                <a:latin typeface="Calibri"/>
                <a:ea typeface="Calibri"/>
                <a:cs typeface="Calibri"/>
              </a:defRPr>
            </a:pPr>
            <a:r>
              <a:rPr sz="1200" b="0" dirty="0" err="1">
                <a:solidFill>
                  <a:srgbClr val="52616A"/>
                </a:solidFill>
                <a:latin typeface="Calibri"/>
                <a:ea typeface="Calibri"/>
                <a:cs typeface="Calibri"/>
              </a:rPr>
              <a:t>Skript</a:t>
            </a:r>
            <a:r>
              <a:rPr sz="1200" b="0" dirty="0">
                <a:solidFill>
                  <a:srgbClr val="52616A"/>
                </a:solidFill>
                <a:latin typeface="Calibri"/>
                <a:ea typeface="Calibri"/>
                <a:cs typeface="Calibri"/>
              </a:rPr>
              <a:t> S. </a:t>
            </a:r>
            <a:r>
              <a:rPr lang="en-US" sz="1200" b="0" dirty="0">
                <a:solidFill>
                  <a:srgbClr val="52616A"/>
                </a:solidFill>
                <a:latin typeface="Calibri"/>
                <a:ea typeface="Calibri"/>
                <a:cs typeface="Calibri"/>
              </a:rPr>
              <a:t>36</a:t>
            </a:r>
            <a:endParaRPr sz="1200" b="0" dirty="0">
              <a:solidFill>
                <a:srgbClr val="52616A"/>
              </a:solidFill>
              <a:latin typeface="Calibri"/>
              <a:ea typeface="Calibri"/>
              <a:cs typeface="Calibri"/>
            </a:endParaRPr>
          </a:p>
        </p:txBody>
      </p:sp>
      <p:pic>
        <p:nvPicPr>
          <p:cNvPr id="8" name="Picture 7">
            <a:extLst>
              <a:ext uri="{FF2B5EF4-FFF2-40B4-BE49-F238E27FC236}">
                <a16:creationId xmlns:a16="http://schemas.microsoft.com/office/drawing/2014/main" id="{2B344D7E-DD80-BA8F-A5F2-4EE250083C2E}"/>
              </a:ext>
            </a:extLst>
          </p:cNvPr>
          <p:cNvPicPr>
            <a:picLocks noChangeAspect="1"/>
          </p:cNvPicPr>
          <p:nvPr/>
        </p:nvPicPr>
        <p:blipFill>
          <a:blip r:embed="rId4"/>
          <a:srcRect t="1000"/>
          <a:stretch>
            <a:fillRect/>
          </a:stretch>
        </p:blipFill>
        <p:spPr>
          <a:xfrm>
            <a:off x="2720975" y="2295525"/>
            <a:ext cx="6750050" cy="3516017"/>
          </a:xfrm>
          <a:prstGeom prst="rect">
            <a:avLst/>
          </a:prstGeom>
        </p:spPr>
      </p:pic>
    </p:spTree>
    <p:extLst>
      <p:ext uri="{BB962C8B-B14F-4D97-AF65-F5344CB8AC3E}">
        <p14:creationId xmlns:p14="http://schemas.microsoft.com/office/powerpoint/2010/main" val="115400366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1446</Words>
  <Application>Microsoft Office PowerPoint</Application>
  <DocSecurity>0</DocSecurity>
  <PresentationFormat>Widescreen</PresentationFormat>
  <Paragraphs>247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Calibri</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Maxim Krüger</cp:lastModifiedBy>
  <cp:revision>3</cp:revision>
  <dcterms:created xsi:type="dcterms:W3CDTF">2026-10-21T12:32:51Z</dcterms:created>
  <dcterms:modified xsi:type="dcterms:W3CDTF">2026-10-23T10:33:57Z</dcterms:modified>
</cp:coreProperties>
</file>