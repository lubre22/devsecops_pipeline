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8" r:id="rId6"/>
    <p:sldId id="272" r:id="rId7"/>
    <p:sldId id="264" r:id="rId8"/>
    <p:sldId id="265" r:id="rId9"/>
    <p:sldId id="266" r:id="rId10"/>
    <p:sldId id="267" r:id="rId11"/>
    <p:sldId id="269" r:id="rId12"/>
    <p:sldId id="275" r:id="rId13"/>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Zeitbudget: 20 Sekunden</a:t>
            </a:r>
          </a:p>
          <a:p>
            <a:endParaRPr/>
          </a:p>
          <a:p>
            <a:r>
              <a:t>Wir zeigen eine kleine, ausführbare DevSecOps-Pipeline. Im Mittelpunkt stehen drei Programme mit absichtlich unsicherer und bereinigter Variante. Entscheidend ist, dass der Ablauf automatisch startet und Findings nachvollziehbar zu einer Entscheidung führen. Die Demo verbindet einen Codefehler mit dem konkreten Bericht und der Gateentscheidung.</a:t>
            </a:r>
          </a:p>
          <a:p>
            <a:endParaRPr/>
          </a:p>
          <a:p>
            <a:r>
              <a:t>Quelle: 06_SecureDevelopment.pdf, Georg Graupner, WS 2024, Titelfolie als Gestaltungsreferenz</a:t>
            </a:r>
          </a:p>
          <a:p>
            <a:r>
              <a:t>Quelle: devsecops-pipeline/docs/NACHPRUEFUNG.md</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Zeitbudget: 30 Sekunden</a:t>
            </a:r>
          </a:p>
          <a:p>
            <a:endParaRPr/>
          </a:p>
          <a:p>
            <a:r>
              <a:t>Die Aufgabe verlangt mindestens vier Tools und drei ausführbare Beispiele. Wir verwenden drei unterschiedliche Programme und prüfen jede Variante mit derselben Policy. Acht Werkzeuge sind beteiligt, wobei Syft ein Inventar erzeugt und selbst keine Schwachstellenbewertung liefert. Die bereitgestellte GitHub-Aufnahme und die lokalen Nachweise ergänzen sich.</a:t>
            </a:r>
          </a:p>
          <a:p>
            <a:endParaRPr/>
          </a:p>
          <a:p>
            <a:r>
              <a:t>Quelle: 06_SecureDevelopment.pdf, Georg Graupner, WS 2024, S.47 / PDF48</a:t>
            </a:r>
          </a:p>
          <a:p>
            <a:r>
              <a:t>Quelle: devsecops-pipeline/docs/NACHPRUEFUNG.md</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Zeitbudget: 60 Sekunden</a:t>
            </a:r>
          </a:p>
          <a:p>
            <a:endParaRPr/>
          </a:p>
          <a:p>
            <a:r>
              <a:t>Der Python-Orchestrator ist die gemeinsame Implementierung für lokale Läufe und beide CI-Konfigurationen. Grundlegende Scans laufen vor dem ersten Gate. Die CLI wird schon davor tatsächlich gebaut und gestartet, damit ihre Lauffähigkeit belegt ist. Webdienste starten erst nach bestandenem Image-Gate. Das Diagramm zeigt diesen Grundpfad vereinfacht. Jede Security-Ablehnung stoppt spätere Schritte. Der Abschluss schreibt die vorhandenen Ergebnisse und räumt auf. Publishing ist optional und nicht als funktionierend nachgewiesen.</a:t>
            </a:r>
          </a:p>
          <a:p>
            <a:endParaRPr/>
          </a:p>
          <a:p>
            <a:r>
              <a:t>Quelle: devsecops-pipeline/scripts/pipeline.py, insbesondere execute(), build(), deploy(), dast()</a:t>
            </a:r>
          </a:p>
          <a:p>
            <a:r>
              <a:t>Quelle: devsecops-pipeline/scripts/smoke.py</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Zeitbudget: 45 Sekunden</a:t>
            </a:r>
          </a:p>
          <a:p>
            <a:endParaRPr/>
          </a:p>
          <a:p>
            <a:r>
              <a:t>Die Vorlesung trennt SAST, SCA, DAST und Container Security. Auf der gedruckten Folie 46 stehen Bandit, Semgrep, ZAP und Trivy ausdrücklich. Wir nutzen Trivy zusätzlich für den Paketkontext und ersetzen damit im Projekt die Funktion eines separaten Dependency-Check-Laufs. hadolint, Dockle, Gitleaks und Syft ergänzen den genannten Werkzeugkasten. Syft untersucht das Quellverzeichnis und erstellt eine CycloneDX-SBOM. Vault und DefectDojo sind keine nachgewiesenen Bestandteile des Scan-Pfads.</a:t>
            </a:r>
          </a:p>
          <a:p>
            <a:endParaRPr/>
          </a:p>
          <a:p>
            <a:r>
              <a:t>Quelle: 06_SecureDevelopment.pdf, Georg Graupner, WS 2024, S.32–33,37–39,42,46 / PDF33–34,38–40,43,47</a:t>
            </a:r>
          </a:p>
          <a:p>
            <a:r>
              <a:t>Quelle: devsecops-pipeline/scripts/collect.py: SOURCES</a:t>
            </a:r>
          </a:p>
          <a:p>
            <a:r>
              <a:t>Quelle: devsecops-pipeline/scripts/pipeline.py: scans()</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B57F2-9A70-AF16-1005-39F98D567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D183E-A48C-DD6C-8C95-DF64F4611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9E0F8-E7D3-1470-817E-235D1F6C261E}"/>
              </a:ext>
            </a:extLst>
          </p:cNvPr>
          <p:cNvSpPr>
            <a:spLocks noGrp="1"/>
          </p:cNvSpPr>
          <p:nvPr>
            <p:ph type="body" idx="1"/>
          </p:nvPr>
        </p:nvSpPr>
        <p:spPr/>
        <p:txBody>
          <a:bodyPr/>
          <a:lstStyle/>
          <a:p>
            <a:r>
              <a:t>Zeitbudget: 180 Sekunden</a:t>
            </a:r>
          </a:p>
          <a:p>
            <a:endParaRPr/>
          </a:p>
          <a:p>
            <a:r>
              <a:t>Vor dem Vortrag prepare.py und einen vollständigen Demo-Lauf durchführen. Für diese drei Minuten bevorzugt einen vorbereiteten verwundbaren Lauf anstoßen und den Fixed-Lauf sowie die übrigen Programme aus gespeicherten Nachweisen zeigen. Nur bei rechtzeitig abgeschlossenem Fixed-Lauf live in die neuen Dateien wechseln. In GitHub den Push-Trigger und die sechs Matrixfälle zeigen. Am Code des Dateidienstes das künstliche Secret und den ungeprüften Pfad erklären. Im Bericht FAIL mit aktiven Blockern zeigen und danach das Fixed-PASS mit dokumentierter Ausnahme. Nicht sechs vollständige Scannerläufe abwarten. Der grüne Demo-Job prüft die erwartete Ablehnung der Negativfälle. Bei Wartezeit mit Archiv oder vorbereiteter Aufnahme fortfahren, ohne eine Aufzeichnung als Live-Lauf zu bezeichnen. Eine Aufnahme muss die Gruppe vor dem Termin selbst erstellen.</a:t>
            </a:r>
          </a:p>
          <a:p>
            <a:endParaRPr/>
          </a:p>
          <a:p>
            <a:r>
              <a:t>Quelle: devsecops-pipeline/docs/DEMO_SCRIPT.md</a:t>
            </a:r>
          </a:p>
          <a:p>
            <a:r>
              <a:t>Quelle: devsecops-pipeline/scripts/demo.py</a:t>
            </a:r>
          </a:p>
          <a:p>
            <a:r>
              <a:t>Quelle: devsecops-pipeline/docs/validation/2026-10-21-fixed/evidence.zip</a:t>
            </a:r>
          </a:p>
          <a:p>
            <a:r>
              <a:t>Quelle: devsecops-pipeline/docs/NACHPRUEFUNG.md</a:t>
            </a:r>
          </a:p>
          <a:p>
            <a:endParaRPr/>
          </a:p>
          <a:p>
            <a:r>
              <a:t>Gestaltung und DHBW-Mosbach-Logo: bereitgestelltes Skript 06_SecureDevelopment.pdf, Titelfolie. Eigene Projektinhalte.</a:t>
            </a:r>
          </a:p>
        </p:txBody>
      </p:sp>
      <p:sp>
        <p:nvSpPr>
          <p:cNvPr id="4" name="Slide Number Placeholder 3">
            <a:extLst>
              <a:ext uri="{FF2B5EF4-FFF2-40B4-BE49-F238E27FC236}">
                <a16:creationId xmlns:a16="http://schemas.microsoft.com/office/drawing/2014/main" id="{EEFCD2CF-4C18-7BE0-EF84-B609DAEC90A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9797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Reservefolie, nicht Teil des regulären Vortrags</a:t>
            </a:r>
          </a:p>
          <a:p>
            <a:endParaRPr/>
          </a:p>
          <a:p>
            <a:r>
              <a:t>Das Gate ordnet Testklasse und Severity einer Aktion zu. Fehlende, ungültige oder abgelaufene Ausnahmen unterdrücken kein Finding. Eine SCA-HIGH-Meldung kann warnen und dieselbe CVE als Image-HIGH blockieren. Genau deshalb gehört die Testklasse zum Deduplizierungsschlüssel.</a:t>
            </a:r>
          </a:p>
          <a:p>
            <a:endParaRPr/>
          </a:p>
          <a:p>
            <a:r>
              <a:t>Quelle: devsecops-pipeline/policy/thresholds.yaml</a:t>
            </a:r>
          </a:p>
          <a:p>
            <a:r>
              <a:t>Quelle: devsecops-pipeline/scripts/gate.py</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3515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Zeitbudget: 45 Sekunden</a:t>
            </a:r>
          </a:p>
          <a:p>
            <a:endParaRPr/>
          </a:p>
          <a:p>
            <a:r>
              <a:t>Die Regeln stehen als versionierte Policy im Repository. Ein erfolgreich ausgeführter Scanner kann Findings melden, deshalb bedeutet Checkstatus ok noch keine Security-Freigabe. Die Pipeline trennt Prozessausführung, normalisierte Findings und Gateentscheidung. Fehlende oder beschädigte Pflichtberichte führen zu ERROR. Die DAST-Warnregel ist eine bewusste Lehrprojektentscheidung. Sie beweist weder, dass DAST-Meldungen falsch sind, noch dass HIGH-SCA-Lücken harmlos sind. Für Produktion müsste die Policy zum tatsächlichen Risiko passen. Das getestete Gate ist Python, nicht der historische OPA-Entwurf.</a:t>
            </a:r>
          </a:p>
          <a:p>
            <a:endParaRPr/>
          </a:p>
          <a:p>
            <a:r>
              <a:t>Quelle: devsecops-pipeline/policy/thresholds.yaml</a:t>
            </a:r>
          </a:p>
          <a:p>
            <a:r>
              <a:t>Quelle: devsecops-pipeline/scripts/gate.py</a:t>
            </a:r>
          </a:p>
          <a:p>
            <a:r>
              <a:t>Quelle: devsecops-pipeline/scripts/normalize.py: validate_report()</a:t>
            </a:r>
          </a:p>
          <a:p>
            <a:r>
              <a:t>Quelle: devsecops-pipeline/scripts/pipeline.py: check(), checkpoint()</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Zeitbudget: 45 Sekunden</a:t>
            </a:r>
          </a:p>
          <a:p>
            <a:endParaRPr/>
          </a:p>
          <a:p>
            <a:r>
              <a:t>Die Zahlen stammen aus dem archivierten Offline-Durchgang, der dem finalen Implementierungshash zugeordnet ist. Die drei Negativfälle haben 8, 4 und 10 aktive blockierende Findings. Alle Fixed-Fälle haben null aktive Blocker und jeweils genau eine überprüfte Ausnahme. Online traten dieselben erwarteten Gateentscheidungen ein. Findings können sich überlappen und sind keine Anzahl unabhängig ausnutzbarer Fehler. Die 41 aktuellen Tests der Pipeline-Logik wurden ebenfalls dokumentiert. Zusammen mit neun ursprünglichen Akzeptanzprüfungen waren es unter Windows 50, nicht 50 in der regulären Suite.</a:t>
            </a:r>
          </a:p>
          <a:p>
            <a:endParaRPr/>
          </a:p>
          <a:p>
            <a:r>
              <a:t>Quelle: devsecops-pipeline/docs/validation/2026-10-21-fixed/results.json</a:t>
            </a:r>
          </a:p>
          <a:p>
            <a:r>
              <a:t>Quelle: devsecops-pipeline/docs/NACHPRUEFUNG.md</a:t>
            </a:r>
          </a:p>
          <a:p>
            <a:r>
              <a:t>Quelle: devsecops-pipeline/docs/validation/2026-10-21-fixed/FINDINGS_REPORT.md</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Zeitbudget: 50 Sekunden</a:t>
            </a:r>
          </a:p>
          <a:p>
            <a:endParaRPr/>
          </a:p>
          <a:p>
            <a:r>
              <a:t>Diese Probleme stammen aus der dokumentierten Erstvalidierung und ihren Korrekturen. Ein Werkzeugaufruf allein ist kein Nachweis eines funktionierenden Security-Schritts. Besonders kritisch war die frühere Freigabe bei ausgefallener Runtime. Die neue Logik verlangt erfolgreiche Checks und gültige Reports. Für den CLI-Negativfall mussten absichtlich alte, aber miteinander kompatible Pakete gewählt werden. Der Deduplizierungsschlüssel musste den Kontext behalten: Eine HIGH-CVE kann im SCA-Pfad warnen, im Image-Pfad aber blockieren. Regressionstests sichern diese Korrekturen ab.</a:t>
            </a:r>
          </a:p>
          <a:p>
            <a:endParaRPr/>
          </a:p>
          <a:p>
            <a:r>
              <a:t>Quelle: devsecops-pipeline/docs/VALIDIERUNG.md, historischer Erstbefund</a:t>
            </a:r>
          </a:p>
          <a:p>
            <a:r>
              <a:t>Quelle: devsecops-pipeline/docs/NACHPRUEFUNG.md, Korrekturen zu den zehn Befundgruppen</a:t>
            </a:r>
          </a:p>
          <a:p>
            <a:r>
              <a:t>Quelle: devsecops-pipeline/tests/test_gate.py</a:t>
            </a:r>
          </a:p>
          <a:p>
            <a:r>
              <a:t>Quelle: devsecops-pipeline/tests/test_regressions.py</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Zeitbudget: 40 Sekunden</a:t>
            </a:r>
          </a:p>
          <a:p>
            <a:endParaRPr/>
          </a:p>
          <a:p>
            <a:r>
              <a:t>Die Ausnahme ist der wichtigste Fall manueller Triage. Dockle beanstandet einen Paketmanager-Aufruf des offiziellen Python-Alpine-Images. Die erste Installation nutzt no-cache, die spätere lokale Abhängigkeitsauflösung no-network. Wir prüfen zusätzlich, dass keine Paketcache-Dateien vorhanden sind. Die Ausnahme ist eng an Workload, Basis-Digest und Meldungstext gebunden, hat einen Owner und läuft am 20. November 2026 ab. Sie wird nicht verwendet, um neue echte Findings still verschwinden zu lassen. Andere Warnungen, etwa das Binden an Containerinterfaces, erfordern ebenfalls Kontextbewertung. Eine pauschale False-Positive-Quote wurde nicht ermittelt.</a:t>
            </a:r>
          </a:p>
          <a:p>
            <a:endParaRPr/>
          </a:p>
          <a:p>
            <a:r>
              <a:t>Quelle: devsecops-pipeline/policy/suppressions.json</a:t>
            </a:r>
          </a:p>
          <a:p>
            <a:r>
              <a:t>Quelle: devsecops-pipeline/scripts/gate.py: load_suppressions(), suppression_matches()</a:t>
            </a:r>
          </a:p>
          <a:p>
            <a:r>
              <a:t>Quelle: devsecops-pipeline/scripts/pipeline.py: image_scan()</a:t>
            </a:r>
          </a:p>
          <a:p>
            <a:r>
              <a:t>Quelle: devsecops-pipeline/docs/FINDINGS_BEWERTUNG.md</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Zeitbudget: 40 Sekunden</a:t>
            </a:r>
          </a:p>
          <a:p>
            <a:endParaRPr/>
          </a:p>
          <a:p>
            <a:r>
              <a:t>Die wichtigste Erkenntnis ist das Vertrauen in den Prüfablauf selbst: Null Findings sind nur dann sinnvoll, wenn die Scanner korrekt gearbeitet haben. Ein Negativtest darf weder an fehlenden Dependencies noch an einem Scanner-Absturz scheitern. Außerdem kann dieselbe CVE in verschiedenen Kontexten unterschiedliche Gateaktionen auslösen. Ein grüner Lauf ersetzt keine manuelle Bewertung. Feste Toolimages alleine garantieren keine identischen Ergebnisse, weil aktualisierte Datenbanken neue Schwachstellen kennen. Deshalb archivieren wir Rohdaten und den zugehörigen Implementierungsstand.</a:t>
            </a:r>
          </a:p>
          <a:p>
            <a:endParaRPr/>
          </a:p>
          <a:p>
            <a:r>
              <a:t>Quelle: devsecops-pipeline/docs/NACHPRUEFUNG.md</a:t>
            </a:r>
          </a:p>
          <a:p>
            <a:r>
              <a:t>Quelle: devsecops-pipeline/docs/FINDINGS_BEWERTUNG.md</a:t>
            </a:r>
          </a:p>
          <a:p>
            <a:r>
              <a:t>Quelle: devsecops-pipeline/scripts/normalize.py: dedupe()</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Reservefolie, nicht Teil des regulären Vortrags</a:t>
            </a:r>
          </a:p>
          <a:p>
            <a:endParaRPr/>
          </a:p>
          <a:p>
            <a:r>
              <a:t>Die Seitenangaben im Vortrag beziehen sich auf die aufgedruckten Foliennummern des Skripts. Die PDF-Seitenzählung ist ab Folie 7 um eine Seite verschoben, da Folie 6 eine zusätzliche Notizseite hat. Konkrete Toolbezüge: Skriptfolie 46 ist PDF-Seite 47, Aufgabenstellung Folie 47 ist PDF-Seite 48. Externe Empfehlungen wurden am 21.10.2026 konsultiert. Die Detailquellen jeder Folie stehen zusätzlich in ihren Sprechernotizen. Die Grafikelemente Logo und Welle stammen aus der bereitgestellten Titelfolie.</a:t>
            </a:r>
          </a:p>
          <a:p>
            <a:endParaRPr/>
          </a:p>
          <a:p>
            <a:r>
              <a:t>Quelle: 06_SecureDevelopment.pdf, Georg Graupner, WS 2024</a:t>
            </a:r>
          </a:p>
          <a:p>
            <a:r>
              <a:t>Quelle: devsecops-pipeline/docs/NACHPRUEFUNG.md</a:t>
            </a:r>
          </a:p>
          <a:p>
            <a:r>
              <a:t>Quelle: devsecops-pipeline/docs/FINDINGS_BEWERTUNG.md</a:t>
            </a:r>
          </a:p>
          <a:p>
            <a:r>
              <a:t>Quelle: devsecops-pipeline/docs/validation/2026-10-21-fixed/results.json</a:t>
            </a:r>
          </a:p>
          <a:p>
            <a:r>
              <a:t>Quelle: https://docs.github.com/en/actions/reference/security/secure-use</a:t>
            </a:r>
          </a:p>
          <a:p>
            <a:r>
              <a:t>Quelle: https://cheatsheetseries.owasp.org/cheatsheets/CI_CD_Security_Cheat_Sheet.html</a:t>
            </a:r>
          </a:p>
          <a:p>
            <a:endParaRPr/>
          </a:p>
          <a:p>
            <a:r>
              <a:t>Gestaltung und DHBW-Mosbach-Logo: bereitgestelltes Skript 06_SecureDevelopment.pdf, Titelfolie. Eigene Projektinhalte.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76E9A23-B058-4F94-A7FE-F4691E78C12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5D343223-C221-4E70-A8C5-45F5C1C91C6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02E9421-FFFA-416F-9AF4-7A557DA4039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8EB353-DF03-4091-A4F4-A14702AA655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EBFE169C-8A0D-41D4-91C3-C00CABDC3B2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4CAA683C-5B48-42BB-A37E-D36E36D7075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BB7FFE9-E507-4AFA-A347-04F08411E3E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EC2DC760-9A0C-442A-BC34-CAE14FA15E7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87853C9-1ABC-4801-B704-4B0D204C0E8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B864269-EE9D-408E-A5AC-D425914500F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hyperlink" Target="https://cheatsheetseries.owasp.org/cheatsheets/CI_CD_Security_Cheat_Sheet.html" TargetMode="External"/><Relationship Id="rId4" Type="http://schemas.openxmlformats.org/officeDocument/2006/relationships/hyperlink" Target="https://docs.github.com/en/actions/reference/security/secure-u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6CABD5-1380-4058-92B7-2F472C0B68BD}"/>
              </a:ext>
            </a:extLst>
          </p:cNvPr>
          <p:cNvPicPr>
            <a:picLocks noChangeAspect="1"/>
          </p:cNvPicPr>
          <p:nvPr/>
        </p:nvPicPr>
        <p:blipFill>
          <a:blip r:embed="rId3"/>
          <a:stretch/>
        </p:blipFill>
        <p:spPr>
          <a:xfrm>
            <a:off x="0" y="2733861"/>
            <a:ext cx="12192000" cy="4123954"/>
          </a:xfrm>
          <a:prstGeom prst="rect">
            <a:avLst/>
          </a:prstGeom>
        </p:spPr>
      </p:pic>
      <p:pic>
        <p:nvPicPr>
          <p:cNvPr id="2" name="Picture 1">
            <a:extLst>
              <a:ext uri="{FF2B5EF4-FFF2-40B4-BE49-F238E27FC236}">
                <a16:creationId xmlns:a16="http://schemas.microsoft.com/office/drawing/2014/main" id="{A8B434D8-1BEB-473A-A129-EA8BE93BE6AF}"/>
              </a:ext>
            </a:extLst>
          </p:cNvPr>
          <p:cNvPicPr>
            <a:picLocks noChangeAspect="1"/>
          </p:cNvPicPr>
          <p:nvPr/>
        </p:nvPicPr>
        <p:blipFill>
          <a:blip r:embed="rId4"/>
          <a:stretch/>
        </p:blipFill>
        <p:spPr>
          <a:xfrm>
            <a:off x="9906000" y="381000"/>
            <a:ext cx="1657350" cy="886682"/>
          </a:xfrm>
          <a:prstGeom prst="rect">
            <a:avLst/>
          </a:prstGeom>
        </p:spPr>
      </p:pic>
      <p:sp>
        <p:nvSpPr>
          <p:cNvPr id="3" name="DevSecOps-Pipeline">
            <a:extLst>
              <a:ext uri="{FF2B5EF4-FFF2-40B4-BE49-F238E27FC236}">
                <a16:creationId xmlns:a16="http://schemas.microsoft.com/office/drawing/2014/main" id="{730069C0-5B44-4CF2-A833-D8340D5BFB82}"/>
              </a:ext>
            </a:extLst>
          </p:cNvPr>
          <p:cNvSpPr>
            <a:spLocks noGrp="1"/>
          </p:cNvSpPr>
          <p:nvPr/>
        </p:nvSpPr>
        <p:spPr>
          <a:xfrm>
            <a:off x="704850" y="1495425"/>
            <a:ext cx="10287000" cy="857250"/>
          </a:xfrm>
          <a:prstGeom prst="rect">
            <a:avLst/>
          </a:prstGeom>
          <a:noFill/>
          <a:ln w="0">
            <a:noFill/>
          </a:ln>
        </p:spPr>
        <p:txBody>
          <a:bodyPr wrap="square" lIns="0" tIns="0" rIns="0" bIns="0" anchor="t">
            <a:noAutofit/>
          </a:bodyPr>
          <a:lstStyle>
            <a:defPPr algn="l">
              <a:defRPr sz="4800" b="0">
                <a:solidFill>
                  <a:srgbClr val="52616A"/>
                </a:solidFill>
                <a:latin typeface="Calibri"/>
                <a:ea typeface="Calibri"/>
                <a:cs typeface="Calibri"/>
              </a:defRPr>
            </a:defPPr>
          </a:lstStyle>
          <a:p>
            <a:pPr algn="l">
              <a:defRPr sz="4800" b="0">
                <a:solidFill>
                  <a:srgbClr val="52616A"/>
                </a:solidFill>
                <a:latin typeface="Calibri"/>
                <a:ea typeface="Calibri"/>
                <a:cs typeface="Calibri"/>
              </a:defRPr>
            </a:pPr>
            <a:r>
              <a:rPr sz="4800" b="0">
                <a:solidFill>
                  <a:srgbClr val="52616A"/>
                </a:solidFill>
                <a:latin typeface="Calibri"/>
                <a:ea typeface="Calibri"/>
                <a:cs typeface="Calibri"/>
              </a:rPr>
              <a:t>DevSecOps-Pipeline</a:t>
            </a:r>
          </a:p>
        </p:txBody>
      </p:sp>
      <p:sp>
        <p:nvSpPr>
          <p:cNvPr id="4" name="Automatisierte Sicherheitsprüfungen für drei Python-Programm">
            <a:extLst>
              <a:ext uri="{FF2B5EF4-FFF2-40B4-BE49-F238E27FC236}">
                <a16:creationId xmlns:a16="http://schemas.microsoft.com/office/drawing/2014/main" id="{2C0B5EF9-6C5F-4211-BC02-6212E3363793}"/>
              </a:ext>
            </a:extLst>
          </p:cNvPr>
          <p:cNvSpPr>
            <a:spLocks noGrp="1"/>
          </p:cNvSpPr>
          <p:nvPr/>
        </p:nvSpPr>
        <p:spPr>
          <a:xfrm>
            <a:off x="723900" y="2476500"/>
            <a:ext cx="9525000" cy="590550"/>
          </a:xfrm>
          <a:prstGeom prst="rect">
            <a:avLst/>
          </a:prstGeom>
          <a:noFill/>
          <a:ln w="0">
            <a:noFill/>
          </a:ln>
        </p:spPr>
        <p:txBody>
          <a:bodyPr wrap="square" lIns="0" tIns="0" rIns="0" bIns="0" anchor="t">
            <a:noAutofit/>
          </a:bodyPr>
          <a:lstStyle>
            <a:defPPr algn="l">
              <a:defRPr sz="2175" b="0">
                <a:solidFill>
                  <a:srgbClr val="E2001A"/>
                </a:solidFill>
                <a:latin typeface="Calibri"/>
                <a:ea typeface="Calibri"/>
                <a:cs typeface="Calibri"/>
              </a:defRPr>
            </a:defPPr>
          </a:lstStyle>
          <a:p>
            <a:pPr algn="l">
              <a:defRPr sz="2175" b="0">
                <a:solidFill>
                  <a:srgbClr val="E2001A"/>
                </a:solidFill>
                <a:latin typeface="Calibri"/>
                <a:ea typeface="Calibri"/>
                <a:cs typeface="Calibri"/>
              </a:defRPr>
            </a:pPr>
            <a:r>
              <a:rPr sz="2175" b="0">
                <a:solidFill>
                  <a:srgbClr val="E2001A"/>
                </a:solidFill>
                <a:latin typeface="Calibri"/>
                <a:ea typeface="Calibri"/>
                <a:cs typeface="Calibri"/>
              </a:rPr>
              <a:t>Automatisierte Sicherheitsprüfungen für drei Python-Programme</a:t>
            </a:r>
          </a:p>
        </p:txBody>
      </p:sp>
      <p:sp>
        <p:nvSpPr>
          <p:cNvPr id="5" name="IT-Sicherheit bei Herrn Graupner">
            <a:extLst>
              <a:ext uri="{FF2B5EF4-FFF2-40B4-BE49-F238E27FC236}">
                <a16:creationId xmlns:a16="http://schemas.microsoft.com/office/drawing/2014/main" id="{62FC40B8-AAD0-4496-8C1E-115787A1B65D}"/>
              </a:ext>
            </a:extLst>
          </p:cNvPr>
          <p:cNvSpPr>
            <a:spLocks noGrp="1"/>
          </p:cNvSpPr>
          <p:nvPr/>
        </p:nvSpPr>
        <p:spPr>
          <a:xfrm>
            <a:off x="723900" y="3314700"/>
            <a:ext cx="9525000" cy="381000"/>
          </a:xfrm>
          <a:prstGeom prst="rect">
            <a:avLst/>
          </a:prstGeom>
          <a:noFill/>
          <a:ln w="0">
            <a:noFill/>
          </a:ln>
        </p:spPr>
        <p:txBody>
          <a:bodyPr wrap="square" lIns="0" tIns="0" rIns="0" bIns="0" anchor="t">
            <a:noAutofit/>
          </a:bodyPr>
          <a:lstStyle>
            <a:defPPr algn="l">
              <a:defRPr sz="2025" b="0">
                <a:solidFill>
                  <a:srgbClr val="263640"/>
                </a:solidFill>
                <a:latin typeface="Calibri"/>
                <a:ea typeface="Calibri"/>
                <a:cs typeface="Calibri"/>
              </a:defRPr>
            </a:defPPr>
          </a:lstStyle>
          <a:p>
            <a:pPr algn="l">
              <a:defRPr sz="2025" b="0">
                <a:solidFill>
                  <a:srgbClr val="263640"/>
                </a:solidFill>
                <a:latin typeface="Calibri"/>
                <a:ea typeface="Calibri"/>
                <a:cs typeface="Calibri"/>
              </a:defRPr>
            </a:pPr>
            <a:r>
              <a:rPr sz="2025" b="0">
                <a:solidFill>
                  <a:srgbClr val="263640"/>
                </a:solidFill>
                <a:latin typeface="Calibri"/>
                <a:ea typeface="Calibri"/>
                <a:cs typeface="Calibri"/>
              </a:rPr>
              <a:t>IT-Sicherheit bei Herrn Graupner</a:t>
            </a:r>
          </a:p>
        </p:txBody>
      </p:sp>
      <p:sp>
        <p:nvSpPr>
          <p:cNvPr id="6" name="Lukas Breuer, Leo Hofmann, Maxim Krüger&#10;und Valentin Gehrig">
            <a:extLst>
              <a:ext uri="{FF2B5EF4-FFF2-40B4-BE49-F238E27FC236}">
                <a16:creationId xmlns:a16="http://schemas.microsoft.com/office/drawing/2014/main" id="{8D93AC49-0191-4944-A513-B81579E3927E}"/>
              </a:ext>
            </a:extLst>
          </p:cNvPr>
          <p:cNvSpPr>
            <a:spLocks noGrp="1"/>
          </p:cNvSpPr>
          <p:nvPr/>
        </p:nvSpPr>
        <p:spPr>
          <a:xfrm>
            <a:off x="723900" y="3829050"/>
            <a:ext cx="9525000" cy="800100"/>
          </a:xfrm>
          <a:prstGeom prst="rect">
            <a:avLst/>
          </a:prstGeom>
          <a:noFill/>
          <a:ln w="0">
            <a:noFill/>
          </a:ln>
        </p:spPr>
        <p:txBody>
          <a:bodyPr wrap="square" lIns="0" tIns="0" rIns="0" bIns="0" anchor="t">
            <a:noAutofit/>
          </a:bodyPr>
          <a:lstStyle>
            <a:defPPr algn="l">
              <a:defRPr sz="1950" b="0">
                <a:solidFill>
                  <a:srgbClr val="263640"/>
                </a:solidFill>
                <a:latin typeface="Calibri"/>
                <a:ea typeface="Calibri"/>
                <a:cs typeface="Calibri"/>
              </a:defRPr>
            </a:defPPr>
          </a:lstStyle>
          <a:p>
            <a:pPr algn="l">
              <a:defRPr sz="1950" b="0">
                <a:solidFill>
                  <a:srgbClr val="263640"/>
                </a:solidFill>
                <a:latin typeface="Calibri"/>
                <a:ea typeface="Calibri"/>
                <a:cs typeface="Calibri"/>
              </a:defRPr>
            </a:pPr>
            <a:r>
              <a:rPr sz="1950" b="0">
                <a:solidFill>
                  <a:srgbClr val="263640"/>
                </a:solidFill>
                <a:latin typeface="Calibri"/>
                <a:ea typeface="Calibri"/>
                <a:cs typeface="Calibri"/>
              </a:rPr>
              <a:t>Lukas Breuer, Leo Hofmann, Maxim Krüger</a:t>
            </a:r>
          </a:p>
          <a:p>
            <a:pPr algn="l">
              <a:defRPr sz="1950" b="0">
                <a:solidFill>
                  <a:srgbClr val="263640"/>
                </a:solidFill>
                <a:latin typeface="Calibri"/>
                <a:ea typeface="Calibri"/>
                <a:cs typeface="Calibri"/>
              </a:defRPr>
            </a:pPr>
            <a:r>
              <a:rPr sz="1950" b="0">
                <a:solidFill>
                  <a:srgbClr val="263640"/>
                </a:solidFill>
                <a:latin typeface="Calibri"/>
                <a:ea typeface="Calibri"/>
                <a:cs typeface="Calibri"/>
              </a:rPr>
              <a:t>und Valentin Gehrig</a:t>
            </a:r>
          </a:p>
        </p:txBody>
      </p:sp>
      <p:sp>
        <p:nvSpPr>
          <p:cNvPr id="7" name="Projektstand 21.10.2026">
            <a:extLst>
              <a:ext uri="{FF2B5EF4-FFF2-40B4-BE49-F238E27FC236}">
                <a16:creationId xmlns:a16="http://schemas.microsoft.com/office/drawing/2014/main" id="{D49E2F78-2C4D-4605-B5D5-C3B981D327C7}"/>
              </a:ext>
            </a:extLst>
          </p:cNvPr>
          <p:cNvSpPr>
            <a:spLocks noGrp="1"/>
          </p:cNvSpPr>
          <p:nvPr/>
        </p:nvSpPr>
        <p:spPr>
          <a:xfrm>
            <a:off x="723900" y="6505575"/>
            <a:ext cx="7143750" cy="219075"/>
          </a:xfrm>
          <a:prstGeom prst="rect">
            <a:avLst/>
          </a:prstGeom>
          <a:noFill/>
          <a:ln w="0">
            <a:noFill/>
          </a:ln>
        </p:spPr>
        <p:txBody>
          <a:bodyPr wrap="square" lIns="0" tIns="0" rIns="0" bIns="0" anchor="t">
            <a:noAutofit/>
          </a:bodyPr>
          <a:lstStyle>
            <a:defPPr algn="l">
              <a:defRPr sz="1200" b="0">
                <a:solidFill>
                  <a:srgbClr val="FFFFFF"/>
                </a:solidFill>
                <a:latin typeface="Calibri"/>
                <a:ea typeface="Calibri"/>
                <a:cs typeface="Calibri"/>
              </a:defRPr>
            </a:defPPr>
          </a:lstStyle>
          <a:p>
            <a:pPr algn="l">
              <a:defRPr sz="1200" b="0">
                <a:solidFill>
                  <a:srgbClr val="FFFFFF"/>
                </a:solidFill>
                <a:latin typeface="Calibri"/>
                <a:ea typeface="Calibri"/>
                <a:cs typeface="Calibri"/>
              </a:defRPr>
            </a:pPr>
            <a:r>
              <a:rPr sz="1200" b="0">
                <a:solidFill>
                  <a:srgbClr val="FFFFFF"/>
                </a:solidFill>
                <a:latin typeface="Calibri"/>
                <a:ea typeface="Calibri"/>
                <a:cs typeface="Calibri"/>
              </a:rPr>
              <a:t>Projektstand 21.10.2026</a:t>
            </a:r>
          </a:p>
        </p:txBody>
      </p:sp>
    </p:spTree>
    <p:extLst>
      <p:ext uri="{BB962C8B-B14F-4D97-AF65-F5344CB8AC3E}">
        <p14:creationId xmlns:p14="http://schemas.microsoft.com/office/powerpoint/2010/main" val="1459617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2C37A94-D277-4669-B4B9-BA5E93C1CFED}"/>
              </a:ext>
            </a:extLst>
          </p:cNvPr>
          <p:cNvPicPr>
            <a:picLocks noChangeAspect="1"/>
          </p:cNvPicPr>
          <p:nvPr/>
        </p:nvPicPr>
        <p:blipFill>
          <a:blip r:embed="rId3"/>
          <a:stretch/>
        </p:blipFill>
        <p:spPr>
          <a:xfrm>
            <a:off x="10325100" y="228600"/>
            <a:ext cx="1295400" cy="693039"/>
          </a:xfrm>
          <a:prstGeom prst="rect">
            <a:avLst/>
          </a:prstGeom>
        </p:spPr>
      </p:pic>
      <p:sp>
        <p:nvSpPr>
          <p:cNvPr id="2" name="Aufgabe und geprüfter Umfang">
            <a:extLst>
              <a:ext uri="{FF2B5EF4-FFF2-40B4-BE49-F238E27FC236}">
                <a16:creationId xmlns:a16="http://schemas.microsoft.com/office/drawing/2014/main" id="{C2E4FA52-0120-497B-867F-58511B69259A}"/>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Aufgabe und geprüfter Umfang</a:t>
            </a:r>
          </a:p>
        </p:txBody>
      </p:sp>
      <p:sp>
        <p:nvSpPr>
          <p:cNvPr id="3" name="Rectangle 2">
            <a:extLst>
              <a:ext uri="{FF2B5EF4-FFF2-40B4-BE49-F238E27FC236}">
                <a16:creationId xmlns:a16="http://schemas.microsoft.com/office/drawing/2014/main" id="{38627288-3FC8-41FB-B960-CDAED42142C0}"/>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Skript S. 47 (PDF-Seite 48) und dokumentierte Nachprüfung vo">
            <a:extLst>
              <a:ext uri="{FF2B5EF4-FFF2-40B4-BE49-F238E27FC236}">
                <a16:creationId xmlns:a16="http://schemas.microsoft.com/office/drawing/2014/main" id="{E8CE9CDB-3211-4AAA-A59D-1D85FEA01EEC}"/>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r>
              <a:rPr sz="1200" b="0">
                <a:solidFill>
                  <a:srgbClr val="52616A"/>
                </a:solidFill>
                <a:latin typeface="Calibri"/>
                <a:ea typeface="Calibri"/>
                <a:cs typeface="Calibri"/>
              </a:rPr>
              <a:t>Skript S. 47 (PDF-Seite 48) und dokumentierte Nachprüfung vom 21.10.2026</a:t>
            </a:r>
          </a:p>
        </p:txBody>
      </p:sp>
      <p:sp>
        <p:nvSpPr>
          <p:cNvPr id="5" name="Rectangle 4">
            <a:extLst>
              <a:ext uri="{FF2B5EF4-FFF2-40B4-BE49-F238E27FC236}">
                <a16:creationId xmlns:a16="http://schemas.microsoft.com/office/drawing/2014/main" id="{3E39C951-4D79-4368-98C8-A3ACFC4B8E1F}"/>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B546491E-E131-4ECA-B62B-192E343D6107}"/>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2">
            <a:extLst>
              <a:ext uri="{FF2B5EF4-FFF2-40B4-BE49-F238E27FC236}">
                <a16:creationId xmlns:a16="http://schemas.microsoft.com/office/drawing/2014/main" id="{2C29195F-C22C-4100-ACCB-83B6D2B11C75}"/>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2</a:t>
            </a:r>
          </a:p>
        </p:txBody>
      </p:sp>
      <p:graphicFrame>
        <p:nvGraphicFramePr>
          <p:cNvPr id="8" name="Table 7">
            <a:extLst>
              <a:ext uri="{FF2B5EF4-FFF2-40B4-BE49-F238E27FC236}">
                <a16:creationId xmlns:a16="http://schemas.microsoft.com/office/drawing/2014/main" id="{25A56C36-0B29-4F26-B05B-B7672AF74CBB}"/>
              </a:ext>
            </a:extLst>
          </p:cNvPr>
          <p:cNvGraphicFramePr/>
          <p:nvPr/>
        </p:nvGraphicFramePr>
        <p:xfrm>
          <a:off x="666750" y="1762125"/>
          <a:ext cx="10858500" cy="3190875"/>
        </p:xfrm>
        <a:graphic>
          <a:graphicData uri="http://schemas.openxmlformats.org/drawingml/2006/table">
            <a:tbl>
              <a:tblPr/>
              <a:tblGrid>
                <a:gridCol w="3810000">
                  <a:extLst>
                    <a:ext uri="{9D8B030D-6E8A-4147-A177-3AD203B41FA5}">
                      <a16:colId xmlns:a16="http://schemas.microsoft.com/office/drawing/2014/main" val="20000"/>
                    </a:ext>
                  </a:extLst>
                </a:gridCol>
                <a:gridCol w="7048500">
                  <a:extLst>
                    <a:ext uri="{9D8B030D-6E8A-4147-A177-3AD203B41FA5}">
                      <a16:colId xmlns:a16="http://schemas.microsoft.com/office/drawing/2014/main" val="20001"/>
                    </a:ext>
                  </a:extLst>
                </a:gridCol>
              </a:tblGrid>
              <a:tr h="638175">
                <a:tc>
                  <a:txBody>
                    <a:bodyPr/>
                    <a:lstStyle/>
                    <a:p>
                      <a:r>
                        <a:rPr sz="1950" b="1">
                          <a:solidFill>
                            <a:srgbClr val="FFFFFF"/>
                          </a:solidFill>
                          <a:latin typeface="Calibri"/>
                          <a:ea typeface="Calibri"/>
                          <a:cs typeface="Calibri"/>
                        </a:rPr>
                        <a:t>Vorgabe</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950" b="1">
                          <a:solidFill>
                            <a:srgbClr val="FFFFFF"/>
                          </a:solidFill>
                          <a:latin typeface="Calibri"/>
                          <a:ea typeface="Calibri"/>
                          <a:cs typeface="Calibri"/>
                        </a:rPr>
                        <a:t>Unsere Umsetzung</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638175">
                <a:tc>
                  <a:txBody>
                    <a:bodyPr/>
                    <a:lstStyle/>
                    <a:p>
                      <a:r>
                        <a:rPr sz="1950" b="0">
                          <a:solidFill>
                            <a:srgbClr val="263640"/>
                          </a:solidFill>
                          <a:latin typeface="Calibri"/>
                          <a:ea typeface="Calibri"/>
                          <a:cs typeface="Calibri"/>
                        </a:rPr>
                        <a:t>Mindestens vier Werkzeuge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0">
                          <a:solidFill>
                            <a:srgbClr val="263640"/>
                          </a:solidFill>
                          <a:latin typeface="Calibri"/>
                          <a:ea typeface="Calibri"/>
                          <a:cs typeface="Calibri"/>
                        </a:rPr>
                        <a:t>Acht Werkzeuge mit ergänzenden Aufgaben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638175">
                <a:tc>
                  <a:txBody>
                    <a:bodyPr/>
                    <a:lstStyle/>
                    <a:p>
                      <a:r>
                        <a:rPr sz="1950" b="0">
                          <a:solidFill>
                            <a:srgbClr val="263640"/>
                          </a:solidFill>
                          <a:latin typeface="Calibri"/>
                          <a:ea typeface="Calibri"/>
                          <a:cs typeface="Calibri"/>
                        </a:rPr>
                        <a:t>Automatisierter Start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0">
                          <a:solidFill>
                            <a:srgbClr val="263640"/>
                          </a:solidFill>
                          <a:latin typeface="Calibri"/>
                          <a:ea typeface="Calibri"/>
                          <a:cs typeface="Calibri"/>
                        </a:rPr>
                        <a:t>GitHub Actions bei Push und Pull Request</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638175">
                <a:tc>
                  <a:txBody>
                    <a:bodyPr/>
                    <a:lstStyle/>
                    <a:p>
                      <a:r>
                        <a:rPr sz="1950" b="0">
                          <a:solidFill>
                            <a:srgbClr val="263640"/>
                          </a:solidFill>
                          <a:latin typeface="Calibri"/>
                          <a:ea typeface="Calibri"/>
                          <a:cs typeface="Calibri"/>
                        </a:rPr>
                        <a:t>Drei lauffähige Programme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0">
                          <a:solidFill>
                            <a:srgbClr val="263640"/>
                          </a:solidFill>
                          <a:latin typeface="Calibri"/>
                          <a:ea typeface="Calibri"/>
                          <a:cs typeface="Calibri"/>
                        </a:rPr>
                        <a:t>Flask-API, Konfigurations-CLI und HTTP-Dateidienst</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r h="638175">
                <a:tc>
                  <a:txBody>
                    <a:bodyPr/>
                    <a:lstStyle/>
                    <a:p>
                      <a:r>
                        <a:rPr sz="1950" b="0">
                          <a:solidFill>
                            <a:srgbClr val="263640"/>
                          </a:solidFill>
                          <a:latin typeface="Calibri"/>
                          <a:ea typeface="Calibri"/>
                          <a:cs typeface="Calibri"/>
                        </a:rPr>
                        <a:t>Ergebnisse und Erkenntnisse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0">
                          <a:solidFill>
                            <a:srgbClr val="263640"/>
                          </a:solidFill>
                          <a:latin typeface="Calibri"/>
                          <a:ea typeface="Calibri"/>
                          <a:cs typeface="Calibri"/>
                        </a:rPr>
                        <a:t>Rohreports, Gateentscheidungen und manuelle Triage</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9" name="Je Programm zwei Varianten: vulnerable und fixed">
            <a:extLst>
              <a:ext uri="{FF2B5EF4-FFF2-40B4-BE49-F238E27FC236}">
                <a16:creationId xmlns:a16="http://schemas.microsoft.com/office/drawing/2014/main" id="{ECBD8C7E-1A7C-47EF-936C-05E19DEE18BD}"/>
              </a:ext>
            </a:extLst>
          </p:cNvPr>
          <p:cNvSpPr>
            <a:spLocks noGrp="1"/>
          </p:cNvSpPr>
          <p:nvPr/>
        </p:nvSpPr>
        <p:spPr>
          <a:xfrm>
            <a:off x="666750" y="5238750"/>
            <a:ext cx="10858500" cy="476250"/>
          </a:xfrm>
          <a:prstGeom prst="rect">
            <a:avLst/>
          </a:prstGeom>
          <a:noFill/>
          <a:ln w="0">
            <a:noFill/>
          </a:ln>
        </p:spPr>
        <p:txBody>
          <a:bodyPr wrap="square" lIns="0" tIns="0" rIns="0" bIns="0" anchor="t">
            <a:noAutofit/>
          </a:bodyPr>
          <a:lstStyle>
            <a:defPPr algn="l">
              <a:defRPr sz="2250" b="1">
                <a:solidFill>
                  <a:srgbClr val="E2001A"/>
                </a:solidFill>
                <a:latin typeface="Calibri"/>
                <a:ea typeface="Calibri"/>
                <a:cs typeface="Calibri"/>
              </a:defRPr>
            </a:defPPr>
          </a:lstStyle>
          <a:p>
            <a:pPr algn="l">
              <a:defRPr sz="2250" b="1">
                <a:solidFill>
                  <a:srgbClr val="E2001A"/>
                </a:solidFill>
                <a:latin typeface="Calibri"/>
                <a:ea typeface="Calibri"/>
                <a:cs typeface="Calibri"/>
              </a:defRPr>
            </a:pPr>
            <a:r>
              <a:rPr sz="2250" b="1">
                <a:solidFill>
                  <a:srgbClr val="E2001A"/>
                </a:solidFill>
                <a:latin typeface="Calibri"/>
                <a:ea typeface="Calibri"/>
                <a:cs typeface="Calibri"/>
              </a:rPr>
              <a:t>Je Programm zwei Varianten: vulnerable und fixed</a:t>
            </a:r>
          </a:p>
        </p:txBody>
      </p:sp>
    </p:spTree>
    <p:extLst>
      <p:ext uri="{BB962C8B-B14F-4D97-AF65-F5344CB8AC3E}">
        <p14:creationId xmlns:p14="http://schemas.microsoft.com/office/powerpoint/2010/main" val="203633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F9C28E42-7A38-4A6D-8F8B-4B48D6A0DE22}"/>
              </a:ext>
            </a:extLst>
          </p:cNvPr>
          <p:cNvCxnSpPr>
            <a:stCxn id="17" idx="3"/>
            <a:endCxn id="18" idx="1"/>
          </p:cNvCxnSpPr>
          <p:nvPr/>
        </p:nvCxnSpPr>
        <p:spPr>
          <a:xfrm>
            <a:off x="9477375" y="4405313"/>
            <a:ext cx="381000" cy="0"/>
          </a:xfrm>
          <a:prstGeom prst="straightConnector1">
            <a:avLst/>
          </a:prstGeom>
          <a:ln w="19050">
            <a:solidFill>
              <a:srgbClr val="52616A"/>
            </a:solidFill>
            <a:tailEnd type="triangle" w="sm" len="sm"/>
          </a:ln>
        </p:spPr>
      </p:cxnSp>
      <p:cxnSp>
        <p:nvCxnSpPr>
          <p:cNvPr id="21" name="Straight Arrow Connector 20">
            <a:extLst>
              <a:ext uri="{FF2B5EF4-FFF2-40B4-BE49-F238E27FC236}">
                <a16:creationId xmlns:a16="http://schemas.microsoft.com/office/drawing/2014/main" id="{0FB96951-BB9C-4426-A5EC-9FE7F9401FCD}"/>
              </a:ext>
            </a:extLst>
          </p:cNvPr>
          <p:cNvCxnSpPr>
            <a:stCxn id="16" idx="3"/>
            <a:endCxn id="17" idx="1"/>
          </p:cNvCxnSpPr>
          <p:nvPr/>
        </p:nvCxnSpPr>
        <p:spPr>
          <a:xfrm>
            <a:off x="6048375" y="4405313"/>
            <a:ext cx="381000" cy="0"/>
          </a:xfrm>
          <a:prstGeom prst="straightConnector1">
            <a:avLst/>
          </a:prstGeom>
          <a:ln w="19050">
            <a:solidFill>
              <a:srgbClr val="52616A"/>
            </a:solidFill>
            <a:tailEnd type="triangle" w="sm" len="sm"/>
          </a:ln>
        </p:spPr>
      </p:cxnSp>
      <p:cxnSp>
        <p:nvCxnSpPr>
          <p:cNvPr id="20" name="Straight Arrow Connector 19">
            <a:extLst>
              <a:ext uri="{FF2B5EF4-FFF2-40B4-BE49-F238E27FC236}">
                <a16:creationId xmlns:a16="http://schemas.microsoft.com/office/drawing/2014/main" id="{65869AC3-532F-4D85-AFF3-294BA7CD91B7}"/>
              </a:ext>
            </a:extLst>
          </p:cNvPr>
          <p:cNvCxnSpPr>
            <a:stCxn id="15" idx="3"/>
            <a:endCxn id="16" idx="1"/>
          </p:cNvCxnSpPr>
          <p:nvPr/>
        </p:nvCxnSpPr>
        <p:spPr>
          <a:xfrm>
            <a:off x="3952875" y="4405313"/>
            <a:ext cx="381000" cy="0"/>
          </a:xfrm>
          <a:prstGeom prst="straightConnector1">
            <a:avLst/>
          </a:prstGeom>
          <a:ln w="19050">
            <a:solidFill>
              <a:srgbClr val="52616A"/>
            </a:solidFill>
            <a:tailEnd type="triangle" w="sm" len="sm"/>
          </a:ln>
        </p:spPr>
      </p:cxnSp>
      <p:cxnSp>
        <p:nvCxnSpPr>
          <p:cNvPr id="19" name="Connector: Elbow 18">
            <a:extLst>
              <a:ext uri="{FF2B5EF4-FFF2-40B4-BE49-F238E27FC236}">
                <a16:creationId xmlns:a16="http://schemas.microsoft.com/office/drawing/2014/main" id="{B3586D09-994C-4FB9-9D36-7D1483CB0705}"/>
              </a:ext>
            </a:extLst>
          </p:cNvPr>
          <p:cNvCxnSpPr>
            <a:stCxn id="11" idx="2"/>
            <a:endCxn id="15" idx="0"/>
          </p:cNvCxnSpPr>
          <p:nvPr/>
        </p:nvCxnSpPr>
        <p:spPr>
          <a:xfrm flipH="1">
            <a:off x="2309813" y="2809875"/>
            <a:ext cx="8072438" cy="1000125"/>
          </a:xfrm>
          <a:prstGeom prst="bentConnector4">
            <a:avLst>
              <a:gd name="adj1" fmla="val 0"/>
              <a:gd name="adj2" fmla="val 50000"/>
            </a:avLst>
          </a:prstGeom>
          <a:ln w="19050">
            <a:solidFill>
              <a:srgbClr val="52616A"/>
            </a:solidFill>
            <a:tailEnd type="triangle" w="sm" len="sm"/>
          </a:ln>
        </p:spPr>
      </p:cxnSp>
      <p:cxnSp>
        <p:nvCxnSpPr>
          <p:cNvPr id="14" name="Straight Arrow Connector 13">
            <a:extLst>
              <a:ext uri="{FF2B5EF4-FFF2-40B4-BE49-F238E27FC236}">
                <a16:creationId xmlns:a16="http://schemas.microsoft.com/office/drawing/2014/main" id="{57E5CCE9-21AB-42CC-8734-AB34A8B33313}"/>
              </a:ext>
            </a:extLst>
          </p:cNvPr>
          <p:cNvCxnSpPr>
            <a:stCxn id="10" idx="3"/>
            <a:endCxn id="11" idx="1"/>
          </p:cNvCxnSpPr>
          <p:nvPr/>
        </p:nvCxnSpPr>
        <p:spPr>
          <a:xfrm>
            <a:off x="8858250" y="2357438"/>
            <a:ext cx="381000" cy="0"/>
          </a:xfrm>
          <a:prstGeom prst="straightConnector1">
            <a:avLst/>
          </a:prstGeom>
          <a:ln w="19050">
            <a:solidFill>
              <a:srgbClr val="52616A"/>
            </a:solidFill>
            <a:tailEnd type="triangle" w="sm" len="sm"/>
          </a:ln>
        </p:spPr>
      </p:cxnSp>
      <p:cxnSp>
        <p:nvCxnSpPr>
          <p:cNvPr id="13" name="Straight Arrow Connector 12">
            <a:extLst>
              <a:ext uri="{FF2B5EF4-FFF2-40B4-BE49-F238E27FC236}">
                <a16:creationId xmlns:a16="http://schemas.microsoft.com/office/drawing/2014/main" id="{A90A54DB-62B0-4B45-89EF-E47D8671AEC5}"/>
              </a:ext>
            </a:extLst>
          </p:cNvPr>
          <p:cNvCxnSpPr>
            <a:stCxn id="9" idx="3"/>
            <a:endCxn id="10" idx="1"/>
          </p:cNvCxnSpPr>
          <p:nvPr/>
        </p:nvCxnSpPr>
        <p:spPr>
          <a:xfrm>
            <a:off x="4143375" y="2357438"/>
            <a:ext cx="285750" cy="0"/>
          </a:xfrm>
          <a:prstGeom prst="straightConnector1">
            <a:avLst/>
          </a:prstGeom>
          <a:ln w="19050">
            <a:solidFill>
              <a:srgbClr val="52616A"/>
            </a:solidFill>
            <a:tailEnd type="triangle" w="sm" len="sm"/>
          </a:ln>
        </p:spPr>
      </p:cxnSp>
      <p:cxnSp>
        <p:nvCxnSpPr>
          <p:cNvPr id="12" name="Straight Arrow Connector 11">
            <a:extLst>
              <a:ext uri="{FF2B5EF4-FFF2-40B4-BE49-F238E27FC236}">
                <a16:creationId xmlns:a16="http://schemas.microsoft.com/office/drawing/2014/main" id="{45D2B9B7-B576-46BC-BD98-476BEF608AA5}"/>
              </a:ext>
            </a:extLst>
          </p:cNvPr>
          <p:cNvCxnSpPr>
            <a:stCxn id="8" idx="3"/>
            <a:endCxn id="9" idx="1"/>
          </p:cNvCxnSpPr>
          <p:nvPr/>
        </p:nvCxnSpPr>
        <p:spPr>
          <a:xfrm>
            <a:off x="2143125" y="2357438"/>
            <a:ext cx="285750" cy="0"/>
          </a:xfrm>
          <a:prstGeom prst="straightConnector1">
            <a:avLst/>
          </a:prstGeom>
          <a:ln w="19050">
            <a:solidFill>
              <a:srgbClr val="52616A"/>
            </a:solidFill>
            <a:tailEnd type="triangle" w="sm" len="sm"/>
          </a:ln>
        </p:spPr>
      </p:cxnSp>
      <p:pic>
        <p:nvPicPr>
          <p:cNvPr id="25" name="Picture 24">
            <a:extLst>
              <a:ext uri="{FF2B5EF4-FFF2-40B4-BE49-F238E27FC236}">
                <a16:creationId xmlns:a16="http://schemas.microsoft.com/office/drawing/2014/main" id="{67A1F081-F44F-45D4-945C-B225934A4B7F}"/>
              </a:ext>
            </a:extLst>
          </p:cNvPr>
          <p:cNvPicPr>
            <a:picLocks noChangeAspect="1"/>
          </p:cNvPicPr>
          <p:nvPr/>
        </p:nvPicPr>
        <p:blipFill>
          <a:blip r:embed="rId3"/>
          <a:stretch/>
        </p:blipFill>
        <p:spPr>
          <a:xfrm>
            <a:off x="10325100" y="228600"/>
            <a:ext cx="1295400" cy="693039"/>
          </a:xfrm>
          <a:prstGeom prst="rect">
            <a:avLst/>
          </a:prstGeom>
        </p:spPr>
      </p:pic>
      <p:sp>
        <p:nvSpPr>
          <p:cNvPr id="2" name="Aufbau und Ablauf der Pipeline">
            <a:extLst>
              <a:ext uri="{FF2B5EF4-FFF2-40B4-BE49-F238E27FC236}">
                <a16:creationId xmlns:a16="http://schemas.microsoft.com/office/drawing/2014/main" id="{36923EEF-3C7B-4E71-9A4A-7A348908BECE}"/>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Aufbau und Ablauf der Pipeline</a:t>
            </a:r>
          </a:p>
        </p:txBody>
      </p:sp>
      <p:sp>
        <p:nvSpPr>
          <p:cNvPr id="3" name="Rectangle 2">
            <a:extLst>
              <a:ext uri="{FF2B5EF4-FFF2-40B4-BE49-F238E27FC236}">
                <a16:creationId xmlns:a16="http://schemas.microsoft.com/office/drawing/2014/main" id="{3B9B191B-0AB1-4AAC-BDA1-C869C6F633A3}"/>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scripts/pipeline.py: Pipeline.execute(); Diagramm vereinfach">
            <a:extLst>
              <a:ext uri="{FF2B5EF4-FFF2-40B4-BE49-F238E27FC236}">
                <a16:creationId xmlns:a16="http://schemas.microsoft.com/office/drawing/2014/main" id="{A8F693CB-BA67-40DB-A919-D69D5E2D0CDD}"/>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r>
              <a:rPr sz="1200" b="0">
                <a:solidFill>
                  <a:srgbClr val="52616A"/>
                </a:solidFill>
                <a:latin typeface="Calibri"/>
                <a:ea typeface="Calibri"/>
                <a:cs typeface="Calibri"/>
              </a:rPr>
              <a:t>scripts/pipeline.py: Pipeline.execute(); Diagramm vereinfacht den gemeinsamen CLI-/Web-Ablauf</a:t>
            </a:r>
          </a:p>
        </p:txBody>
      </p:sp>
      <p:sp>
        <p:nvSpPr>
          <p:cNvPr id="5" name="Rectangle 4">
            <a:extLst>
              <a:ext uri="{FF2B5EF4-FFF2-40B4-BE49-F238E27FC236}">
                <a16:creationId xmlns:a16="http://schemas.microsoft.com/office/drawing/2014/main" id="{43D00353-BD4F-47F5-B6A0-ED0BE9B28594}"/>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99D485D0-9D85-4EF1-A3CC-C9C57B28FB20}"/>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3">
            <a:extLst>
              <a:ext uri="{FF2B5EF4-FFF2-40B4-BE49-F238E27FC236}">
                <a16:creationId xmlns:a16="http://schemas.microsoft.com/office/drawing/2014/main" id="{FB0E018E-F29D-4756-A540-C3F537BDF60E}"/>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3</a:t>
            </a:r>
          </a:p>
        </p:txBody>
      </p:sp>
      <p:sp>
        <p:nvSpPr>
          <p:cNvPr id="8" name="Rectangle 7">
            <a:extLst>
              <a:ext uri="{FF2B5EF4-FFF2-40B4-BE49-F238E27FC236}">
                <a16:creationId xmlns:a16="http://schemas.microsoft.com/office/drawing/2014/main" id="{F5754D07-6CB4-4BC1-ADCC-DDE1DCB6055A}"/>
              </a:ext>
            </a:extLst>
          </p:cNvPr>
          <p:cNvSpPr>
            <a:spLocks noGrp="1"/>
          </p:cNvSpPr>
          <p:nvPr/>
        </p:nvSpPr>
        <p:spPr>
          <a:xfrm>
            <a:off x="666750" y="1905000"/>
            <a:ext cx="1476375" cy="90487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Push / PR</a:t>
            </a:r>
          </a:p>
        </p:txBody>
      </p:sp>
      <p:sp>
        <p:nvSpPr>
          <p:cNvPr id="9" name="Rectangle 8">
            <a:extLst>
              <a:ext uri="{FF2B5EF4-FFF2-40B4-BE49-F238E27FC236}">
                <a16:creationId xmlns:a16="http://schemas.microsoft.com/office/drawing/2014/main" id="{44D4B8E5-FB1E-4BF1-8622-F803155DEA0D}"/>
              </a:ext>
            </a:extLst>
          </p:cNvPr>
          <p:cNvSpPr>
            <a:spLocks noGrp="1"/>
          </p:cNvSpPr>
          <p:nvPr/>
        </p:nvSpPr>
        <p:spPr>
          <a:xfrm>
            <a:off x="2428875" y="1905000"/>
            <a:ext cx="1714500" cy="90487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Unit-Tests</a:t>
            </a:r>
          </a:p>
        </p:txBody>
      </p:sp>
      <p:sp>
        <p:nvSpPr>
          <p:cNvPr id="10" name="Rectangle 9">
            <a:extLst>
              <a:ext uri="{FF2B5EF4-FFF2-40B4-BE49-F238E27FC236}">
                <a16:creationId xmlns:a16="http://schemas.microsoft.com/office/drawing/2014/main" id="{A14BEAAD-CA49-442E-95BF-4B1D0A0E0001}"/>
              </a:ext>
            </a:extLst>
          </p:cNvPr>
          <p:cNvSpPr>
            <a:spLocks noGrp="1"/>
          </p:cNvSpPr>
          <p:nvPr/>
        </p:nvSpPr>
        <p:spPr>
          <a:xfrm>
            <a:off x="4429125" y="1762125"/>
            <a:ext cx="4429125" cy="119062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Quellcode und Pakete</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Gitleaks, Semgrep, Bandit</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Trivy-FS und Syft</a:t>
            </a:r>
          </a:p>
        </p:txBody>
      </p:sp>
      <p:sp>
        <p:nvSpPr>
          <p:cNvPr id="11" name="Rectangle 10">
            <a:extLst>
              <a:ext uri="{FF2B5EF4-FFF2-40B4-BE49-F238E27FC236}">
                <a16:creationId xmlns:a16="http://schemas.microsoft.com/office/drawing/2014/main" id="{CDF4402F-DE0E-4D11-93F2-4FD2AA86100D}"/>
              </a:ext>
            </a:extLst>
          </p:cNvPr>
          <p:cNvSpPr>
            <a:spLocks noGrp="1"/>
          </p:cNvSpPr>
          <p:nvPr/>
        </p:nvSpPr>
        <p:spPr>
          <a:xfrm>
            <a:off x="9239250" y="1905000"/>
            <a:ext cx="2286000" cy="904875"/>
          </a:xfrm>
          <a:prstGeom prst="rect">
            <a:avLst/>
          </a:prstGeom>
          <a:solidFill>
            <a:srgbClr val="FFFFFF"/>
          </a:solidFill>
          <a:ln w="19050">
            <a:solidFill>
              <a:srgbClr val="E2001A"/>
            </a:solidFill>
          </a:ln>
        </p:spPr>
        <p:txBody>
          <a:bodyPr lIns="114300" tIns="114300" rIns="114300" bIns="114300" anchor="ctr">
            <a:noAutofit/>
          </a:bodyPr>
          <a:lstStyle>
            <a:defPPr algn="ctr">
              <a:defRPr sz="1800" b="1">
                <a:solidFill>
                  <a:srgbClr val="E2001A"/>
                </a:solidFill>
                <a:latin typeface="Calibri"/>
                <a:ea typeface="Calibri"/>
                <a:cs typeface="Calibri"/>
              </a:defRPr>
            </a:defPPr>
          </a:lstStyle>
          <a:p>
            <a:pPr algn="ctr">
              <a:defRPr sz="1800" b="1">
                <a:solidFill>
                  <a:srgbClr val="E2001A"/>
                </a:solidFill>
                <a:latin typeface="Calibri"/>
                <a:ea typeface="Calibri"/>
                <a:cs typeface="Calibri"/>
              </a:defRPr>
            </a:pPr>
            <a:r>
              <a:rPr sz="1800" b="1">
                <a:solidFill>
                  <a:srgbClr val="E2001A"/>
                </a:solidFill>
                <a:latin typeface="Calibri"/>
                <a:ea typeface="Calibri"/>
                <a:cs typeface="Calibri"/>
              </a:rPr>
              <a:t>Vorab-Gate</a:t>
            </a:r>
          </a:p>
        </p:txBody>
      </p:sp>
      <p:sp>
        <p:nvSpPr>
          <p:cNvPr id="15" name="Rectangle 14">
            <a:extLst>
              <a:ext uri="{FF2B5EF4-FFF2-40B4-BE49-F238E27FC236}">
                <a16:creationId xmlns:a16="http://schemas.microsoft.com/office/drawing/2014/main" id="{D3B466CB-D8ED-44F4-979D-F4D20E0A4A0F}"/>
              </a:ext>
            </a:extLst>
          </p:cNvPr>
          <p:cNvSpPr>
            <a:spLocks noGrp="1"/>
          </p:cNvSpPr>
          <p:nvPr/>
        </p:nvSpPr>
        <p:spPr>
          <a:xfrm>
            <a:off x="666750" y="3810000"/>
            <a:ext cx="3286125" cy="119062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Build und Image-Scans</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hadolint, Trivy und Dockle</a:t>
            </a:r>
          </a:p>
        </p:txBody>
      </p:sp>
      <p:sp>
        <p:nvSpPr>
          <p:cNvPr id="16" name="Rectangle 15">
            <a:extLst>
              <a:ext uri="{FF2B5EF4-FFF2-40B4-BE49-F238E27FC236}">
                <a16:creationId xmlns:a16="http://schemas.microsoft.com/office/drawing/2014/main" id="{11E7698F-20BB-4CED-9BD5-815508F90874}"/>
              </a:ext>
            </a:extLst>
          </p:cNvPr>
          <p:cNvSpPr>
            <a:spLocks noGrp="1"/>
          </p:cNvSpPr>
          <p:nvPr/>
        </p:nvSpPr>
        <p:spPr>
          <a:xfrm>
            <a:off x="4333875" y="3952875"/>
            <a:ext cx="1714500" cy="904875"/>
          </a:xfrm>
          <a:prstGeom prst="rect">
            <a:avLst/>
          </a:prstGeom>
          <a:solidFill>
            <a:srgbClr val="FFFFFF"/>
          </a:solidFill>
          <a:ln w="19050">
            <a:solidFill>
              <a:srgbClr val="E2001A"/>
            </a:solidFill>
          </a:ln>
        </p:spPr>
        <p:txBody>
          <a:bodyPr lIns="114300" tIns="114300" rIns="114300" bIns="114300" anchor="ctr">
            <a:noAutofit/>
          </a:bodyPr>
          <a:lstStyle>
            <a:defPPr algn="ctr">
              <a:defRPr sz="1800" b="1">
                <a:solidFill>
                  <a:srgbClr val="E2001A"/>
                </a:solidFill>
                <a:latin typeface="Calibri"/>
                <a:ea typeface="Calibri"/>
                <a:cs typeface="Calibri"/>
              </a:defRPr>
            </a:defPPr>
          </a:lstStyle>
          <a:p>
            <a:pPr algn="ctr">
              <a:defRPr sz="1800" b="1">
                <a:solidFill>
                  <a:srgbClr val="E2001A"/>
                </a:solidFill>
                <a:latin typeface="Calibri"/>
                <a:ea typeface="Calibri"/>
                <a:cs typeface="Calibri"/>
              </a:defRPr>
            </a:pPr>
            <a:r>
              <a:rPr sz="1800" b="1">
                <a:solidFill>
                  <a:srgbClr val="E2001A"/>
                </a:solidFill>
                <a:latin typeface="Calibri"/>
                <a:ea typeface="Calibri"/>
                <a:cs typeface="Calibri"/>
              </a:rPr>
              <a:t>Image-Gate</a:t>
            </a:r>
          </a:p>
        </p:txBody>
      </p:sp>
      <p:sp>
        <p:nvSpPr>
          <p:cNvPr id="17" name="Rectangle 16">
            <a:extLst>
              <a:ext uri="{FF2B5EF4-FFF2-40B4-BE49-F238E27FC236}">
                <a16:creationId xmlns:a16="http://schemas.microsoft.com/office/drawing/2014/main" id="{74974BDB-1D1F-481B-A853-5DBB19625E71}"/>
              </a:ext>
            </a:extLst>
          </p:cNvPr>
          <p:cNvSpPr>
            <a:spLocks noGrp="1"/>
          </p:cNvSpPr>
          <p:nvPr/>
        </p:nvSpPr>
        <p:spPr>
          <a:xfrm>
            <a:off x="6429375" y="3810000"/>
            <a:ext cx="3048000" cy="119062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Webdienst und ZAP</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Healthcheck, API-Smoke</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passiver OpenAPI-Scan</a:t>
            </a:r>
          </a:p>
        </p:txBody>
      </p:sp>
      <p:sp>
        <p:nvSpPr>
          <p:cNvPr id="18" name="Rectangle 17">
            <a:extLst>
              <a:ext uri="{FF2B5EF4-FFF2-40B4-BE49-F238E27FC236}">
                <a16:creationId xmlns:a16="http://schemas.microsoft.com/office/drawing/2014/main" id="{0CFEC2BE-6C09-48D9-A631-29F2F487C963}"/>
              </a:ext>
            </a:extLst>
          </p:cNvPr>
          <p:cNvSpPr>
            <a:spLocks noGrp="1"/>
          </p:cNvSpPr>
          <p:nvPr/>
        </p:nvSpPr>
        <p:spPr>
          <a:xfrm>
            <a:off x="9858375" y="3952875"/>
            <a:ext cx="1666875" cy="904875"/>
          </a:xfrm>
          <a:prstGeom prst="rect">
            <a:avLst/>
          </a:prstGeom>
          <a:solidFill>
            <a:srgbClr val="FFFFFF"/>
          </a:solidFill>
          <a:ln w="19050">
            <a:solidFill>
              <a:srgbClr val="E2001A"/>
            </a:solidFill>
          </a:ln>
        </p:spPr>
        <p:txBody>
          <a:bodyPr lIns="114300" tIns="114300" rIns="114300" bIns="114300" anchor="ctr">
            <a:noAutofit/>
          </a:bodyPr>
          <a:lstStyle>
            <a:defPPr algn="ctr">
              <a:defRPr sz="1800" b="1">
                <a:solidFill>
                  <a:srgbClr val="E2001A"/>
                </a:solidFill>
                <a:latin typeface="Calibri"/>
                <a:ea typeface="Calibri"/>
                <a:cs typeface="Calibri"/>
              </a:defRPr>
            </a:defPPr>
          </a:lstStyle>
          <a:p>
            <a:pPr algn="ctr">
              <a:defRPr sz="1800" b="1">
                <a:solidFill>
                  <a:srgbClr val="E2001A"/>
                </a:solidFill>
                <a:latin typeface="Calibri"/>
                <a:ea typeface="Calibri"/>
                <a:cs typeface="Calibri"/>
              </a:defRPr>
            </a:pPr>
            <a:r>
              <a:rPr sz="1800" b="1">
                <a:solidFill>
                  <a:srgbClr val="E2001A"/>
                </a:solidFill>
                <a:latin typeface="Calibri"/>
                <a:ea typeface="Calibri"/>
                <a:cs typeface="Calibri"/>
              </a:rPr>
              <a:t>Abschluss-</a:t>
            </a:r>
          </a:p>
          <a:p>
            <a:pPr algn="ctr">
              <a:defRPr sz="1800" b="1">
                <a:solidFill>
                  <a:srgbClr val="E2001A"/>
                </a:solidFill>
                <a:latin typeface="Calibri"/>
                <a:ea typeface="Calibri"/>
                <a:cs typeface="Calibri"/>
              </a:defRPr>
            </a:pPr>
            <a:r>
              <a:rPr sz="1800" b="1">
                <a:solidFill>
                  <a:srgbClr val="E2001A"/>
                </a:solidFill>
                <a:latin typeface="Calibri"/>
                <a:ea typeface="Calibri"/>
                <a:cs typeface="Calibri"/>
              </a:rPr>
              <a:t>Gate</a:t>
            </a:r>
          </a:p>
        </p:txBody>
      </p:sp>
      <p:sp>
        <p:nvSpPr>
          <p:cNvPr id="23" name="Nur PASS führt zum nächsten Abschnitt">
            <a:extLst>
              <a:ext uri="{FF2B5EF4-FFF2-40B4-BE49-F238E27FC236}">
                <a16:creationId xmlns:a16="http://schemas.microsoft.com/office/drawing/2014/main" id="{2EA2741B-324E-4F52-9337-4D3140E4CD53}"/>
              </a:ext>
            </a:extLst>
          </p:cNvPr>
          <p:cNvSpPr>
            <a:spLocks noGrp="1"/>
          </p:cNvSpPr>
          <p:nvPr/>
        </p:nvSpPr>
        <p:spPr>
          <a:xfrm>
            <a:off x="666750" y="5286375"/>
            <a:ext cx="10858500" cy="428625"/>
          </a:xfrm>
          <a:prstGeom prst="rect">
            <a:avLst/>
          </a:prstGeom>
          <a:noFill/>
          <a:ln w="0">
            <a:noFill/>
          </a:ln>
        </p:spPr>
        <p:txBody>
          <a:bodyPr wrap="square" lIns="0" tIns="0" rIns="0" bIns="0" anchor="t">
            <a:noAutofit/>
          </a:bodyPr>
          <a:lstStyle>
            <a:defPPr algn="l">
              <a:defRPr sz="2175" b="1">
                <a:solidFill>
                  <a:srgbClr val="E2001A"/>
                </a:solidFill>
                <a:latin typeface="Calibri"/>
                <a:ea typeface="Calibri"/>
                <a:cs typeface="Calibri"/>
              </a:defRPr>
            </a:defPPr>
          </a:lstStyle>
          <a:p>
            <a:pPr algn="l">
              <a:defRPr sz="2175" b="1">
                <a:solidFill>
                  <a:srgbClr val="E2001A"/>
                </a:solidFill>
                <a:latin typeface="Calibri"/>
                <a:ea typeface="Calibri"/>
                <a:cs typeface="Calibri"/>
              </a:defRPr>
            </a:pPr>
            <a:r>
              <a:rPr sz="2175" b="1">
                <a:solidFill>
                  <a:srgbClr val="E2001A"/>
                </a:solidFill>
                <a:latin typeface="Calibri"/>
                <a:ea typeface="Calibri"/>
                <a:cs typeface="Calibri"/>
              </a:rPr>
              <a:t>Nur PASS führt zum nächsten Abschnitt</a:t>
            </a:r>
          </a:p>
        </p:txBody>
      </p:sp>
      <p:sp>
        <p:nvSpPr>
          <p:cNvPr id="24" name="CLI baut und startet vor dem Vorab-Gate. Ohne HTTP entfällt ">
            <a:extLst>
              <a:ext uri="{FF2B5EF4-FFF2-40B4-BE49-F238E27FC236}">
                <a16:creationId xmlns:a16="http://schemas.microsoft.com/office/drawing/2014/main" id="{79BB949B-F8D9-4291-BF12-6A0A2D6BE722}"/>
              </a:ext>
            </a:extLst>
          </p:cNvPr>
          <p:cNvSpPr>
            <a:spLocks noGrp="1"/>
          </p:cNvSpPr>
          <p:nvPr/>
        </p:nvSpPr>
        <p:spPr>
          <a:xfrm>
            <a:off x="666750" y="5743575"/>
            <a:ext cx="10858500" cy="285750"/>
          </a:xfrm>
          <a:prstGeom prst="rect">
            <a:avLst/>
          </a:prstGeom>
          <a:noFill/>
          <a:ln w="0">
            <a:noFill/>
          </a:ln>
        </p:spPr>
        <p:txBody>
          <a:bodyPr wrap="square" lIns="0" tIns="0" rIns="0" bIns="0" anchor="t">
            <a:noAutofit/>
          </a:bodyPr>
          <a:lstStyle>
            <a:defPPr algn="l">
              <a:defRPr sz="1575" b="0">
                <a:solidFill>
                  <a:srgbClr val="52616A"/>
                </a:solidFill>
                <a:latin typeface="Calibri"/>
                <a:ea typeface="Calibri"/>
                <a:cs typeface="Calibri"/>
              </a:defRPr>
            </a:defPPr>
          </a:lstStyle>
          <a:p>
            <a:pPr algn="l">
              <a:defRPr sz="1575" b="0">
                <a:solidFill>
                  <a:srgbClr val="52616A"/>
                </a:solidFill>
                <a:latin typeface="Calibri"/>
                <a:ea typeface="Calibri"/>
                <a:cs typeface="Calibri"/>
              </a:defRPr>
            </a:pPr>
            <a:r>
              <a:rPr sz="1575" b="0">
                <a:solidFill>
                  <a:srgbClr val="52616A"/>
                </a:solidFill>
                <a:latin typeface="Calibri"/>
                <a:ea typeface="Calibri"/>
                <a:cs typeface="Calibri"/>
              </a:rPr>
              <a:t>CLI baut und startet vor dem Vorab-Gate. Ohne HTTP entfällt ZAP. Abschluss: Reports und Cleanup.</a:t>
            </a:r>
          </a:p>
        </p:txBody>
      </p:sp>
    </p:spTree>
    <p:extLst>
      <p:ext uri="{BB962C8B-B14F-4D97-AF65-F5344CB8AC3E}">
        <p14:creationId xmlns:p14="http://schemas.microsoft.com/office/powerpoint/2010/main" val="15756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8F33E24-858C-425B-819D-5063B3E686E9}"/>
              </a:ext>
            </a:extLst>
          </p:cNvPr>
          <p:cNvPicPr>
            <a:picLocks noChangeAspect="1"/>
          </p:cNvPicPr>
          <p:nvPr/>
        </p:nvPicPr>
        <p:blipFill>
          <a:blip r:embed="rId3"/>
          <a:stretch/>
        </p:blipFill>
        <p:spPr>
          <a:xfrm>
            <a:off x="10325100" y="228600"/>
            <a:ext cx="1295400" cy="693039"/>
          </a:xfrm>
          <a:prstGeom prst="rect">
            <a:avLst/>
          </a:prstGeom>
        </p:spPr>
      </p:pic>
      <p:sp>
        <p:nvSpPr>
          <p:cNvPr id="2" name="Werkzeuge und Bezug zur Vorlesung">
            <a:extLst>
              <a:ext uri="{FF2B5EF4-FFF2-40B4-BE49-F238E27FC236}">
                <a16:creationId xmlns:a16="http://schemas.microsoft.com/office/drawing/2014/main" id="{FDEAA8DF-94ED-4F6B-B09A-4ABD8546C6E7}"/>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Werkzeuge und Bezug zur Vorlesung</a:t>
            </a:r>
          </a:p>
        </p:txBody>
      </p:sp>
      <p:sp>
        <p:nvSpPr>
          <p:cNvPr id="3" name="Rectangle 2">
            <a:extLst>
              <a:ext uri="{FF2B5EF4-FFF2-40B4-BE49-F238E27FC236}">
                <a16:creationId xmlns:a16="http://schemas.microsoft.com/office/drawing/2014/main" id="{AFF3CCD5-59B8-48EF-B996-AA073E7612AF}"/>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Skript S. 32–33, 37–39 und 46 (PDF-Seiten 33–34, 38–40 und 4">
            <a:extLst>
              <a:ext uri="{FF2B5EF4-FFF2-40B4-BE49-F238E27FC236}">
                <a16:creationId xmlns:a16="http://schemas.microsoft.com/office/drawing/2014/main" id="{FCD04846-136A-49A9-85BD-7BC15986787F}"/>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r>
              <a:rPr sz="1200" b="0" dirty="0" err="1">
                <a:solidFill>
                  <a:srgbClr val="52616A"/>
                </a:solidFill>
                <a:latin typeface="Calibri"/>
                <a:ea typeface="Calibri"/>
                <a:cs typeface="Calibri"/>
              </a:rPr>
              <a:t>Skript</a:t>
            </a:r>
            <a:r>
              <a:rPr sz="1200" b="0" dirty="0">
                <a:solidFill>
                  <a:srgbClr val="52616A"/>
                </a:solidFill>
                <a:latin typeface="Calibri"/>
                <a:ea typeface="Calibri"/>
                <a:cs typeface="Calibri"/>
              </a:rPr>
              <a:t> S. 32–33, 37–39 und 46 (PDF-Seiten 33–34, 38–40 und 47)</a:t>
            </a:r>
          </a:p>
        </p:txBody>
      </p:sp>
      <p:sp>
        <p:nvSpPr>
          <p:cNvPr id="5" name="Rectangle 4">
            <a:extLst>
              <a:ext uri="{FF2B5EF4-FFF2-40B4-BE49-F238E27FC236}">
                <a16:creationId xmlns:a16="http://schemas.microsoft.com/office/drawing/2014/main" id="{B64380F8-A977-4A74-A742-67FF5A3E27B8}"/>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DB2D58E0-010D-4A7B-82B6-BCB9FD06A99D}"/>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4">
            <a:extLst>
              <a:ext uri="{FF2B5EF4-FFF2-40B4-BE49-F238E27FC236}">
                <a16:creationId xmlns:a16="http://schemas.microsoft.com/office/drawing/2014/main" id="{D1F9EC16-81DA-4B25-BBDE-A7C8DBA459AD}"/>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4</a:t>
            </a:r>
          </a:p>
        </p:txBody>
      </p:sp>
      <p:graphicFrame>
        <p:nvGraphicFramePr>
          <p:cNvPr id="8" name="Table 7">
            <a:extLst>
              <a:ext uri="{FF2B5EF4-FFF2-40B4-BE49-F238E27FC236}">
                <a16:creationId xmlns:a16="http://schemas.microsoft.com/office/drawing/2014/main" id="{5EF32979-16D6-445D-81E2-ACE01600C3CC}"/>
              </a:ext>
            </a:extLst>
          </p:cNvPr>
          <p:cNvGraphicFramePr/>
          <p:nvPr>
            <p:extLst>
              <p:ext uri="{D42A27DB-BD31-4B8C-83A1-F6EECF244321}">
                <p14:modId xmlns:p14="http://schemas.microsoft.com/office/powerpoint/2010/main" val="945418193"/>
              </p:ext>
            </p:extLst>
          </p:nvPr>
        </p:nvGraphicFramePr>
        <p:xfrm>
          <a:off x="666749" y="1762125"/>
          <a:ext cx="10858499" cy="3714750"/>
        </p:xfrm>
        <a:graphic>
          <a:graphicData uri="http://schemas.openxmlformats.org/drawingml/2006/table">
            <a:tbl>
              <a:tblPr/>
              <a:tblGrid>
                <a:gridCol w="5024082">
                  <a:extLst>
                    <a:ext uri="{9D8B030D-6E8A-4147-A177-3AD203B41FA5}">
                      <a16:colId xmlns:a16="http://schemas.microsoft.com/office/drawing/2014/main" val="20000"/>
                    </a:ext>
                  </a:extLst>
                </a:gridCol>
                <a:gridCol w="5834417">
                  <a:extLst>
                    <a:ext uri="{9D8B030D-6E8A-4147-A177-3AD203B41FA5}">
                      <a16:colId xmlns:a16="http://schemas.microsoft.com/office/drawing/2014/main" val="20001"/>
                    </a:ext>
                  </a:extLst>
                </a:gridCol>
              </a:tblGrid>
              <a:tr h="619125">
                <a:tc>
                  <a:txBody>
                    <a:bodyPr/>
                    <a:lstStyle/>
                    <a:p>
                      <a:r>
                        <a:rPr sz="1800" b="1">
                          <a:solidFill>
                            <a:srgbClr val="FFFFFF"/>
                          </a:solidFill>
                          <a:latin typeface="Calibri"/>
                          <a:ea typeface="Calibri"/>
                          <a:cs typeface="Calibri"/>
                        </a:rPr>
                        <a:t>Prüfbereich</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00" b="1" dirty="0" err="1">
                          <a:solidFill>
                            <a:srgbClr val="FFFFFF"/>
                          </a:solidFill>
                          <a:latin typeface="Calibri"/>
                          <a:ea typeface="Calibri"/>
                          <a:cs typeface="Calibri"/>
                        </a:rPr>
                        <a:t>Unsere</a:t>
                      </a:r>
                      <a:r>
                        <a:rPr sz="1800" b="1" dirty="0">
                          <a:solidFill>
                            <a:srgbClr val="FFFFFF"/>
                          </a:solidFill>
                          <a:latin typeface="Calibri"/>
                          <a:ea typeface="Calibri"/>
                          <a:cs typeface="Calibri"/>
                        </a:rPr>
                        <a:t> </a:t>
                      </a:r>
                      <a:r>
                        <a:rPr sz="1800" b="1" dirty="0" err="1">
                          <a:solidFill>
                            <a:srgbClr val="FFFFFF"/>
                          </a:solidFill>
                          <a:latin typeface="Calibri"/>
                          <a:ea typeface="Calibri"/>
                          <a:cs typeface="Calibri"/>
                        </a:rPr>
                        <a:t>Werkzeuge</a:t>
                      </a:r>
                      <a:endParaRPr sz="1800" b="1" dirty="0">
                        <a:solidFill>
                          <a:srgbClr val="FFFFFF"/>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619125">
                <a:tc>
                  <a:txBody>
                    <a:bodyPr/>
                    <a:lstStyle/>
                    <a:p>
                      <a:r>
                        <a:rPr sz="1800" b="0">
                          <a:solidFill>
                            <a:srgbClr val="263640"/>
                          </a:solidFill>
                          <a:latin typeface="Calibri"/>
                          <a:ea typeface="Calibri"/>
                          <a:cs typeface="Calibri"/>
                        </a:rPr>
                        <a:t>Eigener Code / SAST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a:solidFill>
                            <a:srgbClr val="263640"/>
                          </a:solidFill>
                          <a:latin typeface="Calibri"/>
                          <a:ea typeface="Calibri"/>
                          <a:cs typeface="Calibri"/>
                        </a:rPr>
                        <a:t>Semgrep, Bandit</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619125">
                <a:tc>
                  <a:txBody>
                    <a:bodyPr/>
                    <a:lstStyle/>
                    <a:p>
                      <a:r>
                        <a:rPr sz="1800" b="0">
                          <a:solidFill>
                            <a:srgbClr val="263640"/>
                          </a:solidFill>
                          <a:latin typeface="Calibri"/>
                          <a:ea typeface="Calibri"/>
                          <a:cs typeface="Calibri"/>
                        </a:rPr>
                        <a:t>Komponenten / SCA</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00" b="0">
                          <a:solidFill>
                            <a:srgbClr val="263640"/>
                          </a:solidFill>
                          <a:latin typeface="Calibri"/>
                          <a:ea typeface="Calibri"/>
                          <a:cs typeface="Calibri"/>
                        </a:rPr>
                        <a:t>Trivy-FS</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619125">
                <a:tc>
                  <a:txBody>
                    <a:bodyPr/>
                    <a:lstStyle/>
                    <a:p>
                      <a:r>
                        <a:rPr sz="1800" b="0">
                          <a:solidFill>
                            <a:srgbClr val="263640"/>
                          </a:solidFill>
                          <a:latin typeface="Calibri"/>
                          <a:ea typeface="Calibri"/>
                          <a:cs typeface="Calibri"/>
                        </a:rPr>
                        <a:t>Container und Build</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a:solidFill>
                            <a:srgbClr val="263640"/>
                          </a:solidFill>
                          <a:latin typeface="Calibri"/>
                          <a:ea typeface="Calibri"/>
                          <a:cs typeface="Calibri"/>
                        </a:rPr>
                        <a:t>Trivy, hadolint, Dockle</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r h="619125">
                <a:tc>
                  <a:txBody>
                    <a:bodyPr/>
                    <a:lstStyle/>
                    <a:p>
                      <a:r>
                        <a:rPr sz="1800" b="0">
                          <a:solidFill>
                            <a:srgbClr val="263640"/>
                          </a:solidFill>
                          <a:latin typeface="Calibri"/>
                          <a:ea typeface="Calibri"/>
                          <a:cs typeface="Calibri"/>
                        </a:rPr>
                        <a:t>Laufende Webanwendung</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00" b="0">
                          <a:solidFill>
                            <a:srgbClr val="263640"/>
                          </a:solidFill>
                          <a:latin typeface="Calibri"/>
                          <a:ea typeface="Calibri"/>
                          <a:cs typeface="Calibri"/>
                        </a:rPr>
                        <a:t>OWASP ZAP, passiv</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r h="619125">
                <a:tc>
                  <a:txBody>
                    <a:bodyPr/>
                    <a:lstStyle/>
                    <a:p>
                      <a:r>
                        <a:rPr sz="1800" b="0" dirty="0">
                          <a:solidFill>
                            <a:srgbClr val="263640"/>
                          </a:solidFill>
                          <a:latin typeface="Calibri"/>
                          <a:ea typeface="Calibri"/>
                          <a:cs typeface="Calibri"/>
                        </a:rPr>
                        <a:t>Secrets und </a:t>
                      </a:r>
                      <a:r>
                        <a:rPr sz="1800" b="0" dirty="0" err="1">
                          <a:solidFill>
                            <a:srgbClr val="263640"/>
                          </a:solidFill>
                          <a:latin typeface="Calibri"/>
                          <a:ea typeface="Calibri"/>
                          <a:cs typeface="Calibri"/>
                        </a:rPr>
                        <a:t>Inventar</a:t>
                      </a:r>
                      <a:endParaRPr sz="1800" b="0" dirty="0">
                        <a:solidFill>
                          <a:srgbClr val="263640"/>
                        </a:solidFill>
                        <a:latin typeface="Calibri"/>
                        <a:ea typeface="Calibri"/>
                        <a:cs typeface="Calibri"/>
                      </a:endParaRP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dirty="0">
                          <a:solidFill>
                            <a:srgbClr val="263640"/>
                          </a:solidFill>
                          <a:latin typeface="Calibri"/>
                          <a:ea typeface="Calibri"/>
                          <a:cs typeface="Calibri"/>
                        </a:rPr>
                        <a:t>Gitleaks, </a:t>
                      </a:r>
                      <a:r>
                        <a:rPr sz="1800" b="0" dirty="0" err="1">
                          <a:solidFill>
                            <a:srgbClr val="263640"/>
                          </a:solidFill>
                          <a:latin typeface="Calibri"/>
                          <a:ea typeface="Calibri"/>
                          <a:cs typeface="Calibri"/>
                        </a:rPr>
                        <a:t>Syft</a:t>
                      </a:r>
                      <a:r>
                        <a:rPr sz="1800" b="0" dirty="0">
                          <a:solidFill>
                            <a:srgbClr val="263640"/>
                          </a:solidFill>
                          <a:latin typeface="Calibri"/>
                          <a:ea typeface="Calibri"/>
                          <a:cs typeface="Calibri"/>
                        </a:rPr>
                        <a:t> / </a:t>
                      </a:r>
                      <a:r>
                        <a:rPr sz="1800" b="0" dirty="0" err="1">
                          <a:solidFill>
                            <a:srgbClr val="263640"/>
                          </a:solidFill>
                          <a:latin typeface="Calibri"/>
                          <a:ea typeface="Calibri"/>
                          <a:cs typeface="Calibri"/>
                        </a:rPr>
                        <a:t>CycloneDX</a:t>
                      </a:r>
                      <a:endParaRPr sz="1800"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5"/>
                  </a:ext>
                </a:extLst>
              </a:tr>
            </a:tbl>
          </a:graphicData>
        </a:graphic>
      </p:graphicFrame>
      <p:sp>
        <p:nvSpPr>
          <p:cNvPr id="9" name="Syft liefert eine SBOM. Ein Inventar ersetzt keinen Schwachs">
            <a:extLst>
              <a:ext uri="{FF2B5EF4-FFF2-40B4-BE49-F238E27FC236}">
                <a16:creationId xmlns:a16="http://schemas.microsoft.com/office/drawing/2014/main" id="{8FD998F0-1FFB-4FA4-AAB1-1C71B1E59C98}"/>
              </a:ext>
            </a:extLst>
          </p:cNvPr>
          <p:cNvSpPr>
            <a:spLocks noGrp="1"/>
          </p:cNvSpPr>
          <p:nvPr/>
        </p:nvSpPr>
        <p:spPr>
          <a:xfrm>
            <a:off x="666750" y="5705475"/>
            <a:ext cx="10858500" cy="333375"/>
          </a:xfrm>
          <a:prstGeom prst="rect">
            <a:avLst/>
          </a:prstGeom>
          <a:noFill/>
          <a:ln w="0">
            <a:noFill/>
          </a:ln>
        </p:spPr>
        <p:txBody>
          <a:bodyPr wrap="square" lIns="0" tIns="0" rIns="0" bIns="0" anchor="t">
            <a:noAutofit/>
          </a:bodyPr>
          <a:lstStyle>
            <a:defPPr algn="l">
              <a:defRPr sz="1800" b="0">
                <a:solidFill>
                  <a:srgbClr val="52616A"/>
                </a:solidFill>
                <a:latin typeface="Calibri"/>
                <a:ea typeface="Calibri"/>
                <a:cs typeface="Calibri"/>
              </a:defRPr>
            </a:defPPr>
          </a:lstStyle>
          <a:p>
            <a:pPr algn="l">
              <a:defRPr sz="1800" b="0">
                <a:solidFill>
                  <a:srgbClr val="52616A"/>
                </a:solidFill>
                <a:latin typeface="Calibri"/>
                <a:ea typeface="Calibri"/>
                <a:cs typeface="Calibri"/>
              </a:defRPr>
            </a:pPr>
            <a:r>
              <a:rPr sz="1800" b="0" dirty="0" err="1">
                <a:solidFill>
                  <a:srgbClr val="52616A"/>
                </a:solidFill>
                <a:latin typeface="Calibri"/>
                <a:ea typeface="Calibri"/>
                <a:cs typeface="Calibri"/>
              </a:rPr>
              <a:t>Syft</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liefert</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eine</a:t>
            </a:r>
            <a:r>
              <a:rPr sz="1800" b="0" dirty="0">
                <a:solidFill>
                  <a:srgbClr val="52616A"/>
                </a:solidFill>
                <a:latin typeface="Calibri"/>
                <a:ea typeface="Calibri"/>
                <a:cs typeface="Calibri"/>
              </a:rPr>
              <a:t> SBOM. Ein </a:t>
            </a:r>
            <a:r>
              <a:rPr sz="1800" b="0" dirty="0" err="1">
                <a:solidFill>
                  <a:srgbClr val="52616A"/>
                </a:solidFill>
                <a:latin typeface="Calibri"/>
                <a:ea typeface="Calibri"/>
                <a:cs typeface="Calibri"/>
              </a:rPr>
              <a:t>Inventar</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ersetzt</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keinen</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Schwachstellenscan</a:t>
            </a:r>
            <a:r>
              <a:rPr sz="1800" b="0" dirty="0">
                <a:solidFill>
                  <a:srgbClr val="52616A"/>
                </a:solidFill>
                <a:latin typeface="Calibri"/>
                <a:ea typeface="Calibri"/>
                <a:cs typeface="Calibri"/>
              </a:rPr>
              <a:t>.</a:t>
            </a:r>
          </a:p>
        </p:txBody>
      </p:sp>
    </p:spTree>
    <p:extLst>
      <p:ext uri="{BB962C8B-B14F-4D97-AF65-F5344CB8AC3E}">
        <p14:creationId xmlns:p14="http://schemas.microsoft.com/office/powerpoint/2010/main" val="2141613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6E200-9A6E-8C30-30B0-DDB70516FD49}"/>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76F6F3F3-C98F-402F-342C-50C8D09243B9}"/>
              </a:ext>
            </a:extLst>
          </p:cNvPr>
          <p:cNvPicPr>
            <a:picLocks noChangeAspect="1"/>
          </p:cNvPicPr>
          <p:nvPr/>
        </p:nvPicPr>
        <p:blipFill>
          <a:blip r:embed="rId3"/>
          <a:stretch/>
        </p:blipFill>
        <p:spPr>
          <a:xfrm>
            <a:off x="10325100" y="228600"/>
            <a:ext cx="1295400" cy="693039"/>
          </a:xfrm>
          <a:prstGeom prst="rect">
            <a:avLst/>
          </a:prstGeom>
        </p:spPr>
      </p:pic>
      <p:sp>
        <p:nvSpPr>
          <p:cNvPr id="2" name="Demo: Code, Finding und Gateentscheidung">
            <a:extLst>
              <a:ext uri="{FF2B5EF4-FFF2-40B4-BE49-F238E27FC236}">
                <a16:creationId xmlns:a16="http://schemas.microsoft.com/office/drawing/2014/main" id="{BE1B928D-55E1-C7C6-443C-AFD327A218BF}"/>
              </a:ext>
            </a:extLst>
          </p:cNvPr>
          <p:cNvSpPr>
            <a:spLocks noGrp="1"/>
          </p:cNvSpPr>
          <p:nvPr/>
        </p:nvSpPr>
        <p:spPr>
          <a:xfrm>
            <a:off x="2524125" y="3381375"/>
            <a:ext cx="10572750" cy="3095625"/>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dirty="0">
                <a:solidFill>
                  <a:srgbClr val="52616A"/>
                </a:solidFill>
                <a:latin typeface="Calibri"/>
                <a:ea typeface="Calibri"/>
                <a:cs typeface="Calibri"/>
              </a:rPr>
              <a:t>Demo: Code, Finding und </a:t>
            </a:r>
            <a:r>
              <a:rPr sz="3150" b="0" dirty="0" err="1">
                <a:solidFill>
                  <a:srgbClr val="52616A"/>
                </a:solidFill>
                <a:latin typeface="Calibri"/>
                <a:ea typeface="Calibri"/>
                <a:cs typeface="Calibri"/>
              </a:rPr>
              <a:t>Gateentscheidung</a:t>
            </a:r>
            <a:endParaRPr sz="3150" b="0" dirty="0">
              <a:solidFill>
                <a:srgbClr val="52616A"/>
              </a:solidFill>
              <a:latin typeface="Calibri"/>
              <a:ea typeface="Calibri"/>
              <a:cs typeface="Calibri"/>
            </a:endParaRPr>
          </a:p>
        </p:txBody>
      </p:sp>
      <p:sp>
        <p:nvSpPr>
          <p:cNvPr id="4" name="Befehle im Verzeichnis devsecops-pipeline; vollständige Nach">
            <a:extLst>
              <a:ext uri="{FF2B5EF4-FFF2-40B4-BE49-F238E27FC236}">
                <a16:creationId xmlns:a16="http://schemas.microsoft.com/office/drawing/2014/main" id="{2B854866-5F3F-EDE0-A9CC-59DFF7889C41}"/>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4C608F54-61A5-1134-2C9F-B515B44D2F33}"/>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32AC5134-2062-B510-7342-5042AAF901AD}"/>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3">
            <a:extLst>
              <a:ext uri="{FF2B5EF4-FFF2-40B4-BE49-F238E27FC236}">
                <a16:creationId xmlns:a16="http://schemas.microsoft.com/office/drawing/2014/main" id="{490E3AA1-4AE0-63BD-2CAC-BFFD2652D0BC}"/>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13</a:t>
            </a:r>
          </a:p>
        </p:txBody>
      </p:sp>
      <p:sp>
        <p:nvSpPr>
          <p:cNvPr id="8" name="1  Automatischen Push-Lauf in GitHub Actions zeigen">
            <a:extLst>
              <a:ext uri="{FF2B5EF4-FFF2-40B4-BE49-F238E27FC236}">
                <a16:creationId xmlns:a16="http://schemas.microsoft.com/office/drawing/2014/main" id="{E13EBD2A-177E-D4C0-0E48-2CADE199824B}"/>
              </a:ext>
            </a:extLst>
          </p:cNvPr>
          <p:cNvSpPr>
            <a:spLocks noGrp="1"/>
          </p:cNvSpPr>
          <p:nvPr/>
        </p:nvSpPr>
        <p:spPr>
          <a:xfrm>
            <a:off x="666750" y="1809750"/>
            <a:ext cx="10858500" cy="533400"/>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endParaRPr sz="2250" b="1" dirty="0">
              <a:solidFill>
                <a:srgbClr val="52616A"/>
              </a:solidFill>
              <a:latin typeface="Calibri"/>
              <a:ea typeface="Calibri"/>
              <a:cs typeface="Calibri"/>
            </a:endParaRPr>
          </a:p>
        </p:txBody>
      </p:sp>
      <p:sp>
        <p:nvSpPr>
          <p:cNvPr id="9" name="2  Dateidienst unsicher und bereinigt vergleichen">
            <a:extLst>
              <a:ext uri="{FF2B5EF4-FFF2-40B4-BE49-F238E27FC236}">
                <a16:creationId xmlns:a16="http://schemas.microsoft.com/office/drawing/2014/main" id="{0AB51692-5B17-F998-01FE-8B98A6E10827}"/>
              </a:ext>
            </a:extLst>
          </p:cNvPr>
          <p:cNvSpPr>
            <a:spLocks noGrp="1"/>
          </p:cNvSpPr>
          <p:nvPr/>
        </p:nvSpPr>
        <p:spPr>
          <a:xfrm>
            <a:off x="666750" y="2543175"/>
            <a:ext cx="10858500" cy="457200"/>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endParaRPr sz="2250" b="1" dirty="0">
              <a:solidFill>
                <a:srgbClr val="52616A"/>
              </a:solidFill>
              <a:latin typeface="Calibri"/>
              <a:ea typeface="Calibri"/>
              <a:cs typeface="Calibri"/>
            </a:endParaRPr>
          </a:p>
        </p:txBody>
      </p:sp>
      <p:sp>
        <p:nvSpPr>
          <p:cNvPr id="10" name="python scripts/pipeline.py workloads/03-container-service/vu">
            <a:extLst>
              <a:ext uri="{FF2B5EF4-FFF2-40B4-BE49-F238E27FC236}">
                <a16:creationId xmlns:a16="http://schemas.microsoft.com/office/drawing/2014/main" id="{1D0FA64A-47FF-5092-9881-DC885DEF7EA4}"/>
              </a:ext>
            </a:extLst>
          </p:cNvPr>
          <p:cNvSpPr>
            <a:spLocks noGrp="1"/>
          </p:cNvSpPr>
          <p:nvPr/>
        </p:nvSpPr>
        <p:spPr>
          <a:xfrm>
            <a:off x="666750" y="3200400"/>
            <a:ext cx="10858500" cy="857250"/>
          </a:xfrm>
          <a:prstGeom prst="rect">
            <a:avLst/>
          </a:prstGeom>
          <a:noFill/>
          <a:ln w="0">
            <a:noFill/>
          </a:ln>
        </p:spPr>
        <p:txBody>
          <a:bodyPr wrap="square" lIns="0" tIns="0" rIns="0" bIns="0" anchor="t">
            <a:noAutofit/>
          </a:bodyPr>
          <a:lstStyle>
            <a:defPPr algn="l">
              <a:defRPr sz="1725" b="0">
                <a:solidFill>
                  <a:srgbClr val="263640"/>
                </a:solidFill>
                <a:latin typeface="Consolas"/>
                <a:ea typeface="Consolas"/>
                <a:cs typeface="Consolas"/>
              </a:defRPr>
            </a:defPPr>
          </a:lstStyle>
          <a:p>
            <a:pPr algn="l">
              <a:defRPr sz="1725" b="0">
                <a:solidFill>
                  <a:srgbClr val="263640"/>
                </a:solidFill>
                <a:latin typeface="Consolas"/>
                <a:ea typeface="Consolas"/>
                <a:cs typeface="Consolas"/>
              </a:defRPr>
            </a:pPr>
            <a:endParaRPr sz="1725" b="0" dirty="0">
              <a:solidFill>
                <a:srgbClr val="263640"/>
              </a:solidFill>
              <a:latin typeface="Consolas"/>
              <a:ea typeface="Consolas"/>
              <a:cs typeface="Consolas"/>
            </a:endParaRPr>
          </a:p>
        </p:txBody>
      </p:sp>
      <p:sp>
        <p:nvSpPr>
          <p:cNvPr id="11" name="3  Bericht und Gate-Datei öffnen">
            <a:extLst>
              <a:ext uri="{FF2B5EF4-FFF2-40B4-BE49-F238E27FC236}">
                <a16:creationId xmlns:a16="http://schemas.microsoft.com/office/drawing/2014/main" id="{7A0059C9-7D53-5312-307B-1C9D7ABC29E1}"/>
              </a:ext>
            </a:extLst>
          </p:cNvPr>
          <p:cNvSpPr>
            <a:spLocks noGrp="1"/>
          </p:cNvSpPr>
          <p:nvPr/>
        </p:nvSpPr>
        <p:spPr>
          <a:xfrm>
            <a:off x="666750" y="4343400"/>
            <a:ext cx="10858500" cy="457200"/>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endParaRPr sz="2250" b="1" dirty="0">
              <a:solidFill>
                <a:srgbClr val="52616A"/>
              </a:solidFill>
              <a:latin typeface="Calibri"/>
              <a:ea typeface="Calibri"/>
              <a:cs typeface="Calibri"/>
            </a:endParaRPr>
          </a:p>
        </p:txBody>
      </p:sp>
      <p:sp>
        <p:nvSpPr>
          <p:cNvPr id="12" name="run.json erklärt den Ablauf, raw/ zeigt den Toolbefund, gate">
            <a:extLst>
              <a:ext uri="{FF2B5EF4-FFF2-40B4-BE49-F238E27FC236}">
                <a16:creationId xmlns:a16="http://schemas.microsoft.com/office/drawing/2014/main" id="{DB4EDF04-739D-36ED-03E7-0F32B991C99C}"/>
              </a:ext>
            </a:extLst>
          </p:cNvPr>
          <p:cNvSpPr>
            <a:spLocks noGrp="1"/>
          </p:cNvSpPr>
          <p:nvPr/>
        </p:nvSpPr>
        <p:spPr>
          <a:xfrm>
            <a:off x="666750" y="4962525"/>
            <a:ext cx="10858500" cy="685800"/>
          </a:xfrm>
          <a:prstGeom prst="rect">
            <a:avLst/>
          </a:prstGeom>
          <a:noFill/>
          <a:ln w="0">
            <a:noFill/>
          </a:ln>
        </p:spPr>
        <p:txBody>
          <a:bodyPr wrap="square" lIns="0" tIns="0" rIns="0" bIns="0" anchor="t">
            <a:noAutofit/>
          </a:bodyPr>
          <a:lstStyle>
            <a:defPPr algn="l">
              <a:defRPr sz="1950" b="0">
                <a:solidFill>
                  <a:srgbClr val="263640"/>
                </a:solidFill>
                <a:latin typeface="Calibri"/>
                <a:ea typeface="Calibri"/>
                <a:cs typeface="Calibri"/>
              </a:defRPr>
            </a:defPPr>
          </a:lstStyle>
          <a:p>
            <a:pPr algn="l">
              <a:defRPr sz="1950" b="0">
                <a:solidFill>
                  <a:srgbClr val="263640"/>
                </a:solidFill>
                <a:latin typeface="Calibri"/>
                <a:ea typeface="Calibri"/>
                <a:cs typeface="Calibri"/>
              </a:defRPr>
            </a:pPr>
            <a:endParaRPr sz="1950" b="0" dirty="0">
              <a:solidFill>
                <a:srgbClr val="263640"/>
              </a:solidFill>
              <a:latin typeface="Calibri"/>
              <a:ea typeface="Calibri"/>
              <a:cs typeface="Calibri"/>
            </a:endParaRPr>
          </a:p>
        </p:txBody>
      </p:sp>
      <p:sp>
        <p:nvSpPr>
          <p:cNvPr id="13" name="Demo-Job grün: vulnerable wird abgelehnt, fixed besteht die ">
            <a:extLst>
              <a:ext uri="{FF2B5EF4-FFF2-40B4-BE49-F238E27FC236}">
                <a16:creationId xmlns:a16="http://schemas.microsoft.com/office/drawing/2014/main" id="{7AE1C36A-5210-D9D2-EC60-B146F45C8C05}"/>
              </a:ext>
            </a:extLst>
          </p:cNvPr>
          <p:cNvSpPr>
            <a:spLocks noGrp="1"/>
          </p:cNvSpPr>
          <p:nvPr/>
        </p:nvSpPr>
        <p:spPr>
          <a:xfrm>
            <a:off x="666750" y="5619750"/>
            <a:ext cx="10858500" cy="361950"/>
          </a:xfrm>
          <a:prstGeom prst="rect">
            <a:avLst/>
          </a:prstGeom>
          <a:noFill/>
          <a:ln w="0">
            <a:noFill/>
          </a:ln>
        </p:spPr>
        <p:txBody>
          <a:bodyPr wrap="square" lIns="0" tIns="0" rIns="0" bIns="0" anchor="t">
            <a:noAutofit/>
          </a:bodyPr>
          <a:lstStyle>
            <a:defPPr algn="l">
              <a:defRPr sz="1875" b="1">
                <a:solidFill>
                  <a:srgbClr val="E2001A"/>
                </a:solidFill>
                <a:latin typeface="Calibri"/>
                <a:ea typeface="Calibri"/>
                <a:cs typeface="Calibri"/>
              </a:defRPr>
            </a:defPPr>
          </a:lstStyle>
          <a:p>
            <a:pPr algn="l">
              <a:defRPr sz="1875" b="1">
                <a:solidFill>
                  <a:srgbClr val="E2001A"/>
                </a:solidFill>
                <a:latin typeface="Calibri"/>
                <a:ea typeface="Calibri"/>
                <a:cs typeface="Calibri"/>
              </a:defRPr>
            </a:pPr>
            <a:endParaRPr sz="1875" b="1" dirty="0">
              <a:solidFill>
                <a:srgbClr val="E2001A"/>
              </a:solidFill>
              <a:latin typeface="Calibri"/>
              <a:ea typeface="Calibri"/>
              <a:cs typeface="Calibri"/>
            </a:endParaRPr>
          </a:p>
        </p:txBody>
      </p:sp>
    </p:spTree>
    <p:extLst>
      <p:ext uri="{BB962C8B-B14F-4D97-AF65-F5344CB8AC3E}">
        <p14:creationId xmlns:p14="http://schemas.microsoft.com/office/powerpoint/2010/main" val="3577525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5063CB9-DF56-4192-978C-9F775C8C39F1}"/>
              </a:ext>
            </a:extLst>
          </p:cNvPr>
          <p:cNvPicPr>
            <a:picLocks noChangeAspect="1"/>
          </p:cNvPicPr>
          <p:nvPr/>
        </p:nvPicPr>
        <p:blipFill>
          <a:blip r:embed="rId3"/>
          <a:stretch/>
        </p:blipFill>
        <p:spPr>
          <a:xfrm>
            <a:off x="10325100" y="228600"/>
            <a:ext cx="1295400" cy="693039"/>
          </a:xfrm>
          <a:prstGeom prst="rect">
            <a:avLst/>
          </a:prstGeom>
        </p:spPr>
      </p:pic>
      <p:sp>
        <p:nvSpPr>
          <p:cNvPr id="2" name="Reserve: vollständige Gate-Matrix">
            <a:extLst>
              <a:ext uri="{FF2B5EF4-FFF2-40B4-BE49-F238E27FC236}">
                <a16:creationId xmlns:a16="http://schemas.microsoft.com/office/drawing/2014/main" id="{8065BA01-18C5-4B67-AE78-4C719769AA86}"/>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lang="en-US" sz="3150" dirty="0" err="1">
                <a:solidFill>
                  <a:srgbClr val="52616A"/>
                </a:solidFill>
                <a:latin typeface="Calibri"/>
                <a:ea typeface="Calibri"/>
                <a:cs typeface="Calibri"/>
              </a:rPr>
              <a:t>V</a:t>
            </a:r>
            <a:r>
              <a:rPr sz="3150" b="0" dirty="0" err="1">
                <a:solidFill>
                  <a:srgbClr val="52616A"/>
                </a:solidFill>
                <a:latin typeface="Calibri"/>
                <a:ea typeface="Calibri"/>
                <a:cs typeface="Calibri"/>
              </a:rPr>
              <a:t>ollständige</a:t>
            </a:r>
            <a:r>
              <a:rPr sz="3150" b="0" dirty="0">
                <a:solidFill>
                  <a:srgbClr val="52616A"/>
                </a:solidFill>
                <a:latin typeface="Calibri"/>
                <a:ea typeface="Calibri"/>
                <a:cs typeface="Calibri"/>
              </a:rPr>
              <a:t> Gate-Matrix</a:t>
            </a:r>
          </a:p>
        </p:txBody>
      </p:sp>
      <p:sp>
        <p:nvSpPr>
          <p:cNvPr id="3" name="Rectangle 2">
            <a:extLst>
              <a:ext uri="{FF2B5EF4-FFF2-40B4-BE49-F238E27FC236}">
                <a16:creationId xmlns:a16="http://schemas.microsoft.com/office/drawing/2014/main" id="{01EFE864-B5FC-46B3-883A-5F2A782A9E49}"/>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policy/thresholds.yaml; technische Fehler führen unabhängig ">
            <a:extLst>
              <a:ext uri="{FF2B5EF4-FFF2-40B4-BE49-F238E27FC236}">
                <a16:creationId xmlns:a16="http://schemas.microsoft.com/office/drawing/2014/main" id="{0392C0D4-4425-4A76-A635-2A92344B796A}"/>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62DBAF80-2B91-405B-AA46-A13B74C4120E}"/>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8B644FA7-AA04-410E-AA9D-917B5A5591D8}"/>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Anhang 1">
            <a:extLst>
              <a:ext uri="{FF2B5EF4-FFF2-40B4-BE49-F238E27FC236}">
                <a16:creationId xmlns:a16="http://schemas.microsoft.com/office/drawing/2014/main" id="{225119B6-11A4-4252-BFED-3C23F364FEF3}"/>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Anhang 1</a:t>
            </a:r>
          </a:p>
        </p:txBody>
      </p:sp>
      <p:graphicFrame>
        <p:nvGraphicFramePr>
          <p:cNvPr id="8" name="Table 7">
            <a:extLst>
              <a:ext uri="{FF2B5EF4-FFF2-40B4-BE49-F238E27FC236}">
                <a16:creationId xmlns:a16="http://schemas.microsoft.com/office/drawing/2014/main" id="{9321CCF5-29BB-408F-B0C9-5C9450E8F914}"/>
              </a:ext>
            </a:extLst>
          </p:cNvPr>
          <p:cNvGraphicFramePr/>
          <p:nvPr/>
        </p:nvGraphicFramePr>
        <p:xfrm>
          <a:off x="666750" y="1762125"/>
          <a:ext cx="10858500" cy="3762374"/>
        </p:xfrm>
        <a:graphic>
          <a:graphicData uri="http://schemas.openxmlformats.org/drawingml/2006/table">
            <a:tbl>
              <a:tblPr/>
              <a:tblGrid>
                <a:gridCol w="2476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gridCol w="2095500">
                  <a:extLst>
                    <a:ext uri="{9D8B030D-6E8A-4147-A177-3AD203B41FA5}">
                      <a16:colId xmlns:a16="http://schemas.microsoft.com/office/drawing/2014/main" val="20004"/>
                    </a:ext>
                  </a:extLst>
                </a:gridCol>
              </a:tblGrid>
              <a:tr h="537482">
                <a:tc>
                  <a:txBody>
                    <a:bodyPr/>
                    <a:lstStyle/>
                    <a:p>
                      <a:r>
                        <a:rPr sz="1875" b="1">
                          <a:solidFill>
                            <a:srgbClr val="FFFFFF"/>
                          </a:solidFill>
                          <a:latin typeface="Calibri"/>
                          <a:ea typeface="Calibri"/>
                          <a:cs typeface="Calibri"/>
                        </a:rPr>
                        <a:t>Klasse</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75" b="1">
                          <a:solidFill>
                            <a:srgbClr val="FFFFFF"/>
                          </a:solidFill>
                          <a:latin typeface="Calibri"/>
                          <a:ea typeface="Calibri"/>
                          <a:cs typeface="Calibri"/>
                        </a:rPr>
                        <a:t>CRITICAL</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75" b="1">
                          <a:solidFill>
                            <a:srgbClr val="FFFFFF"/>
                          </a:solidFill>
                          <a:latin typeface="Calibri"/>
                          <a:ea typeface="Calibri"/>
                          <a:cs typeface="Calibri"/>
                        </a:rPr>
                        <a:t>HIGH</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75" b="1">
                          <a:solidFill>
                            <a:srgbClr val="FFFFFF"/>
                          </a:solidFill>
                          <a:latin typeface="Calibri"/>
                          <a:ea typeface="Calibri"/>
                          <a:cs typeface="Calibri"/>
                        </a:rPr>
                        <a:t>MEDIUM</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75" b="1">
                          <a:solidFill>
                            <a:srgbClr val="FFFFFF"/>
                          </a:solidFill>
                          <a:latin typeface="Calibri"/>
                          <a:ea typeface="Calibri"/>
                          <a:cs typeface="Calibri"/>
                        </a:rPr>
                        <a:t>LOW / 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537482">
                <a:tc>
                  <a:txBody>
                    <a:bodyPr/>
                    <a:lstStyle/>
                    <a:p>
                      <a:r>
                        <a:rPr sz="1875" b="0">
                          <a:solidFill>
                            <a:srgbClr val="263640"/>
                          </a:solidFill>
                          <a:latin typeface="Calibri"/>
                          <a:ea typeface="Calibri"/>
                          <a:cs typeface="Calibri"/>
                        </a:rPr>
                        <a:t>Secrets</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537482">
                <a:tc>
                  <a:txBody>
                    <a:bodyPr/>
                    <a:lstStyle/>
                    <a:p>
                      <a:r>
                        <a:rPr sz="1875" b="0">
                          <a:solidFill>
                            <a:srgbClr val="263640"/>
                          </a:solidFill>
                          <a:latin typeface="Calibri"/>
                          <a:ea typeface="Calibri"/>
                          <a:cs typeface="Calibri"/>
                        </a:rPr>
                        <a:t>SAST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537482">
                <a:tc>
                  <a:txBody>
                    <a:bodyPr/>
                    <a:lstStyle/>
                    <a:p>
                      <a:r>
                        <a:rPr sz="1875" b="0">
                          <a:solidFill>
                            <a:srgbClr val="263640"/>
                          </a:solidFill>
                          <a:latin typeface="Calibri"/>
                          <a:ea typeface="Calibri"/>
                          <a:cs typeface="Calibri"/>
                        </a:rPr>
                        <a:t>SCA</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r h="537482">
                <a:tc>
                  <a:txBody>
                    <a:bodyPr/>
                    <a:lstStyle/>
                    <a:p>
                      <a:r>
                        <a:rPr sz="1875" b="0">
                          <a:solidFill>
                            <a:srgbClr val="263640"/>
                          </a:solidFill>
                          <a:latin typeface="Calibri"/>
                          <a:ea typeface="Calibri"/>
                          <a:cs typeface="Calibri"/>
                        </a:rPr>
                        <a:t>Image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r h="537482">
                <a:tc>
                  <a:txBody>
                    <a:bodyPr/>
                    <a:lstStyle/>
                    <a:p>
                      <a:r>
                        <a:rPr sz="1875" b="0">
                          <a:solidFill>
                            <a:srgbClr val="263640"/>
                          </a:solidFill>
                          <a:latin typeface="Calibri"/>
                          <a:ea typeface="Calibri"/>
                          <a:cs typeface="Calibri"/>
                        </a:rPr>
                        <a:t>DAST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5"/>
                  </a:ext>
                </a:extLst>
              </a:tr>
              <a:tr h="537482">
                <a:tc>
                  <a:txBody>
                    <a:bodyPr/>
                    <a:lstStyle/>
                    <a:p>
                      <a:r>
                        <a:rPr sz="1875" b="0">
                          <a:solidFill>
                            <a:srgbClr val="263640"/>
                          </a:solidFill>
                          <a:latin typeface="Calibri"/>
                          <a:ea typeface="Calibri"/>
                          <a:cs typeface="Calibri"/>
                        </a:rPr>
                        <a:t>Default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9" name="Die Schwellenwerte sind eine Lehrprojekt-Policy und erforder">
            <a:extLst>
              <a:ext uri="{FF2B5EF4-FFF2-40B4-BE49-F238E27FC236}">
                <a16:creationId xmlns:a16="http://schemas.microsoft.com/office/drawing/2014/main" id="{AE79F47E-D34F-409F-A24C-AD11584DB0E7}"/>
              </a:ext>
            </a:extLst>
          </p:cNvPr>
          <p:cNvSpPr>
            <a:spLocks noGrp="1"/>
          </p:cNvSpPr>
          <p:nvPr/>
        </p:nvSpPr>
        <p:spPr>
          <a:xfrm>
            <a:off x="666750" y="5734050"/>
            <a:ext cx="10858500" cy="33337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Die Schwellenwerte sind eine Lehrprojekt-Policy und erfordern fachliche Triage.</a:t>
            </a:r>
          </a:p>
        </p:txBody>
      </p:sp>
    </p:spTree>
    <p:extLst>
      <p:ext uri="{BB962C8B-B14F-4D97-AF65-F5344CB8AC3E}">
        <p14:creationId xmlns:p14="http://schemas.microsoft.com/office/powerpoint/2010/main" val="2301877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BEEBB9A-6771-46A9-B4CE-DF362A96DB7C}"/>
              </a:ext>
            </a:extLst>
          </p:cNvPr>
          <p:cNvPicPr>
            <a:picLocks noChangeAspect="1"/>
          </p:cNvPicPr>
          <p:nvPr/>
        </p:nvPicPr>
        <p:blipFill>
          <a:blip r:embed="rId3"/>
          <a:stretch/>
        </p:blipFill>
        <p:spPr>
          <a:xfrm>
            <a:off x="10325100" y="228600"/>
            <a:ext cx="1295400" cy="693039"/>
          </a:xfrm>
          <a:prstGeom prst="rect">
            <a:avLst/>
          </a:prstGeom>
        </p:spPr>
      </p:pic>
      <p:sp>
        <p:nvSpPr>
          <p:cNvPr id="2" name="Gate-Policy und Fehlerbehandlung">
            <a:extLst>
              <a:ext uri="{FF2B5EF4-FFF2-40B4-BE49-F238E27FC236}">
                <a16:creationId xmlns:a16="http://schemas.microsoft.com/office/drawing/2014/main" id="{D7848F07-7F01-4EC1-96D4-AC37AB833A0C}"/>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Gate-Policy und Fehlerbehandlung</a:t>
            </a:r>
          </a:p>
        </p:txBody>
      </p:sp>
      <p:sp>
        <p:nvSpPr>
          <p:cNvPr id="3" name="Rectangle 2">
            <a:extLst>
              <a:ext uri="{FF2B5EF4-FFF2-40B4-BE49-F238E27FC236}">
                <a16:creationId xmlns:a16="http://schemas.microsoft.com/office/drawing/2014/main" id="{C492EE38-18C4-4C6D-AC4D-6E39DC0F38B4}"/>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policy/thresholds.yaml; scripts/gate.py; scripts/pipeline.py">
            <a:extLst>
              <a:ext uri="{FF2B5EF4-FFF2-40B4-BE49-F238E27FC236}">
                <a16:creationId xmlns:a16="http://schemas.microsoft.com/office/drawing/2014/main" id="{5CD7D60B-C403-4E4A-B246-A45E941B04AA}"/>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2D69E3D8-7763-442C-910C-2300EE41B4BD}"/>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27B4699B-5DD9-4565-81AC-64B4F158D927}"/>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9">
            <a:extLst>
              <a:ext uri="{FF2B5EF4-FFF2-40B4-BE49-F238E27FC236}">
                <a16:creationId xmlns:a16="http://schemas.microsoft.com/office/drawing/2014/main" id="{112E8595-96F8-4492-940B-E4778442E586}"/>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9</a:t>
            </a:r>
          </a:p>
        </p:txBody>
      </p:sp>
      <p:graphicFrame>
        <p:nvGraphicFramePr>
          <p:cNvPr id="8" name="Table 7">
            <a:extLst>
              <a:ext uri="{FF2B5EF4-FFF2-40B4-BE49-F238E27FC236}">
                <a16:creationId xmlns:a16="http://schemas.microsoft.com/office/drawing/2014/main" id="{2840A3B7-4F78-4B07-B767-F15A2887EACE}"/>
              </a:ext>
            </a:extLst>
          </p:cNvPr>
          <p:cNvGraphicFramePr/>
          <p:nvPr/>
        </p:nvGraphicFramePr>
        <p:xfrm>
          <a:off x="666750" y="1762125"/>
          <a:ext cx="6858000" cy="3619500"/>
        </p:xfrm>
        <a:graphic>
          <a:graphicData uri="http://schemas.openxmlformats.org/drawingml/2006/table">
            <a:tbl>
              <a:tblPr/>
              <a:tblGrid>
                <a:gridCol w="1952625">
                  <a:extLst>
                    <a:ext uri="{9D8B030D-6E8A-4147-A177-3AD203B41FA5}">
                      <a16:colId xmlns:a16="http://schemas.microsoft.com/office/drawing/2014/main" val="20000"/>
                    </a:ext>
                  </a:extLst>
                </a:gridCol>
                <a:gridCol w="4905375">
                  <a:extLst>
                    <a:ext uri="{9D8B030D-6E8A-4147-A177-3AD203B41FA5}">
                      <a16:colId xmlns:a16="http://schemas.microsoft.com/office/drawing/2014/main" val="20001"/>
                    </a:ext>
                  </a:extLst>
                </a:gridCol>
              </a:tblGrid>
              <a:tr h="603250">
                <a:tc>
                  <a:txBody>
                    <a:bodyPr/>
                    <a:lstStyle/>
                    <a:p>
                      <a:r>
                        <a:rPr sz="1725" b="1">
                          <a:solidFill>
                            <a:srgbClr val="FFFFFF"/>
                          </a:solidFill>
                          <a:latin typeface="Calibri"/>
                          <a:ea typeface="Calibri"/>
                          <a:cs typeface="Calibri"/>
                        </a:rPr>
                        <a:t>Prüfklasse</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725" b="1">
                          <a:solidFill>
                            <a:srgbClr val="FFFFFF"/>
                          </a:solidFill>
                          <a:latin typeface="Calibri"/>
                          <a:ea typeface="Calibri"/>
                          <a:cs typeface="Calibri"/>
                        </a:rPr>
                        <a:t>Automatische Ablehnung</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603250">
                <a:tc>
                  <a:txBody>
                    <a:bodyPr/>
                    <a:lstStyle/>
                    <a:p>
                      <a:r>
                        <a:rPr sz="1725" b="0">
                          <a:solidFill>
                            <a:srgbClr val="263640"/>
                          </a:solidFill>
                          <a:latin typeface="Calibri"/>
                          <a:ea typeface="Calibri"/>
                          <a:cs typeface="Calibri"/>
                        </a:rPr>
                        <a:t>Secrets</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725" b="0">
                          <a:solidFill>
                            <a:srgbClr val="263640"/>
                          </a:solidFill>
                          <a:latin typeface="Calibri"/>
                          <a:ea typeface="Calibri"/>
                          <a:cs typeface="Calibri"/>
                        </a:rPr>
                        <a:t>Jeder gemeldete Schweregrad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603250">
                <a:tc>
                  <a:txBody>
                    <a:bodyPr/>
                    <a:lstStyle/>
                    <a:p>
                      <a:r>
                        <a:rPr sz="1725" b="0">
                          <a:solidFill>
                            <a:srgbClr val="263640"/>
                          </a:solidFill>
                          <a:latin typeface="Calibri"/>
                          <a:ea typeface="Calibri"/>
                          <a:cs typeface="Calibri"/>
                        </a:rPr>
                        <a:t>SAST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a:solidFill>
                            <a:srgbClr val="263640"/>
                          </a:solidFill>
                          <a:latin typeface="Calibri"/>
                          <a:ea typeface="Calibri"/>
                          <a:cs typeface="Calibri"/>
                        </a:rPr>
                        <a:t>HIGH und CRITICAL</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603250">
                <a:tc>
                  <a:txBody>
                    <a:bodyPr/>
                    <a:lstStyle/>
                    <a:p>
                      <a:r>
                        <a:rPr sz="1725" b="0">
                          <a:solidFill>
                            <a:srgbClr val="263640"/>
                          </a:solidFill>
                          <a:latin typeface="Calibri"/>
                          <a:ea typeface="Calibri"/>
                          <a:cs typeface="Calibri"/>
                        </a:rPr>
                        <a:t>SCA</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725" b="0">
                          <a:solidFill>
                            <a:srgbClr val="263640"/>
                          </a:solidFill>
                          <a:latin typeface="Calibri"/>
                          <a:ea typeface="Calibri"/>
                          <a:cs typeface="Calibri"/>
                        </a:rPr>
                        <a:t>CRITICAL</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r h="603250">
                <a:tc>
                  <a:txBody>
                    <a:bodyPr/>
                    <a:lstStyle/>
                    <a:p>
                      <a:r>
                        <a:rPr sz="1725" b="0">
                          <a:solidFill>
                            <a:srgbClr val="263640"/>
                          </a:solidFill>
                          <a:latin typeface="Calibri"/>
                          <a:ea typeface="Calibri"/>
                          <a:cs typeface="Calibri"/>
                        </a:rPr>
                        <a:t>Image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a:solidFill>
                            <a:srgbClr val="263640"/>
                          </a:solidFill>
                          <a:latin typeface="Calibri"/>
                          <a:ea typeface="Calibri"/>
                          <a:cs typeface="Calibri"/>
                        </a:rPr>
                        <a:t>HIGH und CRITICAL</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r h="603250">
                <a:tc>
                  <a:txBody>
                    <a:bodyPr/>
                    <a:lstStyle/>
                    <a:p>
                      <a:r>
                        <a:rPr sz="1725" b="0">
                          <a:solidFill>
                            <a:srgbClr val="263640"/>
                          </a:solidFill>
                          <a:latin typeface="Calibri"/>
                          <a:ea typeface="Calibri"/>
                          <a:cs typeface="Calibri"/>
                        </a:rPr>
                        <a:t>Passiver DAST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725" b="0">
                          <a:solidFill>
                            <a:srgbClr val="263640"/>
                          </a:solidFill>
                          <a:latin typeface="Calibri"/>
                          <a:ea typeface="Calibri"/>
                          <a:cs typeface="Calibri"/>
                        </a:rPr>
                        <a:t>Findings warnen, technische Fehler blockieren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5"/>
                  </a:ext>
                </a:extLst>
              </a:tr>
            </a:tbl>
          </a:graphicData>
        </a:graphic>
      </p:graphicFrame>
      <p:sp>
        <p:nvSpPr>
          <p:cNvPr id="9" name="0   PASS">
            <a:extLst>
              <a:ext uri="{FF2B5EF4-FFF2-40B4-BE49-F238E27FC236}">
                <a16:creationId xmlns:a16="http://schemas.microsoft.com/office/drawing/2014/main" id="{15870DEB-1AF8-43D9-BCD1-B02FDE76D7DC}"/>
              </a:ext>
            </a:extLst>
          </p:cNvPr>
          <p:cNvSpPr>
            <a:spLocks noGrp="1"/>
          </p:cNvSpPr>
          <p:nvPr/>
        </p:nvSpPr>
        <p:spPr>
          <a:xfrm>
            <a:off x="8096250" y="1905000"/>
            <a:ext cx="3429000" cy="476250"/>
          </a:xfrm>
          <a:prstGeom prst="rect">
            <a:avLst/>
          </a:prstGeom>
          <a:noFill/>
          <a:ln w="0">
            <a:noFill/>
          </a:ln>
        </p:spPr>
        <p:txBody>
          <a:bodyPr wrap="square" lIns="0" tIns="0" rIns="0" bIns="0" anchor="t">
            <a:noAutofit/>
          </a:bodyPr>
          <a:lstStyle>
            <a:defPPr algn="l">
              <a:defRPr sz="2625" b="1">
                <a:solidFill>
                  <a:srgbClr val="236646"/>
                </a:solidFill>
                <a:latin typeface="Calibri"/>
                <a:ea typeface="Calibri"/>
                <a:cs typeface="Calibri"/>
              </a:defRPr>
            </a:defPPr>
          </a:lstStyle>
          <a:p>
            <a:pPr algn="l">
              <a:defRPr sz="2625" b="1">
                <a:solidFill>
                  <a:srgbClr val="236646"/>
                </a:solidFill>
                <a:latin typeface="Calibri"/>
                <a:ea typeface="Calibri"/>
                <a:cs typeface="Calibri"/>
              </a:defRPr>
            </a:pPr>
            <a:r>
              <a:rPr sz="2625" b="1">
                <a:solidFill>
                  <a:srgbClr val="236646"/>
                </a:solidFill>
                <a:latin typeface="Calibri"/>
                <a:ea typeface="Calibri"/>
                <a:cs typeface="Calibri"/>
              </a:rPr>
              <a:t>0   PASS</a:t>
            </a:r>
          </a:p>
        </p:txBody>
      </p:sp>
      <p:sp>
        <p:nvSpPr>
          <p:cNvPr id="10" name="Policy bestanden">
            <a:extLst>
              <a:ext uri="{FF2B5EF4-FFF2-40B4-BE49-F238E27FC236}">
                <a16:creationId xmlns:a16="http://schemas.microsoft.com/office/drawing/2014/main" id="{5DA5673F-53A2-45F8-9719-AA597B4C7F0C}"/>
              </a:ext>
            </a:extLst>
          </p:cNvPr>
          <p:cNvSpPr>
            <a:spLocks noGrp="1"/>
          </p:cNvSpPr>
          <p:nvPr/>
        </p:nvSpPr>
        <p:spPr>
          <a:xfrm>
            <a:off x="8096250" y="2409825"/>
            <a:ext cx="3429000" cy="400050"/>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Policy bestanden</a:t>
            </a:r>
          </a:p>
        </p:txBody>
      </p:sp>
      <p:sp>
        <p:nvSpPr>
          <p:cNvPr id="11" name="1   FAIL">
            <a:extLst>
              <a:ext uri="{FF2B5EF4-FFF2-40B4-BE49-F238E27FC236}">
                <a16:creationId xmlns:a16="http://schemas.microsoft.com/office/drawing/2014/main" id="{F8B41268-A71F-46C5-ADA6-CF8DFA0342FF}"/>
              </a:ext>
            </a:extLst>
          </p:cNvPr>
          <p:cNvSpPr>
            <a:spLocks noGrp="1"/>
          </p:cNvSpPr>
          <p:nvPr/>
        </p:nvSpPr>
        <p:spPr>
          <a:xfrm>
            <a:off x="8096250" y="3095625"/>
            <a:ext cx="3429000" cy="476250"/>
          </a:xfrm>
          <a:prstGeom prst="rect">
            <a:avLst/>
          </a:prstGeom>
          <a:noFill/>
          <a:ln w="0">
            <a:noFill/>
          </a:ln>
        </p:spPr>
        <p:txBody>
          <a:bodyPr wrap="square" lIns="0" tIns="0" rIns="0" bIns="0" anchor="t">
            <a:noAutofit/>
          </a:bodyPr>
          <a:lstStyle>
            <a:defPPr algn="l">
              <a:defRPr sz="2625" b="1">
                <a:solidFill>
                  <a:srgbClr val="E2001A"/>
                </a:solidFill>
                <a:latin typeface="Calibri"/>
                <a:ea typeface="Calibri"/>
                <a:cs typeface="Calibri"/>
              </a:defRPr>
            </a:defPPr>
          </a:lstStyle>
          <a:p>
            <a:pPr algn="l">
              <a:defRPr sz="2625" b="1">
                <a:solidFill>
                  <a:srgbClr val="E2001A"/>
                </a:solidFill>
                <a:latin typeface="Calibri"/>
                <a:ea typeface="Calibri"/>
                <a:cs typeface="Calibri"/>
              </a:defRPr>
            </a:pPr>
            <a:r>
              <a:rPr sz="2625" b="1">
                <a:solidFill>
                  <a:srgbClr val="E2001A"/>
                </a:solidFill>
                <a:latin typeface="Calibri"/>
                <a:ea typeface="Calibri"/>
                <a:cs typeface="Calibri"/>
              </a:rPr>
              <a:t>1   FAIL</a:t>
            </a:r>
          </a:p>
        </p:txBody>
      </p:sp>
      <p:sp>
        <p:nvSpPr>
          <p:cNvPr id="12" name="Blockierendes Finding">
            <a:extLst>
              <a:ext uri="{FF2B5EF4-FFF2-40B4-BE49-F238E27FC236}">
                <a16:creationId xmlns:a16="http://schemas.microsoft.com/office/drawing/2014/main" id="{B134D1E5-96E2-4DBD-B375-581E2099B3D3}"/>
              </a:ext>
            </a:extLst>
          </p:cNvPr>
          <p:cNvSpPr>
            <a:spLocks noGrp="1"/>
          </p:cNvSpPr>
          <p:nvPr/>
        </p:nvSpPr>
        <p:spPr>
          <a:xfrm>
            <a:off x="8096250" y="3600450"/>
            <a:ext cx="3429000" cy="400050"/>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Blockierendes Finding</a:t>
            </a:r>
          </a:p>
        </p:txBody>
      </p:sp>
      <p:sp>
        <p:nvSpPr>
          <p:cNvPr id="13" name="2   ERROR">
            <a:extLst>
              <a:ext uri="{FF2B5EF4-FFF2-40B4-BE49-F238E27FC236}">
                <a16:creationId xmlns:a16="http://schemas.microsoft.com/office/drawing/2014/main" id="{817C54CD-A7E6-42C1-8789-38484865B726}"/>
              </a:ext>
            </a:extLst>
          </p:cNvPr>
          <p:cNvSpPr>
            <a:spLocks noGrp="1"/>
          </p:cNvSpPr>
          <p:nvPr/>
        </p:nvSpPr>
        <p:spPr>
          <a:xfrm>
            <a:off x="8096250" y="4286250"/>
            <a:ext cx="3429000" cy="476250"/>
          </a:xfrm>
          <a:prstGeom prst="rect">
            <a:avLst/>
          </a:prstGeom>
          <a:noFill/>
          <a:ln w="0">
            <a:noFill/>
          </a:ln>
        </p:spPr>
        <p:txBody>
          <a:bodyPr wrap="square" lIns="0" tIns="0" rIns="0" bIns="0" anchor="t">
            <a:noAutofit/>
          </a:bodyPr>
          <a:lstStyle>
            <a:defPPr algn="l">
              <a:defRPr sz="2625" b="1">
                <a:solidFill>
                  <a:srgbClr val="925616"/>
                </a:solidFill>
                <a:latin typeface="Calibri"/>
                <a:ea typeface="Calibri"/>
                <a:cs typeface="Calibri"/>
              </a:defRPr>
            </a:defPPr>
          </a:lstStyle>
          <a:p>
            <a:pPr algn="l">
              <a:defRPr sz="2625" b="1">
                <a:solidFill>
                  <a:srgbClr val="925616"/>
                </a:solidFill>
                <a:latin typeface="Calibri"/>
                <a:ea typeface="Calibri"/>
                <a:cs typeface="Calibri"/>
              </a:defRPr>
            </a:pPr>
            <a:r>
              <a:rPr sz="2625" b="1">
                <a:solidFill>
                  <a:srgbClr val="925616"/>
                </a:solidFill>
                <a:latin typeface="Calibri"/>
                <a:ea typeface="Calibri"/>
                <a:cs typeface="Calibri"/>
              </a:rPr>
              <a:t>2   ERROR</a:t>
            </a:r>
          </a:p>
        </p:txBody>
      </p:sp>
      <p:sp>
        <p:nvSpPr>
          <p:cNvPr id="14" name="Technischer Fehler">
            <a:extLst>
              <a:ext uri="{FF2B5EF4-FFF2-40B4-BE49-F238E27FC236}">
                <a16:creationId xmlns:a16="http://schemas.microsoft.com/office/drawing/2014/main" id="{3A366879-7EE1-4F73-AD03-E7F8D108D3EF}"/>
              </a:ext>
            </a:extLst>
          </p:cNvPr>
          <p:cNvSpPr>
            <a:spLocks noGrp="1"/>
          </p:cNvSpPr>
          <p:nvPr/>
        </p:nvSpPr>
        <p:spPr>
          <a:xfrm>
            <a:off x="8096250" y="4791075"/>
            <a:ext cx="3429000" cy="400050"/>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Technischer Fehler</a:t>
            </a:r>
          </a:p>
        </p:txBody>
      </p:sp>
      <p:sp>
        <p:nvSpPr>
          <p:cNvPr id="15" name="Fehlender oder kaputter Pflichtreport führt zu ERROR.">
            <a:extLst>
              <a:ext uri="{FF2B5EF4-FFF2-40B4-BE49-F238E27FC236}">
                <a16:creationId xmlns:a16="http://schemas.microsoft.com/office/drawing/2014/main" id="{003485A2-0D35-4FC8-9C2C-A34353C18A10}"/>
              </a:ext>
            </a:extLst>
          </p:cNvPr>
          <p:cNvSpPr>
            <a:spLocks noGrp="1"/>
          </p:cNvSpPr>
          <p:nvPr/>
        </p:nvSpPr>
        <p:spPr>
          <a:xfrm>
            <a:off x="666750" y="5648325"/>
            <a:ext cx="10858500" cy="361950"/>
          </a:xfrm>
          <a:prstGeom prst="rect">
            <a:avLst/>
          </a:prstGeom>
          <a:noFill/>
          <a:ln w="0">
            <a:noFill/>
          </a:ln>
        </p:spPr>
        <p:txBody>
          <a:bodyPr wrap="square" lIns="0" tIns="0" rIns="0" bIns="0" anchor="t">
            <a:noAutofit/>
          </a:bodyPr>
          <a:lstStyle>
            <a:defPPr algn="l">
              <a:defRPr sz="2025" b="1">
                <a:solidFill>
                  <a:srgbClr val="E2001A"/>
                </a:solidFill>
                <a:latin typeface="Calibri"/>
                <a:ea typeface="Calibri"/>
                <a:cs typeface="Calibri"/>
              </a:defRPr>
            </a:defPPr>
          </a:lstStyle>
          <a:p>
            <a:pPr algn="l">
              <a:defRPr sz="2025" b="1">
                <a:solidFill>
                  <a:srgbClr val="E2001A"/>
                </a:solidFill>
                <a:latin typeface="Calibri"/>
                <a:ea typeface="Calibri"/>
                <a:cs typeface="Calibri"/>
              </a:defRPr>
            </a:pPr>
            <a:r>
              <a:rPr sz="2025" b="1">
                <a:solidFill>
                  <a:srgbClr val="E2001A"/>
                </a:solidFill>
                <a:latin typeface="Calibri"/>
                <a:ea typeface="Calibri"/>
                <a:cs typeface="Calibri"/>
              </a:rPr>
              <a:t>Fehlender oder kaputter Pflichtreport führt zu ERROR.</a:t>
            </a:r>
          </a:p>
        </p:txBody>
      </p:sp>
    </p:spTree>
    <p:extLst>
      <p:ext uri="{BB962C8B-B14F-4D97-AF65-F5344CB8AC3E}">
        <p14:creationId xmlns:p14="http://schemas.microsoft.com/office/powerpoint/2010/main" val="653404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27ABAB8-9753-45A0-9B39-5B286566B0CE}"/>
              </a:ext>
            </a:extLst>
          </p:cNvPr>
          <p:cNvPicPr>
            <a:picLocks noChangeAspect="1"/>
          </p:cNvPicPr>
          <p:nvPr/>
        </p:nvPicPr>
        <p:blipFill>
          <a:blip r:embed="rId3"/>
          <a:stretch/>
        </p:blipFill>
        <p:spPr>
          <a:xfrm>
            <a:off x="10325100" y="228600"/>
            <a:ext cx="1295400" cy="693039"/>
          </a:xfrm>
          <a:prstGeom prst="rect">
            <a:avLst/>
          </a:prstGeom>
        </p:spPr>
      </p:pic>
      <p:sp>
        <p:nvSpPr>
          <p:cNvPr id="2" name="Ergebnisse der drei Programme">
            <a:extLst>
              <a:ext uri="{FF2B5EF4-FFF2-40B4-BE49-F238E27FC236}">
                <a16:creationId xmlns:a16="http://schemas.microsoft.com/office/drawing/2014/main" id="{88B8C5F9-245D-402D-A04A-9A30AED9191D}"/>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Ergebnisse der drei Programme</a:t>
            </a:r>
          </a:p>
        </p:txBody>
      </p:sp>
      <p:sp>
        <p:nvSpPr>
          <p:cNvPr id="3" name="Rectangle 2">
            <a:extLst>
              <a:ext uri="{FF2B5EF4-FFF2-40B4-BE49-F238E27FC236}">
                <a16:creationId xmlns:a16="http://schemas.microsoft.com/office/drawing/2014/main" id="{2A7DE7FD-0F26-44BD-A31D-B91C81BE5923}"/>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Archivierte Offline-Läufe vom 21.10.2026; docs/validation/20">
            <a:extLst>
              <a:ext uri="{FF2B5EF4-FFF2-40B4-BE49-F238E27FC236}">
                <a16:creationId xmlns:a16="http://schemas.microsoft.com/office/drawing/2014/main" id="{D6BDCAB5-2635-43D8-8E80-C4A3EE429B84}"/>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4FF262FA-0C40-4A8F-8AEF-C6B95ED00338}"/>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67BE5C87-287F-4F34-9D55-BC3DC9910106}"/>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0">
            <a:extLst>
              <a:ext uri="{FF2B5EF4-FFF2-40B4-BE49-F238E27FC236}">
                <a16:creationId xmlns:a16="http://schemas.microsoft.com/office/drawing/2014/main" id="{0BA7E965-4A6D-4490-BB38-ACEB97E7D0E5}"/>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10</a:t>
            </a:r>
          </a:p>
        </p:txBody>
      </p:sp>
      <p:graphicFrame>
        <p:nvGraphicFramePr>
          <p:cNvPr id="8" name="Table 7">
            <a:extLst>
              <a:ext uri="{FF2B5EF4-FFF2-40B4-BE49-F238E27FC236}">
                <a16:creationId xmlns:a16="http://schemas.microsoft.com/office/drawing/2014/main" id="{74099423-69B5-44C6-A472-CDBB36514BA2}"/>
              </a:ext>
            </a:extLst>
          </p:cNvPr>
          <p:cNvGraphicFramePr/>
          <p:nvPr/>
        </p:nvGraphicFramePr>
        <p:xfrm>
          <a:off x="666750" y="1762125"/>
          <a:ext cx="10858500" cy="2801778"/>
        </p:xfrm>
        <a:graphic>
          <a:graphicData uri="http://schemas.openxmlformats.org/drawingml/2006/table">
            <a:tbl>
              <a:tblPr/>
              <a:tblGrid>
                <a:gridCol w="233362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2047875">
                  <a:extLst>
                    <a:ext uri="{9D8B030D-6E8A-4147-A177-3AD203B41FA5}">
                      <a16:colId xmlns:a16="http://schemas.microsoft.com/office/drawing/2014/main" val="20003"/>
                    </a:ext>
                  </a:extLst>
                </a:gridCol>
              </a:tblGrid>
              <a:tr h="678656">
                <a:tc>
                  <a:txBody>
                    <a:bodyPr/>
                    <a:lstStyle/>
                    <a:p>
                      <a:r>
                        <a:rPr sz="1950" b="1">
                          <a:solidFill>
                            <a:srgbClr val="FFFFFF"/>
                          </a:solidFill>
                          <a:latin typeface="Calibri"/>
                          <a:ea typeface="Calibri"/>
                          <a:cs typeface="Calibri"/>
                        </a:rPr>
                        <a:t>Programm</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950" b="1">
                          <a:solidFill>
                            <a:srgbClr val="FFFFFF"/>
                          </a:solidFill>
                          <a:latin typeface="Calibri"/>
                          <a:ea typeface="Calibri"/>
                          <a:cs typeface="Calibri"/>
                        </a:rPr>
                        <a:t>Vulnerable</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950" b="1">
                          <a:solidFill>
                            <a:srgbClr val="FFFFFF"/>
                          </a:solidFill>
                          <a:latin typeface="Calibri"/>
                          <a:ea typeface="Calibri"/>
                          <a:cs typeface="Calibri"/>
                        </a:rPr>
                        <a:t>Fixed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950" b="1">
                          <a:solidFill>
                            <a:srgbClr val="FFFFFF"/>
                          </a:solidFill>
                          <a:latin typeface="Calibri"/>
                          <a:ea typeface="Calibri"/>
                          <a:cs typeface="Calibri"/>
                        </a:rPr>
                        <a:t>Ausnahmen</a:t>
                      </a:r>
                    </a:p>
                    <a:p>
                      <a:r>
                        <a:rPr sz="1950" b="1">
                          <a:solidFill>
                            <a:srgbClr val="FFFFFF"/>
                          </a:solidFill>
                          <a:latin typeface="Calibri"/>
                          <a:ea typeface="Calibri"/>
                          <a:cs typeface="Calibri"/>
                        </a:rPr>
                        <a:t>bei Fixed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678656">
                <a:tc>
                  <a:txBody>
                    <a:bodyPr/>
                    <a:lstStyle/>
                    <a:p>
                      <a:r>
                        <a:rPr sz="1950" b="0">
                          <a:solidFill>
                            <a:srgbClr val="263640"/>
                          </a:solidFill>
                          <a:latin typeface="Calibri"/>
                          <a:ea typeface="Calibri"/>
                          <a:cs typeface="Calibri"/>
                        </a:rPr>
                        <a:t>Flask-API</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1">
                          <a:solidFill>
                            <a:srgbClr val="E2001A"/>
                          </a:solidFill>
                          <a:latin typeface="Calibri"/>
                          <a:ea typeface="Calibri"/>
                          <a:cs typeface="Calibri"/>
                        </a:rPr>
                        <a:t>FAIL / 8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1">
                          <a:solidFill>
                            <a:srgbClr val="236646"/>
                          </a:solidFill>
                          <a:latin typeface="Calibri"/>
                          <a:ea typeface="Calibri"/>
                          <a:cs typeface="Calibri"/>
                        </a:rPr>
                        <a:t>PASS / 0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0">
                          <a:solidFill>
                            <a:srgbClr val="263640"/>
                          </a:solidFill>
                          <a:latin typeface="Calibri"/>
                          <a:ea typeface="Calibri"/>
                          <a:cs typeface="Calibri"/>
                        </a:rPr>
                        <a:t>1</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678656">
                <a:tc>
                  <a:txBody>
                    <a:bodyPr/>
                    <a:lstStyle/>
                    <a:p>
                      <a:r>
                        <a:rPr sz="1950" b="0">
                          <a:solidFill>
                            <a:srgbClr val="263640"/>
                          </a:solidFill>
                          <a:latin typeface="Calibri"/>
                          <a:ea typeface="Calibri"/>
                          <a:cs typeface="Calibri"/>
                        </a:rPr>
                        <a:t>YAML-CLI</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1">
                          <a:solidFill>
                            <a:srgbClr val="E2001A"/>
                          </a:solidFill>
                          <a:latin typeface="Calibri"/>
                          <a:ea typeface="Calibri"/>
                          <a:cs typeface="Calibri"/>
                        </a:rPr>
                        <a:t>FAIL / 4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1">
                          <a:solidFill>
                            <a:srgbClr val="236646"/>
                          </a:solidFill>
                          <a:latin typeface="Calibri"/>
                          <a:ea typeface="Calibri"/>
                          <a:cs typeface="Calibri"/>
                        </a:rPr>
                        <a:t>PASS / 0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0">
                          <a:solidFill>
                            <a:srgbClr val="263640"/>
                          </a:solidFill>
                          <a:latin typeface="Calibri"/>
                          <a:ea typeface="Calibri"/>
                          <a:cs typeface="Calibri"/>
                        </a:rPr>
                        <a:t>1</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678656">
                <a:tc>
                  <a:txBody>
                    <a:bodyPr/>
                    <a:lstStyle/>
                    <a:p>
                      <a:r>
                        <a:rPr sz="1950" b="0">
                          <a:solidFill>
                            <a:srgbClr val="263640"/>
                          </a:solidFill>
                          <a:latin typeface="Calibri"/>
                          <a:ea typeface="Calibri"/>
                          <a:cs typeface="Calibri"/>
                        </a:rPr>
                        <a:t>Dateidienst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1">
                          <a:solidFill>
                            <a:srgbClr val="E2001A"/>
                          </a:solidFill>
                          <a:latin typeface="Calibri"/>
                          <a:ea typeface="Calibri"/>
                          <a:cs typeface="Calibri"/>
                        </a:rPr>
                        <a:t>FAIL / 10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1">
                          <a:solidFill>
                            <a:srgbClr val="236646"/>
                          </a:solidFill>
                          <a:latin typeface="Calibri"/>
                          <a:ea typeface="Calibri"/>
                          <a:cs typeface="Calibri"/>
                        </a:rPr>
                        <a:t>PASS / 0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0">
                          <a:solidFill>
                            <a:srgbClr val="263640"/>
                          </a:solidFill>
                          <a:latin typeface="Calibri"/>
                          <a:ea typeface="Calibri"/>
                          <a:cs typeface="Calibri"/>
                        </a:rPr>
                        <a:t>1</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bl>
          </a:graphicData>
        </a:graphic>
      </p:graphicFrame>
      <p:sp>
        <p:nvSpPr>
          <p:cNvPr id="9" name="12 echte Security-Läufe: 6 online und 6 offline">
            <a:extLst>
              <a:ext uri="{FF2B5EF4-FFF2-40B4-BE49-F238E27FC236}">
                <a16:creationId xmlns:a16="http://schemas.microsoft.com/office/drawing/2014/main" id="{C1366F50-770A-4B30-B976-CBD9DFEC102F}"/>
              </a:ext>
            </a:extLst>
          </p:cNvPr>
          <p:cNvSpPr>
            <a:spLocks noGrp="1"/>
          </p:cNvSpPr>
          <p:nvPr/>
        </p:nvSpPr>
        <p:spPr>
          <a:xfrm>
            <a:off x="666750" y="4829175"/>
            <a:ext cx="10858500" cy="409575"/>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r>
              <a:rPr sz="2250" b="1" dirty="0">
                <a:solidFill>
                  <a:srgbClr val="52616A"/>
                </a:solidFill>
                <a:latin typeface="Calibri"/>
                <a:ea typeface="Calibri"/>
                <a:cs typeface="Calibri"/>
              </a:rPr>
              <a:t>12 </a:t>
            </a:r>
            <a:r>
              <a:rPr sz="2250" b="1" dirty="0" err="1">
                <a:solidFill>
                  <a:srgbClr val="52616A"/>
                </a:solidFill>
                <a:latin typeface="Calibri"/>
                <a:ea typeface="Calibri"/>
                <a:cs typeface="Calibri"/>
              </a:rPr>
              <a:t>echte</a:t>
            </a:r>
            <a:r>
              <a:rPr sz="2250" b="1" dirty="0">
                <a:solidFill>
                  <a:srgbClr val="52616A"/>
                </a:solidFill>
                <a:latin typeface="Calibri"/>
                <a:ea typeface="Calibri"/>
                <a:cs typeface="Calibri"/>
              </a:rPr>
              <a:t> Security-</a:t>
            </a:r>
            <a:r>
              <a:rPr sz="2250" b="1" dirty="0" err="1">
                <a:solidFill>
                  <a:srgbClr val="52616A"/>
                </a:solidFill>
                <a:latin typeface="Calibri"/>
                <a:ea typeface="Calibri"/>
                <a:cs typeface="Calibri"/>
              </a:rPr>
              <a:t>Läufe</a:t>
            </a:r>
            <a:r>
              <a:rPr sz="2250" b="1" dirty="0">
                <a:solidFill>
                  <a:srgbClr val="52616A"/>
                </a:solidFill>
                <a:latin typeface="Calibri"/>
                <a:ea typeface="Calibri"/>
                <a:cs typeface="Calibri"/>
              </a:rPr>
              <a:t>: 6 online und 6 offline</a:t>
            </a:r>
          </a:p>
        </p:txBody>
      </p:sp>
      <p:sp>
        <p:nvSpPr>
          <p:cNvPr id="10" name="6 Smoke-Tests und 41 aktuelle Tests der Pipeline-Logik besta">
            <a:extLst>
              <a:ext uri="{FF2B5EF4-FFF2-40B4-BE49-F238E27FC236}">
                <a16:creationId xmlns:a16="http://schemas.microsoft.com/office/drawing/2014/main" id="{73327309-DB5F-4925-BCAA-8DFA0F3E80AE}"/>
              </a:ext>
            </a:extLst>
          </p:cNvPr>
          <p:cNvSpPr>
            <a:spLocks noGrp="1"/>
          </p:cNvSpPr>
          <p:nvPr/>
        </p:nvSpPr>
        <p:spPr>
          <a:xfrm>
            <a:off x="666750" y="5381625"/>
            <a:ext cx="10858500" cy="6191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dirty="0">
                <a:solidFill>
                  <a:srgbClr val="263640"/>
                </a:solidFill>
                <a:latin typeface="Calibri"/>
                <a:ea typeface="Calibri"/>
                <a:cs typeface="Calibri"/>
              </a:rPr>
              <a:t>6 Smoke-Tests und 41 </a:t>
            </a:r>
            <a:r>
              <a:rPr sz="1875" b="0" dirty="0" err="1">
                <a:solidFill>
                  <a:srgbClr val="263640"/>
                </a:solidFill>
                <a:latin typeface="Calibri"/>
                <a:ea typeface="Calibri"/>
                <a:cs typeface="Calibri"/>
              </a:rPr>
              <a:t>aktuelle</a:t>
            </a:r>
            <a:r>
              <a:rPr sz="1875" b="0" dirty="0">
                <a:solidFill>
                  <a:srgbClr val="263640"/>
                </a:solidFill>
                <a:latin typeface="Calibri"/>
                <a:ea typeface="Calibri"/>
                <a:cs typeface="Calibri"/>
              </a:rPr>
              <a:t> Tests der Pipeline-</a:t>
            </a:r>
            <a:r>
              <a:rPr sz="1875" b="0" dirty="0" err="1">
                <a:solidFill>
                  <a:srgbClr val="263640"/>
                </a:solidFill>
                <a:latin typeface="Calibri"/>
                <a:ea typeface="Calibri"/>
                <a:cs typeface="Calibri"/>
              </a:rPr>
              <a:t>Logik</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bestanden</a:t>
            </a:r>
            <a:r>
              <a:rPr sz="1875" b="0" dirty="0">
                <a:solidFill>
                  <a:srgbClr val="263640"/>
                </a:solidFill>
                <a:latin typeface="Calibri"/>
                <a:ea typeface="Calibri"/>
                <a:cs typeface="Calibri"/>
              </a:rPr>
              <a:t>.</a:t>
            </a:r>
          </a:p>
          <a:p>
            <a:pPr algn="l">
              <a:defRPr sz="1875" b="0">
                <a:solidFill>
                  <a:srgbClr val="263640"/>
                </a:solidFill>
                <a:latin typeface="Calibri"/>
                <a:ea typeface="Calibri"/>
                <a:cs typeface="Calibri"/>
              </a:defRPr>
            </a:pPr>
            <a:r>
              <a:rPr sz="1875" b="0" dirty="0">
                <a:solidFill>
                  <a:srgbClr val="263640"/>
                </a:solidFill>
                <a:latin typeface="Calibri"/>
                <a:ea typeface="Calibri"/>
                <a:cs typeface="Calibri"/>
              </a:rPr>
              <a:t>PASS </a:t>
            </a:r>
            <a:r>
              <a:rPr sz="1875" b="0" dirty="0" err="1">
                <a:solidFill>
                  <a:srgbClr val="263640"/>
                </a:solidFill>
                <a:latin typeface="Calibri"/>
                <a:ea typeface="Calibri"/>
                <a:cs typeface="Calibri"/>
              </a:rPr>
              <a:t>erlaubt</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weiterhin</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Warnungen</a:t>
            </a:r>
            <a:r>
              <a:rPr sz="1875" b="0" dirty="0">
                <a:solidFill>
                  <a:srgbClr val="263640"/>
                </a:solidFill>
                <a:latin typeface="Calibri"/>
                <a:ea typeface="Calibri"/>
                <a:cs typeface="Calibri"/>
              </a:rPr>
              <a:t> und die </a:t>
            </a:r>
            <a:r>
              <a:rPr sz="1875" b="0" dirty="0" err="1">
                <a:solidFill>
                  <a:srgbClr val="263640"/>
                </a:solidFill>
                <a:latin typeface="Calibri"/>
                <a:ea typeface="Calibri"/>
                <a:cs typeface="Calibri"/>
              </a:rPr>
              <a:t>geprüfte</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Dockle-Ausnahme</a:t>
            </a:r>
            <a:r>
              <a:rPr sz="1875" b="0" dirty="0">
                <a:solidFill>
                  <a:srgbClr val="263640"/>
                </a:solidFill>
                <a:latin typeface="Calibri"/>
                <a:ea typeface="Calibri"/>
                <a:cs typeface="Calibri"/>
              </a:rPr>
              <a:t>.</a:t>
            </a:r>
          </a:p>
        </p:txBody>
      </p:sp>
    </p:spTree>
    <p:extLst>
      <p:ext uri="{BB962C8B-B14F-4D97-AF65-F5344CB8AC3E}">
        <p14:creationId xmlns:p14="http://schemas.microsoft.com/office/powerpoint/2010/main" val="1571649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E7F8668-7AB6-49E5-B6CC-9AE67B2D2BA7}"/>
              </a:ext>
            </a:extLst>
          </p:cNvPr>
          <p:cNvPicPr>
            <a:picLocks noChangeAspect="1"/>
          </p:cNvPicPr>
          <p:nvPr/>
        </p:nvPicPr>
        <p:blipFill>
          <a:blip r:embed="rId3"/>
          <a:stretch/>
        </p:blipFill>
        <p:spPr>
          <a:xfrm>
            <a:off x="10325100" y="228600"/>
            <a:ext cx="1295400" cy="693039"/>
          </a:xfrm>
          <a:prstGeom prst="rect">
            <a:avLst/>
          </a:prstGeom>
        </p:spPr>
      </p:pic>
      <p:sp>
        <p:nvSpPr>
          <p:cNvPr id="2" name="Probleme während der Implementierung">
            <a:extLst>
              <a:ext uri="{FF2B5EF4-FFF2-40B4-BE49-F238E27FC236}">
                <a16:creationId xmlns:a16="http://schemas.microsoft.com/office/drawing/2014/main" id="{F08D2FAD-8C0D-42A2-A172-3CB8F6998641}"/>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Probleme während der Implementierung</a:t>
            </a:r>
          </a:p>
        </p:txBody>
      </p:sp>
      <p:sp>
        <p:nvSpPr>
          <p:cNvPr id="3" name="Rectangle 2">
            <a:extLst>
              <a:ext uri="{FF2B5EF4-FFF2-40B4-BE49-F238E27FC236}">
                <a16:creationId xmlns:a16="http://schemas.microsoft.com/office/drawing/2014/main" id="{E39CDA2A-C2CC-436E-BC60-2A2A4D7F542C}"/>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Historische Erstvalidierung und Nachprüfung der zehn Befundg">
            <a:extLst>
              <a:ext uri="{FF2B5EF4-FFF2-40B4-BE49-F238E27FC236}">
                <a16:creationId xmlns:a16="http://schemas.microsoft.com/office/drawing/2014/main" id="{6CF97580-6CF8-4FF4-8F36-09F162CCF6B2}"/>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F7AC748D-CA8A-4CA4-9762-CC9ED7F02511}"/>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B7D94DAF-E9B3-4E0F-B51C-68E52A5058A2}"/>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1">
            <a:extLst>
              <a:ext uri="{FF2B5EF4-FFF2-40B4-BE49-F238E27FC236}">
                <a16:creationId xmlns:a16="http://schemas.microsoft.com/office/drawing/2014/main" id="{F9E7574F-516B-4F76-97B7-3EEDD39271F0}"/>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11</a:t>
            </a:r>
          </a:p>
        </p:txBody>
      </p:sp>
      <p:graphicFrame>
        <p:nvGraphicFramePr>
          <p:cNvPr id="8" name="Table 7">
            <a:extLst>
              <a:ext uri="{FF2B5EF4-FFF2-40B4-BE49-F238E27FC236}">
                <a16:creationId xmlns:a16="http://schemas.microsoft.com/office/drawing/2014/main" id="{6C0AFCC2-2988-4247-9BD0-63B7BD4D6C51}"/>
              </a:ext>
            </a:extLst>
          </p:cNvPr>
          <p:cNvGraphicFramePr/>
          <p:nvPr>
            <p:extLst>
              <p:ext uri="{D42A27DB-BD31-4B8C-83A1-F6EECF244321}">
                <p14:modId xmlns:p14="http://schemas.microsoft.com/office/powerpoint/2010/main" val="4076024694"/>
              </p:ext>
            </p:extLst>
          </p:nvPr>
        </p:nvGraphicFramePr>
        <p:xfrm>
          <a:off x="666750" y="1762125"/>
          <a:ext cx="10858500" cy="3162300"/>
        </p:xfrm>
        <a:graphic>
          <a:graphicData uri="http://schemas.openxmlformats.org/drawingml/2006/table">
            <a:tbl>
              <a:tblPr/>
              <a:tblGrid>
                <a:gridCol w="4721087">
                  <a:extLst>
                    <a:ext uri="{9D8B030D-6E8A-4147-A177-3AD203B41FA5}">
                      <a16:colId xmlns:a16="http://schemas.microsoft.com/office/drawing/2014/main" val="20000"/>
                    </a:ext>
                  </a:extLst>
                </a:gridCol>
                <a:gridCol w="6137413">
                  <a:extLst>
                    <a:ext uri="{9D8B030D-6E8A-4147-A177-3AD203B41FA5}">
                      <a16:colId xmlns:a16="http://schemas.microsoft.com/office/drawing/2014/main" val="20001"/>
                    </a:ext>
                  </a:extLst>
                </a:gridCol>
              </a:tblGrid>
              <a:tr h="790575">
                <a:tc>
                  <a:txBody>
                    <a:bodyPr/>
                    <a:lstStyle/>
                    <a:p>
                      <a:r>
                        <a:rPr sz="1800" b="1">
                          <a:solidFill>
                            <a:srgbClr val="FFFFFF"/>
                          </a:solidFill>
                          <a:latin typeface="Calibri"/>
                          <a:ea typeface="Calibri"/>
                          <a:cs typeface="Calibri"/>
                        </a:rPr>
                        <a:t>Problem</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00" b="1">
                          <a:solidFill>
                            <a:srgbClr val="FFFFFF"/>
                          </a:solidFill>
                          <a:latin typeface="Calibri"/>
                          <a:ea typeface="Calibri"/>
                          <a:cs typeface="Calibri"/>
                        </a:rPr>
                        <a:t>Korrektur</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790575">
                <a:tc>
                  <a:txBody>
                    <a:bodyPr/>
                    <a:lstStyle/>
                    <a:p>
                      <a:r>
                        <a:rPr sz="1800" b="0">
                          <a:solidFill>
                            <a:srgbClr val="263640"/>
                          </a:solidFill>
                          <a:latin typeface="Calibri"/>
                          <a:ea typeface="Calibri"/>
                          <a:cs typeface="Calibri"/>
                        </a:rPr>
                        <a:t>CI-Pfade und Git-Stamm falsch</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dirty="0">
                          <a:solidFill>
                            <a:srgbClr val="263640"/>
                          </a:solidFill>
                          <a:latin typeface="Calibri"/>
                          <a:ea typeface="Calibri"/>
                          <a:cs typeface="Calibri"/>
                        </a:rPr>
                        <a:t>CI-</a:t>
                      </a:r>
                      <a:r>
                        <a:rPr sz="1800" b="0" dirty="0" err="1">
                          <a:solidFill>
                            <a:srgbClr val="263640"/>
                          </a:solidFill>
                          <a:latin typeface="Calibri"/>
                          <a:ea typeface="Calibri"/>
                          <a:cs typeface="Calibri"/>
                        </a:rPr>
                        <a:t>Dateien</a:t>
                      </a:r>
                      <a:r>
                        <a:rPr sz="1800" b="0" dirty="0">
                          <a:solidFill>
                            <a:srgbClr val="263640"/>
                          </a:solidFill>
                          <a:latin typeface="Calibri"/>
                          <a:ea typeface="Calibri"/>
                          <a:cs typeface="Calibri"/>
                        </a:rPr>
                        <a:t> an den Git-Stamm, </a:t>
                      </a:r>
                      <a:r>
                        <a:rPr sz="1800" b="0" dirty="0" err="1">
                          <a:solidFill>
                            <a:srgbClr val="263640"/>
                          </a:solidFill>
                          <a:latin typeface="Calibri"/>
                          <a:ea typeface="Calibri"/>
                          <a:cs typeface="Calibri"/>
                        </a:rPr>
                        <a:t>richtiges</a:t>
                      </a:r>
                      <a:r>
                        <a:rPr sz="1800" b="0" dirty="0">
                          <a:solidFill>
                            <a:srgbClr val="263640"/>
                          </a:solidFill>
                          <a:latin typeface="Calibri"/>
                          <a:ea typeface="Calibri"/>
                          <a:cs typeface="Calibri"/>
                        </a:rPr>
                        <a:t> </a:t>
                      </a:r>
                      <a:r>
                        <a:rPr sz="1800" b="0" dirty="0" err="1">
                          <a:solidFill>
                            <a:srgbClr val="263640"/>
                          </a:solidFill>
                          <a:latin typeface="Calibri"/>
                          <a:ea typeface="Calibri"/>
                          <a:cs typeface="Calibri"/>
                        </a:rPr>
                        <a:t>Arbeitsverzeichnis</a:t>
                      </a:r>
                      <a:endParaRPr sz="1800"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790575">
                <a:tc>
                  <a:txBody>
                    <a:bodyPr/>
                    <a:lstStyle/>
                    <a:p>
                      <a:r>
                        <a:rPr sz="1800" b="0">
                          <a:solidFill>
                            <a:srgbClr val="263640"/>
                          </a:solidFill>
                          <a:latin typeface="Calibri"/>
                          <a:ea typeface="Calibri"/>
                          <a:cs typeface="Calibri"/>
                        </a:rPr>
                        <a:t>Scanner-Ausfall konnte PASS liefern</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00" b="0">
                          <a:solidFill>
                            <a:srgbClr val="263640"/>
                          </a:solidFill>
                          <a:latin typeface="Calibri"/>
                          <a:ea typeface="Calibri"/>
                          <a:cs typeface="Calibri"/>
                        </a:rPr>
                        <a:t>Checkzustand und Pflichtreport validieren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790575">
                <a:tc>
                  <a:txBody>
                    <a:bodyPr/>
                    <a:lstStyle/>
                    <a:p>
                      <a:r>
                        <a:rPr sz="1800" b="0">
                          <a:solidFill>
                            <a:srgbClr val="263640"/>
                          </a:solidFill>
                          <a:latin typeface="Calibri"/>
                          <a:ea typeface="Calibri"/>
                          <a:cs typeface="Calibri"/>
                        </a:rPr>
                        <a:t>Alte CLI war nicht lauffähig</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dirty="0" err="1">
                          <a:solidFill>
                            <a:srgbClr val="263640"/>
                          </a:solidFill>
                          <a:latin typeface="Calibri"/>
                          <a:ea typeface="Calibri"/>
                          <a:cs typeface="Calibri"/>
                        </a:rPr>
                        <a:t>Kompatible</a:t>
                      </a:r>
                      <a:r>
                        <a:rPr sz="1800" b="0" dirty="0">
                          <a:solidFill>
                            <a:srgbClr val="263640"/>
                          </a:solidFill>
                          <a:latin typeface="Calibri"/>
                          <a:ea typeface="Calibri"/>
                          <a:cs typeface="Calibri"/>
                        </a:rPr>
                        <a:t> Pins und </a:t>
                      </a:r>
                      <a:r>
                        <a:rPr sz="1800" b="0" dirty="0" err="1">
                          <a:solidFill>
                            <a:srgbClr val="263640"/>
                          </a:solidFill>
                          <a:latin typeface="Calibri"/>
                          <a:ea typeface="Calibri"/>
                          <a:cs typeface="Calibri"/>
                        </a:rPr>
                        <a:t>echte</a:t>
                      </a:r>
                      <a:r>
                        <a:rPr sz="1800" b="0" dirty="0">
                          <a:solidFill>
                            <a:srgbClr val="263640"/>
                          </a:solidFill>
                          <a:latin typeface="Calibri"/>
                          <a:ea typeface="Calibri"/>
                          <a:cs typeface="Calibri"/>
                        </a:rPr>
                        <a:t> Container-</a:t>
                      </a:r>
                      <a:r>
                        <a:rPr sz="1800" b="0" dirty="0" err="1">
                          <a:solidFill>
                            <a:srgbClr val="263640"/>
                          </a:solidFill>
                          <a:latin typeface="Calibri"/>
                          <a:ea typeface="Calibri"/>
                          <a:cs typeface="Calibri"/>
                        </a:rPr>
                        <a:t>Ausführung</a:t>
                      </a:r>
                      <a:endParaRPr sz="1800"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64125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5F866EF-FD58-404E-A9AE-2E3F5275EC72}"/>
              </a:ext>
            </a:extLst>
          </p:cNvPr>
          <p:cNvPicPr>
            <a:picLocks noChangeAspect="1"/>
          </p:cNvPicPr>
          <p:nvPr/>
        </p:nvPicPr>
        <p:blipFill>
          <a:blip r:embed="rId3"/>
          <a:stretch/>
        </p:blipFill>
        <p:spPr>
          <a:xfrm>
            <a:off x="10325100" y="228600"/>
            <a:ext cx="1295400" cy="693039"/>
          </a:xfrm>
          <a:prstGeom prst="rect">
            <a:avLst/>
          </a:prstGeom>
        </p:spPr>
      </p:pic>
      <p:sp>
        <p:nvSpPr>
          <p:cNvPr id="2" name="Findings bewerten und Ausnahmen begrenzen">
            <a:extLst>
              <a:ext uri="{FF2B5EF4-FFF2-40B4-BE49-F238E27FC236}">
                <a16:creationId xmlns:a16="http://schemas.microsoft.com/office/drawing/2014/main" id="{D85D518C-C085-4224-A50A-4953578E1027}"/>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Findings bewerten und Ausnahmen begrenzen</a:t>
            </a:r>
          </a:p>
        </p:txBody>
      </p:sp>
      <p:sp>
        <p:nvSpPr>
          <p:cNvPr id="3" name="Rectangle 2">
            <a:extLst>
              <a:ext uri="{FF2B5EF4-FFF2-40B4-BE49-F238E27FC236}">
                <a16:creationId xmlns:a16="http://schemas.microsoft.com/office/drawing/2014/main" id="{0DE17A52-FB44-41D4-B933-10AB4C3328DE}"/>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policy/suppressions.json; docs/FINDINGS_BEWERTUNG.md; Ausnah">
            <a:extLst>
              <a:ext uri="{FF2B5EF4-FFF2-40B4-BE49-F238E27FC236}">
                <a16:creationId xmlns:a16="http://schemas.microsoft.com/office/drawing/2014/main" id="{ED4D3C33-1AF2-4FEF-9EA6-2A9F0BCEA0EF}"/>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r>
              <a:rPr sz="1200" b="0">
                <a:solidFill>
                  <a:srgbClr val="52616A"/>
                </a:solidFill>
                <a:latin typeface="Calibri"/>
                <a:ea typeface="Calibri"/>
                <a:cs typeface="Calibri"/>
              </a:rPr>
              <a:t>policy/suppressions.json; docs/FINDINGS_BEWERTUNG.md; Ausnahme gültig bis 20.11.2026</a:t>
            </a:r>
          </a:p>
        </p:txBody>
      </p:sp>
      <p:sp>
        <p:nvSpPr>
          <p:cNvPr id="5" name="Rectangle 4">
            <a:extLst>
              <a:ext uri="{FF2B5EF4-FFF2-40B4-BE49-F238E27FC236}">
                <a16:creationId xmlns:a16="http://schemas.microsoft.com/office/drawing/2014/main" id="{48D90F9F-29FD-4B00-8185-10F350B69112}"/>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82C5F1F5-5961-43B4-813C-D021EDC6C3E1}"/>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2">
            <a:extLst>
              <a:ext uri="{FF2B5EF4-FFF2-40B4-BE49-F238E27FC236}">
                <a16:creationId xmlns:a16="http://schemas.microsoft.com/office/drawing/2014/main" id="{39B40181-D350-4556-87EF-CE7031367D4B}"/>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12</a:t>
            </a:r>
          </a:p>
        </p:txBody>
      </p:sp>
      <p:sp>
        <p:nvSpPr>
          <p:cNvPr id="8" name="Dockle DKL-DI-0004 im geerbten Python-Basisimage">
            <a:extLst>
              <a:ext uri="{FF2B5EF4-FFF2-40B4-BE49-F238E27FC236}">
                <a16:creationId xmlns:a16="http://schemas.microsoft.com/office/drawing/2014/main" id="{A5DFC7A0-202C-4D95-BFAF-067B96DD113B}"/>
              </a:ext>
            </a:extLst>
          </p:cNvPr>
          <p:cNvSpPr>
            <a:spLocks noGrp="1"/>
          </p:cNvSpPr>
          <p:nvPr/>
        </p:nvSpPr>
        <p:spPr>
          <a:xfrm>
            <a:off x="666750" y="1809750"/>
            <a:ext cx="10858500" cy="666750"/>
          </a:xfrm>
          <a:prstGeom prst="rect">
            <a:avLst/>
          </a:prstGeom>
          <a:noFill/>
          <a:ln w="0">
            <a:noFill/>
          </a:ln>
        </p:spPr>
        <p:txBody>
          <a:bodyPr wrap="square" lIns="0" tIns="0" rIns="0" bIns="0" anchor="t">
            <a:noAutofit/>
          </a:bodyPr>
          <a:lstStyle>
            <a:defPPr algn="l">
              <a:defRPr sz="2550" b="1">
                <a:solidFill>
                  <a:srgbClr val="52616A"/>
                </a:solidFill>
                <a:latin typeface="Calibri"/>
                <a:ea typeface="Calibri"/>
                <a:cs typeface="Calibri"/>
              </a:defRPr>
            </a:defPPr>
          </a:lstStyle>
          <a:p>
            <a:pPr algn="l">
              <a:defRPr sz="2550" b="1">
                <a:solidFill>
                  <a:srgbClr val="52616A"/>
                </a:solidFill>
                <a:latin typeface="Calibri"/>
                <a:ea typeface="Calibri"/>
                <a:cs typeface="Calibri"/>
              </a:defRPr>
            </a:pPr>
            <a:r>
              <a:rPr sz="2550" b="1">
                <a:solidFill>
                  <a:srgbClr val="52616A"/>
                </a:solidFill>
                <a:latin typeface="Calibri"/>
                <a:ea typeface="Calibri"/>
                <a:cs typeface="Calibri"/>
              </a:rPr>
              <a:t>Dockle DKL-DI-0004 im geerbten Python-Basisimage</a:t>
            </a:r>
          </a:p>
        </p:txBody>
      </p:sp>
      <p:graphicFrame>
        <p:nvGraphicFramePr>
          <p:cNvPr id="9" name="Table 8">
            <a:extLst>
              <a:ext uri="{FF2B5EF4-FFF2-40B4-BE49-F238E27FC236}">
                <a16:creationId xmlns:a16="http://schemas.microsoft.com/office/drawing/2014/main" id="{ED35B14B-B31D-4474-A0A8-CC8A738251E7}"/>
              </a:ext>
            </a:extLst>
          </p:cNvPr>
          <p:cNvGraphicFramePr/>
          <p:nvPr/>
        </p:nvGraphicFramePr>
        <p:xfrm>
          <a:off x="666750" y="2667000"/>
          <a:ext cx="10858500" cy="2762250"/>
        </p:xfrm>
        <a:graphic>
          <a:graphicData uri="http://schemas.openxmlformats.org/drawingml/2006/table">
            <a:tbl>
              <a:tblPr/>
              <a:tblGrid>
                <a:gridCol w="5429250">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tblGrid>
              <a:tr h="552450">
                <a:tc>
                  <a:txBody>
                    <a:bodyPr/>
                    <a:lstStyle/>
                    <a:p>
                      <a:r>
                        <a:rPr sz="1800" b="1">
                          <a:solidFill>
                            <a:srgbClr val="FFFFFF"/>
                          </a:solidFill>
                          <a:latin typeface="Calibri"/>
                          <a:ea typeface="Calibri"/>
                          <a:cs typeface="Calibri"/>
                        </a:rPr>
                        <a:t>Beobachtung</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00" b="1">
                          <a:solidFill>
                            <a:srgbClr val="FFFFFF"/>
                          </a:solidFill>
                          <a:latin typeface="Calibri"/>
                          <a:ea typeface="Calibri"/>
                          <a:cs typeface="Calibri"/>
                        </a:rPr>
                        <a:t>Behandlung</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552450">
                <a:tc>
                  <a:txBody>
                    <a:bodyPr/>
                    <a:lstStyle/>
                    <a:p>
                      <a:r>
                        <a:rPr sz="1800" b="0">
                          <a:solidFill>
                            <a:srgbClr val="263640"/>
                          </a:solidFill>
                          <a:latin typeface="Calibri"/>
                          <a:ea typeface="Calibri"/>
                          <a:cs typeface="Calibri"/>
                        </a:rPr>
                        <a:t>Geerbter apk-Aufruf löst Regel aus</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a:solidFill>
                            <a:srgbClr val="263640"/>
                          </a:solidFill>
                          <a:latin typeface="Calibri"/>
                          <a:ea typeface="Calibri"/>
                          <a:cs typeface="Calibri"/>
                        </a:rPr>
                        <a:t>Buildzeile und leeren Paketcache prüfen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552450">
                <a:tc>
                  <a:txBody>
                    <a:bodyPr/>
                    <a:lstStyle/>
                    <a:p>
                      <a:r>
                        <a:rPr sz="1800" b="0">
                          <a:solidFill>
                            <a:srgbClr val="263640"/>
                          </a:solidFill>
                          <a:latin typeface="Calibri"/>
                          <a:ea typeface="Calibri"/>
                          <a:cs typeface="Calibri"/>
                        </a:rPr>
                        <a:t>Ausnahme auf Kontext begrenzen</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00" b="0">
                          <a:solidFill>
                            <a:srgbClr val="263640"/>
                          </a:solidFill>
                          <a:latin typeface="Calibri"/>
                          <a:ea typeface="Calibri"/>
                          <a:cs typeface="Calibri"/>
                        </a:rPr>
                        <a:t>Fixed-Workloads und exakter Basis-Digest</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552450">
                <a:tc>
                  <a:txBody>
                    <a:bodyPr/>
                    <a:lstStyle/>
                    <a:p>
                      <a:r>
                        <a:rPr sz="1800" b="0">
                          <a:solidFill>
                            <a:srgbClr val="263640"/>
                          </a:solidFill>
                          <a:latin typeface="Calibri"/>
                          <a:ea typeface="Calibri"/>
                          <a:cs typeface="Calibri"/>
                        </a:rPr>
                        <a:t>Bewertung dokumentieren</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a:solidFill>
                            <a:srgbClr val="263640"/>
                          </a:solidFill>
                          <a:latin typeface="Calibri"/>
                          <a:ea typeface="Calibri"/>
                          <a:cs typeface="Calibri"/>
                        </a:rPr>
                        <a:t>Owner, Begründung und Ablaufdatum</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r h="552450">
                <a:tc>
                  <a:txBody>
                    <a:bodyPr/>
                    <a:lstStyle/>
                    <a:p>
                      <a:r>
                        <a:rPr sz="1800" b="0">
                          <a:solidFill>
                            <a:srgbClr val="263640"/>
                          </a:solidFill>
                          <a:latin typeface="Calibri"/>
                          <a:ea typeface="Calibri"/>
                          <a:cs typeface="Calibri"/>
                        </a:rPr>
                        <a:t>Zusätzlichen Nachweis erzwingen</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00" b="0">
                          <a:solidFill>
                            <a:srgbClr val="263640"/>
                          </a:solidFill>
                          <a:latin typeface="Calibri"/>
                          <a:ea typeface="Calibri"/>
                          <a:cs typeface="Calibri"/>
                        </a:rPr>
                        <a:t>Erfolgreicher Check package-cache-empty</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 name="Rohbefund bleibt sichtbar. Nach Ablauf wirkt das Finding wie">
            <a:extLst>
              <a:ext uri="{FF2B5EF4-FFF2-40B4-BE49-F238E27FC236}">
                <a16:creationId xmlns:a16="http://schemas.microsoft.com/office/drawing/2014/main" id="{F12B6587-38F1-4FA7-9D1F-988AFA2F68F4}"/>
              </a:ext>
            </a:extLst>
          </p:cNvPr>
          <p:cNvSpPr>
            <a:spLocks noGrp="1"/>
          </p:cNvSpPr>
          <p:nvPr/>
        </p:nvSpPr>
        <p:spPr>
          <a:xfrm>
            <a:off x="666750" y="5648325"/>
            <a:ext cx="10858500" cy="381000"/>
          </a:xfrm>
          <a:prstGeom prst="rect">
            <a:avLst/>
          </a:prstGeom>
          <a:noFill/>
          <a:ln w="0">
            <a:noFill/>
          </a:ln>
        </p:spPr>
        <p:txBody>
          <a:bodyPr wrap="square" lIns="0" tIns="0" rIns="0" bIns="0" anchor="t">
            <a:noAutofit/>
          </a:bodyPr>
          <a:lstStyle>
            <a:defPPr algn="l">
              <a:defRPr sz="1950" b="1">
                <a:solidFill>
                  <a:srgbClr val="E2001A"/>
                </a:solidFill>
                <a:latin typeface="Calibri"/>
                <a:ea typeface="Calibri"/>
                <a:cs typeface="Calibri"/>
              </a:defRPr>
            </a:defPPr>
          </a:lstStyle>
          <a:p>
            <a:pPr algn="l">
              <a:defRPr sz="1950" b="1">
                <a:solidFill>
                  <a:srgbClr val="E2001A"/>
                </a:solidFill>
                <a:latin typeface="Calibri"/>
                <a:ea typeface="Calibri"/>
                <a:cs typeface="Calibri"/>
              </a:defRPr>
            </a:pPr>
            <a:r>
              <a:rPr sz="1950" b="1">
                <a:solidFill>
                  <a:srgbClr val="E2001A"/>
                </a:solidFill>
                <a:latin typeface="Calibri"/>
                <a:ea typeface="Calibri"/>
                <a:cs typeface="Calibri"/>
              </a:rPr>
              <a:t>Rohbefund bleibt sichtbar. Nach Ablauf wirkt das Finding wieder.</a:t>
            </a:r>
          </a:p>
        </p:txBody>
      </p:sp>
    </p:spTree>
    <p:extLst>
      <p:ext uri="{BB962C8B-B14F-4D97-AF65-F5344CB8AC3E}">
        <p14:creationId xmlns:p14="http://schemas.microsoft.com/office/powerpoint/2010/main" val="884518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77B12B22-F7F3-48FA-8335-CF317514CFA1}"/>
              </a:ext>
            </a:extLst>
          </p:cNvPr>
          <p:cNvPicPr>
            <a:picLocks noChangeAspect="1"/>
          </p:cNvPicPr>
          <p:nvPr/>
        </p:nvPicPr>
        <p:blipFill>
          <a:blip r:embed="rId3"/>
          <a:stretch/>
        </p:blipFill>
        <p:spPr>
          <a:xfrm>
            <a:off x="10325100" y="228600"/>
            <a:ext cx="1295400" cy="693039"/>
          </a:xfrm>
          <a:prstGeom prst="rect">
            <a:avLst/>
          </a:prstGeom>
        </p:spPr>
      </p:pic>
      <p:sp>
        <p:nvSpPr>
          <p:cNvPr id="2" name="Lessons Learned">
            <a:extLst>
              <a:ext uri="{FF2B5EF4-FFF2-40B4-BE49-F238E27FC236}">
                <a16:creationId xmlns:a16="http://schemas.microsoft.com/office/drawing/2014/main" id="{0E478E56-8760-4133-8793-560E7E9D6C5B}"/>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Lessons Learned</a:t>
            </a:r>
          </a:p>
        </p:txBody>
      </p:sp>
      <p:sp>
        <p:nvSpPr>
          <p:cNvPr id="3" name="Rectangle 2">
            <a:extLst>
              <a:ext uri="{FF2B5EF4-FFF2-40B4-BE49-F238E27FC236}">
                <a16:creationId xmlns:a16="http://schemas.microsoft.com/office/drawing/2014/main" id="{558E53D8-F173-4AAA-A3E8-9ABEAF21DBCC}"/>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Eigene Erkenntnisse aus Validierung, Korrekturen und manuell">
            <a:extLst>
              <a:ext uri="{FF2B5EF4-FFF2-40B4-BE49-F238E27FC236}">
                <a16:creationId xmlns:a16="http://schemas.microsoft.com/office/drawing/2014/main" id="{F456A422-0B3C-402B-B66B-339FC3B8CDBA}"/>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r>
              <a:rPr sz="1200" b="0">
                <a:solidFill>
                  <a:srgbClr val="52616A"/>
                </a:solidFill>
                <a:latin typeface="Calibri"/>
                <a:ea typeface="Calibri"/>
                <a:cs typeface="Calibri"/>
              </a:rPr>
              <a:t>Eigene Erkenntnisse aus Validierung, Korrekturen und manueller Findingsbewertung</a:t>
            </a:r>
          </a:p>
        </p:txBody>
      </p:sp>
      <p:sp>
        <p:nvSpPr>
          <p:cNvPr id="5" name="Rectangle 4">
            <a:extLst>
              <a:ext uri="{FF2B5EF4-FFF2-40B4-BE49-F238E27FC236}">
                <a16:creationId xmlns:a16="http://schemas.microsoft.com/office/drawing/2014/main" id="{FA27FEB3-49DB-466B-AEF3-CCF0FC618A15}"/>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6A5EC28D-278C-4C18-8B30-2C014A3E7F85}"/>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7" name="14">
            <a:extLst>
              <a:ext uri="{FF2B5EF4-FFF2-40B4-BE49-F238E27FC236}">
                <a16:creationId xmlns:a16="http://schemas.microsoft.com/office/drawing/2014/main" id="{F99A416A-EF85-456C-8E3C-7399569E10A2}"/>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14</a:t>
            </a:r>
          </a:p>
        </p:txBody>
      </p:sp>
      <p:sp>
        <p:nvSpPr>
          <p:cNvPr id="8" name="Ein gestarteter Scanner ist noch kein erfolgreicher Check">
            <a:extLst>
              <a:ext uri="{FF2B5EF4-FFF2-40B4-BE49-F238E27FC236}">
                <a16:creationId xmlns:a16="http://schemas.microsoft.com/office/drawing/2014/main" id="{02F99B40-24FD-400E-A222-426C9A02D36F}"/>
              </a:ext>
            </a:extLst>
          </p:cNvPr>
          <p:cNvSpPr>
            <a:spLocks noGrp="1"/>
          </p:cNvSpPr>
          <p:nvPr/>
        </p:nvSpPr>
        <p:spPr>
          <a:xfrm>
            <a:off x="666750" y="1828800"/>
            <a:ext cx="10858500" cy="419100"/>
          </a:xfrm>
          <a:prstGeom prst="rect">
            <a:avLst/>
          </a:prstGeom>
          <a:noFill/>
          <a:ln w="0">
            <a:noFill/>
          </a:ln>
        </p:spPr>
        <p:txBody>
          <a:bodyPr wrap="square" lIns="0" tIns="0" rIns="0" bIns="0" anchor="t">
            <a:noAutofit/>
          </a:bodyPr>
          <a:lstStyle>
            <a:defPPr algn="l">
              <a:defRPr sz="2175" b="1">
                <a:solidFill>
                  <a:srgbClr val="52616A"/>
                </a:solidFill>
                <a:latin typeface="Calibri"/>
                <a:ea typeface="Calibri"/>
                <a:cs typeface="Calibri"/>
              </a:defRPr>
            </a:defPPr>
          </a:lstStyle>
          <a:p>
            <a:pPr algn="l">
              <a:defRPr sz="2175" b="1">
                <a:solidFill>
                  <a:srgbClr val="52616A"/>
                </a:solidFill>
                <a:latin typeface="Calibri"/>
                <a:ea typeface="Calibri"/>
                <a:cs typeface="Calibri"/>
              </a:defRPr>
            </a:pPr>
            <a:r>
              <a:rPr sz="2175" b="1">
                <a:solidFill>
                  <a:srgbClr val="52616A"/>
                </a:solidFill>
                <a:latin typeface="Calibri"/>
                <a:ea typeface="Calibri"/>
                <a:cs typeface="Calibri"/>
              </a:rPr>
              <a:t>Ein gestarteter Scanner ist noch kein erfolgreicher Check</a:t>
            </a:r>
          </a:p>
        </p:txBody>
      </p:sp>
      <p:sp>
        <p:nvSpPr>
          <p:cNvPr id="9" name="Exit-Code, Checkstatus und Report müssen zusammenpassen.">
            <a:extLst>
              <a:ext uri="{FF2B5EF4-FFF2-40B4-BE49-F238E27FC236}">
                <a16:creationId xmlns:a16="http://schemas.microsoft.com/office/drawing/2014/main" id="{C2FE91A8-64D9-448D-8E52-869C68CABB57}"/>
              </a:ext>
            </a:extLst>
          </p:cNvPr>
          <p:cNvSpPr>
            <a:spLocks noGrp="1"/>
          </p:cNvSpPr>
          <p:nvPr/>
        </p:nvSpPr>
        <p:spPr>
          <a:xfrm>
            <a:off x="666750" y="2266950"/>
            <a:ext cx="10858500" cy="4286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dirty="0">
                <a:solidFill>
                  <a:srgbClr val="263640"/>
                </a:solidFill>
                <a:latin typeface="Calibri"/>
                <a:ea typeface="Calibri"/>
                <a:cs typeface="Calibri"/>
              </a:rPr>
              <a:t>Exit-Code, </a:t>
            </a:r>
            <a:r>
              <a:rPr sz="1875" b="0" dirty="0" err="1">
                <a:solidFill>
                  <a:srgbClr val="263640"/>
                </a:solidFill>
                <a:latin typeface="Calibri"/>
                <a:ea typeface="Calibri"/>
                <a:cs typeface="Calibri"/>
              </a:rPr>
              <a:t>Checkstatus</a:t>
            </a:r>
            <a:r>
              <a:rPr sz="1875" b="0" dirty="0">
                <a:solidFill>
                  <a:srgbClr val="263640"/>
                </a:solidFill>
                <a:latin typeface="Calibri"/>
                <a:ea typeface="Calibri"/>
                <a:cs typeface="Calibri"/>
              </a:rPr>
              <a:t> und Report </a:t>
            </a:r>
            <a:r>
              <a:rPr sz="1875" b="0" dirty="0" err="1">
                <a:solidFill>
                  <a:srgbClr val="263640"/>
                </a:solidFill>
                <a:latin typeface="Calibri"/>
                <a:ea typeface="Calibri"/>
                <a:cs typeface="Calibri"/>
              </a:rPr>
              <a:t>müssen</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zusammenpassen</a:t>
            </a:r>
            <a:r>
              <a:rPr sz="1875" b="0" dirty="0">
                <a:solidFill>
                  <a:srgbClr val="263640"/>
                </a:solidFill>
                <a:latin typeface="Calibri"/>
                <a:ea typeface="Calibri"/>
                <a:cs typeface="Calibri"/>
              </a:rPr>
              <a:t>.</a:t>
            </a:r>
          </a:p>
        </p:txBody>
      </p:sp>
      <p:sp>
        <p:nvSpPr>
          <p:cNvPr id="10" name="Lauffähigkeit und Sicherheitsfreigabe sind getrennte Nachwei">
            <a:extLst>
              <a:ext uri="{FF2B5EF4-FFF2-40B4-BE49-F238E27FC236}">
                <a16:creationId xmlns:a16="http://schemas.microsoft.com/office/drawing/2014/main" id="{CE4AB84C-9F15-46E0-86E3-221755543DD3}"/>
              </a:ext>
            </a:extLst>
          </p:cNvPr>
          <p:cNvSpPr>
            <a:spLocks noGrp="1"/>
          </p:cNvSpPr>
          <p:nvPr/>
        </p:nvSpPr>
        <p:spPr>
          <a:xfrm>
            <a:off x="666750" y="2847975"/>
            <a:ext cx="10858500" cy="419100"/>
          </a:xfrm>
          <a:prstGeom prst="rect">
            <a:avLst/>
          </a:prstGeom>
          <a:noFill/>
          <a:ln w="0">
            <a:noFill/>
          </a:ln>
        </p:spPr>
        <p:txBody>
          <a:bodyPr wrap="square" lIns="0" tIns="0" rIns="0" bIns="0" anchor="t">
            <a:noAutofit/>
          </a:bodyPr>
          <a:lstStyle>
            <a:defPPr algn="l">
              <a:defRPr sz="2175" b="1">
                <a:solidFill>
                  <a:srgbClr val="52616A"/>
                </a:solidFill>
                <a:latin typeface="Calibri"/>
                <a:ea typeface="Calibri"/>
                <a:cs typeface="Calibri"/>
              </a:defRPr>
            </a:defPPr>
          </a:lstStyle>
          <a:p>
            <a:pPr algn="l">
              <a:defRPr sz="2175" b="1">
                <a:solidFill>
                  <a:srgbClr val="52616A"/>
                </a:solidFill>
                <a:latin typeface="Calibri"/>
                <a:ea typeface="Calibri"/>
                <a:cs typeface="Calibri"/>
              </a:defRPr>
            </a:pPr>
            <a:r>
              <a:rPr sz="2175" b="1" dirty="0" err="1">
                <a:solidFill>
                  <a:srgbClr val="52616A"/>
                </a:solidFill>
                <a:latin typeface="Calibri"/>
                <a:ea typeface="Calibri"/>
                <a:cs typeface="Calibri"/>
              </a:rPr>
              <a:t>Lauffähigkeit</a:t>
            </a:r>
            <a:r>
              <a:rPr sz="2175" b="1" dirty="0">
                <a:solidFill>
                  <a:srgbClr val="52616A"/>
                </a:solidFill>
                <a:latin typeface="Calibri"/>
                <a:ea typeface="Calibri"/>
                <a:cs typeface="Calibri"/>
              </a:rPr>
              <a:t> und </a:t>
            </a:r>
            <a:r>
              <a:rPr sz="2175" b="1" dirty="0" err="1">
                <a:solidFill>
                  <a:srgbClr val="52616A"/>
                </a:solidFill>
                <a:latin typeface="Calibri"/>
                <a:ea typeface="Calibri"/>
                <a:cs typeface="Calibri"/>
              </a:rPr>
              <a:t>Sicherheitsfreigabe</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sind</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getrennte</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Nachweise</a:t>
            </a:r>
            <a:endParaRPr sz="2175" b="1" dirty="0">
              <a:solidFill>
                <a:srgbClr val="52616A"/>
              </a:solidFill>
              <a:latin typeface="Calibri"/>
              <a:ea typeface="Calibri"/>
              <a:cs typeface="Calibri"/>
            </a:endParaRPr>
          </a:p>
        </p:txBody>
      </p:sp>
      <p:sp>
        <p:nvSpPr>
          <p:cNvPr id="11" name="Negativbeispiele müssen starten können und trotzdem am Gate ">
            <a:extLst>
              <a:ext uri="{FF2B5EF4-FFF2-40B4-BE49-F238E27FC236}">
                <a16:creationId xmlns:a16="http://schemas.microsoft.com/office/drawing/2014/main" id="{0FB44CCF-CD79-4019-BB27-833A2A35C356}"/>
              </a:ext>
            </a:extLst>
          </p:cNvPr>
          <p:cNvSpPr>
            <a:spLocks noGrp="1"/>
          </p:cNvSpPr>
          <p:nvPr/>
        </p:nvSpPr>
        <p:spPr>
          <a:xfrm>
            <a:off x="666750" y="3286125"/>
            <a:ext cx="10858500" cy="4286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Negativbeispiele müssen starten können und trotzdem am Gate scheitern.</a:t>
            </a:r>
          </a:p>
        </p:txBody>
      </p:sp>
      <p:sp>
        <p:nvSpPr>
          <p:cNvPr id="12" name="Der Anwendungskontext bestimmt die Bewertung">
            <a:extLst>
              <a:ext uri="{FF2B5EF4-FFF2-40B4-BE49-F238E27FC236}">
                <a16:creationId xmlns:a16="http://schemas.microsoft.com/office/drawing/2014/main" id="{429B36C2-28E5-487F-BD6B-3D0F027C2B7A}"/>
              </a:ext>
            </a:extLst>
          </p:cNvPr>
          <p:cNvSpPr>
            <a:spLocks noGrp="1"/>
          </p:cNvSpPr>
          <p:nvPr/>
        </p:nvSpPr>
        <p:spPr>
          <a:xfrm>
            <a:off x="666750" y="3867150"/>
            <a:ext cx="10858500" cy="419100"/>
          </a:xfrm>
          <a:prstGeom prst="rect">
            <a:avLst/>
          </a:prstGeom>
          <a:noFill/>
          <a:ln w="0">
            <a:noFill/>
          </a:ln>
        </p:spPr>
        <p:txBody>
          <a:bodyPr wrap="square" lIns="0" tIns="0" rIns="0" bIns="0" anchor="t">
            <a:noAutofit/>
          </a:bodyPr>
          <a:lstStyle>
            <a:defPPr algn="l">
              <a:defRPr sz="2175" b="1">
                <a:solidFill>
                  <a:srgbClr val="52616A"/>
                </a:solidFill>
                <a:latin typeface="Calibri"/>
                <a:ea typeface="Calibri"/>
                <a:cs typeface="Calibri"/>
              </a:defRPr>
            </a:defPPr>
          </a:lstStyle>
          <a:p>
            <a:pPr algn="l">
              <a:defRPr sz="2175" b="1">
                <a:solidFill>
                  <a:srgbClr val="52616A"/>
                </a:solidFill>
                <a:latin typeface="Calibri"/>
                <a:ea typeface="Calibri"/>
                <a:cs typeface="Calibri"/>
              </a:defRPr>
            </a:pPr>
            <a:r>
              <a:rPr sz="2175" b="1">
                <a:solidFill>
                  <a:srgbClr val="52616A"/>
                </a:solidFill>
                <a:latin typeface="Calibri"/>
                <a:ea typeface="Calibri"/>
                <a:cs typeface="Calibri"/>
              </a:rPr>
              <a:t>Der Anwendungskontext bestimmt die Bewertung</a:t>
            </a:r>
          </a:p>
        </p:txBody>
      </p:sp>
      <p:sp>
        <p:nvSpPr>
          <p:cNvPr id="13" name="Paketmeldung, konkreter Codefehler und Fehlalarm sind unters">
            <a:extLst>
              <a:ext uri="{FF2B5EF4-FFF2-40B4-BE49-F238E27FC236}">
                <a16:creationId xmlns:a16="http://schemas.microsoft.com/office/drawing/2014/main" id="{65BD34DA-88C8-40A8-A9D0-875A6E398823}"/>
              </a:ext>
            </a:extLst>
          </p:cNvPr>
          <p:cNvSpPr>
            <a:spLocks noGrp="1"/>
          </p:cNvSpPr>
          <p:nvPr/>
        </p:nvSpPr>
        <p:spPr>
          <a:xfrm>
            <a:off x="666750" y="4305300"/>
            <a:ext cx="10858500" cy="4286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Paketmeldung, konkreter Codefehler und Fehlalarm sind unterschiedliche Fälle.</a:t>
            </a:r>
          </a:p>
        </p:txBody>
      </p:sp>
      <p:sp>
        <p:nvSpPr>
          <p:cNvPr id="14" name="Reproduzierbarkeit braucht mehr als feste Toolversionen">
            <a:extLst>
              <a:ext uri="{FF2B5EF4-FFF2-40B4-BE49-F238E27FC236}">
                <a16:creationId xmlns:a16="http://schemas.microsoft.com/office/drawing/2014/main" id="{91EB59DC-8994-4038-A4E9-B8032F56D14D}"/>
              </a:ext>
            </a:extLst>
          </p:cNvPr>
          <p:cNvSpPr>
            <a:spLocks noGrp="1"/>
          </p:cNvSpPr>
          <p:nvPr/>
        </p:nvSpPr>
        <p:spPr>
          <a:xfrm>
            <a:off x="666750" y="4886325"/>
            <a:ext cx="10858500" cy="419100"/>
          </a:xfrm>
          <a:prstGeom prst="rect">
            <a:avLst/>
          </a:prstGeom>
          <a:noFill/>
          <a:ln w="0">
            <a:noFill/>
          </a:ln>
        </p:spPr>
        <p:txBody>
          <a:bodyPr wrap="square" lIns="0" tIns="0" rIns="0" bIns="0" anchor="t">
            <a:noAutofit/>
          </a:bodyPr>
          <a:lstStyle>
            <a:defPPr algn="l">
              <a:defRPr sz="2175" b="1">
                <a:solidFill>
                  <a:srgbClr val="52616A"/>
                </a:solidFill>
                <a:latin typeface="Calibri"/>
                <a:ea typeface="Calibri"/>
                <a:cs typeface="Calibri"/>
              </a:defRPr>
            </a:defPPr>
          </a:lstStyle>
          <a:p>
            <a:pPr algn="l">
              <a:defRPr sz="2175" b="1">
                <a:solidFill>
                  <a:srgbClr val="52616A"/>
                </a:solidFill>
                <a:latin typeface="Calibri"/>
                <a:ea typeface="Calibri"/>
                <a:cs typeface="Calibri"/>
              </a:defRPr>
            </a:pPr>
            <a:r>
              <a:rPr sz="2175" b="1">
                <a:solidFill>
                  <a:srgbClr val="52616A"/>
                </a:solidFill>
                <a:latin typeface="Calibri"/>
                <a:ea typeface="Calibri"/>
                <a:cs typeface="Calibri"/>
              </a:rPr>
              <a:t>Reproduzierbarkeit braucht mehr als feste Toolversionen</a:t>
            </a:r>
          </a:p>
        </p:txBody>
      </p:sp>
      <p:sp>
        <p:nvSpPr>
          <p:cNvPr id="15" name="Regeln, Quellen, Images, CVE-Datenbank und Cache beeinflusse">
            <a:extLst>
              <a:ext uri="{FF2B5EF4-FFF2-40B4-BE49-F238E27FC236}">
                <a16:creationId xmlns:a16="http://schemas.microsoft.com/office/drawing/2014/main" id="{3E2668C7-ED55-4D4B-AAEF-C342684A6387}"/>
              </a:ext>
            </a:extLst>
          </p:cNvPr>
          <p:cNvSpPr>
            <a:spLocks noGrp="1"/>
          </p:cNvSpPr>
          <p:nvPr/>
        </p:nvSpPr>
        <p:spPr>
          <a:xfrm>
            <a:off x="666750" y="5324475"/>
            <a:ext cx="10858500" cy="4286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Regeln, Quellen, Images, CVE-Datenbank und Cache beeinflussen das Ergebnis.</a:t>
            </a:r>
          </a:p>
        </p:txBody>
      </p:sp>
    </p:spTree>
    <p:extLst>
      <p:ext uri="{BB962C8B-B14F-4D97-AF65-F5344CB8AC3E}">
        <p14:creationId xmlns:p14="http://schemas.microsoft.com/office/powerpoint/2010/main" val="1297157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8C3E5D6-55F7-4934-8983-751248010980}"/>
              </a:ext>
            </a:extLst>
          </p:cNvPr>
          <p:cNvPicPr>
            <a:picLocks noChangeAspect="1"/>
          </p:cNvPicPr>
          <p:nvPr/>
        </p:nvPicPr>
        <p:blipFill>
          <a:blip r:embed="rId3"/>
          <a:stretch/>
        </p:blipFill>
        <p:spPr>
          <a:xfrm>
            <a:off x="10325100" y="228600"/>
            <a:ext cx="1295400" cy="693039"/>
          </a:xfrm>
          <a:prstGeom prst="rect">
            <a:avLst/>
          </a:prstGeom>
        </p:spPr>
      </p:pic>
      <p:sp>
        <p:nvSpPr>
          <p:cNvPr id="2" name="Quellen und weiterführende Nachweise">
            <a:extLst>
              <a:ext uri="{FF2B5EF4-FFF2-40B4-BE49-F238E27FC236}">
                <a16:creationId xmlns:a16="http://schemas.microsoft.com/office/drawing/2014/main" id="{5EDA6409-A395-43AE-A6E4-76E0E6C5E3AC}"/>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Quellen und weiterführende Nachweise</a:t>
            </a:r>
          </a:p>
        </p:txBody>
      </p:sp>
      <p:sp>
        <p:nvSpPr>
          <p:cNvPr id="3" name="Rectangle 2">
            <a:extLst>
              <a:ext uri="{FF2B5EF4-FFF2-40B4-BE49-F238E27FC236}">
                <a16:creationId xmlns:a16="http://schemas.microsoft.com/office/drawing/2014/main" id="{7101415D-2153-450C-8105-3E79A75B7D7D}"/>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Rectangle 3">
            <a:extLst>
              <a:ext uri="{FF2B5EF4-FFF2-40B4-BE49-F238E27FC236}">
                <a16:creationId xmlns:a16="http://schemas.microsoft.com/office/drawing/2014/main" id="{818D5697-D2F9-45C0-869C-7216E49450EC}"/>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5" name="IT-Sicherheit bei Herrn Graupner">
            <a:extLst>
              <a:ext uri="{FF2B5EF4-FFF2-40B4-BE49-F238E27FC236}">
                <a16:creationId xmlns:a16="http://schemas.microsoft.com/office/drawing/2014/main" id="{3A0E2212-8FE6-4899-96C7-963AC331AA5D}"/>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sz="1125" b="0">
                <a:solidFill>
                  <a:srgbClr val="52616A"/>
                </a:solidFill>
                <a:latin typeface="Calibri"/>
                <a:ea typeface="Calibri"/>
                <a:cs typeface="Calibri"/>
              </a:rPr>
              <a:t>IT-Sicherheit bei Herrn Graupner</a:t>
            </a:r>
          </a:p>
        </p:txBody>
      </p:sp>
      <p:sp>
        <p:nvSpPr>
          <p:cNvPr id="6" name="Anhang 4">
            <a:extLst>
              <a:ext uri="{FF2B5EF4-FFF2-40B4-BE49-F238E27FC236}">
                <a16:creationId xmlns:a16="http://schemas.microsoft.com/office/drawing/2014/main" id="{C69E3958-0781-4561-B6DC-9E364B34371A}"/>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Anhang 4</a:t>
            </a:r>
          </a:p>
        </p:txBody>
      </p:sp>
      <p:sp>
        <p:nvSpPr>
          <p:cNvPr id="7" name="Vorlesung">
            <a:extLst>
              <a:ext uri="{FF2B5EF4-FFF2-40B4-BE49-F238E27FC236}">
                <a16:creationId xmlns:a16="http://schemas.microsoft.com/office/drawing/2014/main" id="{13BCC45C-3A45-4DBC-95AE-0C49F135ED0B}"/>
              </a:ext>
            </a:extLst>
          </p:cNvPr>
          <p:cNvSpPr>
            <a:spLocks noGrp="1"/>
          </p:cNvSpPr>
          <p:nvPr/>
        </p:nvSpPr>
        <p:spPr>
          <a:xfrm>
            <a:off x="666750" y="1762125"/>
            <a:ext cx="10858500" cy="400050"/>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r>
              <a:rPr sz="2250" b="1">
                <a:solidFill>
                  <a:srgbClr val="52616A"/>
                </a:solidFill>
                <a:latin typeface="Calibri"/>
                <a:ea typeface="Calibri"/>
                <a:cs typeface="Calibri"/>
              </a:rPr>
              <a:t>Vorlesung</a:t>
            </a:r>
          </a:p>
        </p:txBody>
      </p:sp>
      <p:sp>
        <p:nvSpPr>
          <p:cNvPr id="8" name="Georg Graupner: IT-Sicherheit, Modul 6, Sichere Anwendungsen">
            <a:extLst>
              <a:ext uri="{FF2B5EF4-FFF2-40B4-BE49-F238E27FC236}">
                <a16:creationId xmlns:a16="http://schemas.microsoft.com/office/drawing/2014/main" id="{C19C0930-3A51-4B06-B901-5728346F0DDF}"/>
              </a:ext>
            </a:extLst>
          </p:cNvPr>
          <p:cNvSpPr>
            <a:spLocks noGrp="1"/>
          </p:cNvSpPr>
          <p:nvPr/>
        </p:nvSpPr>
        <p:spPr>
          <a:xfrm>
            <a:off x="666750" y="2247900"/>
            <a:ext cx="10858500" cy="10001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Georg Graupner: IT-Sicherheit, Modul 6, Sichere Anwendungsentwicklung</a:t>
            </a:r>
          </a:p>
          <a:p>
            <a:pPr algn="l">
              <a:defRPr sz="1875" b="0">
                <a:solidFill>
                  <a:srgbClr val="263640"/>
                </a:solidFill>
                <a:latin typeface="Calibri"/>
                <a:ea typeface="Calibri"/>
                <a:cs typeface="Calibri"/>
              </a:defRPr>
            </a:pPr>
            <a:r>
              <a:rPr sz="1875" b="0">
                <a:solidFill>
                  <a:srgbClr val="263640"/>
                </a:solidFill>
                <a:latin typeface="Calibri"/>
                <a:ea typeface="Calibri"/>
                <a:cs typeface="Calibri"/>
              </a:rPr>
              <a:t>Wintersemester 2024, DHBW Mosbach / Bad Mergentheim</a:t>
            </a:r>
          </a:p>
          <a:p>
            <a:pPr algn="l">
              <a:defRPr sz="1875" b="0">
                <a:solidFill>
                  <a:srgbClr val="263640"/>
                </a:solidFill>
                <a:latin typeface="Calibri"/>
                <a:ea typeface="Calibri"/>
                <a:cs typeface="Calibri"/>
              </a:defRPr>
            </a:pPr>
            <a:r>
              <a:rPr sz="1875" b="0">
                <a:solidFill>
                  <a:srgbClr val="263640"/>
                </a:solidFill>
                <a:latin typeface="Calibri"/>
                <a:ea typeface="Calibri"/>
                <a:cs typeface="Calibri"/>
              </a:rPr>
              <a:t>Schwerpunkte: S. 17–18, 32–39, 42, 46–47</a:t>
            </a:r>
          </a:p>
        </p:txBody>
      </p:sp>
      <p:sp>
        <p:nvSpPr>
          <p:cNvPr id="9" name="Eigene Implementierung und Nachweise">
            <a:extLst>
              <a:ext uri="{FF2B5EF4-FFF2-40B4-BE49-F238E27FC236}">
                <a16:creationId xmlns:a16="http://schemas.microsoft.com/office/drawing/2014/main" id="{0B371AC6-F4AC-45FC-8058-EF47B0DA66C2}"/>
              </a:ext>
            </a:extLst>
          </p:cNvPr>
          <p:cNvSpPr>
            <a:spLocks noGrp="1"/>
          </p:cNvSpPr>
          <p:nvPr/>
        </p:nvSpPr>
        <p:spPr>
          <a:xfrm>
            <a:off x="666750" y="3524250"/>
            <a:ext cx="10858500" cy="400050"/>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r>
              <a:rPr sz="2250" b="1">
                <a:solidFill>
                  <a:srgbClr val="52616A"/>
                </a:solidFill>
                <a:latin typeface="Calibri"/>
                <a:ea typeface="Calibri"/>
                <a:cs typeface="Calibri"/>
              </a:rPr>
              <a:t>Eigene Implementierung und Nachweise</a:t>
            </a:r>
          </a:p>
        </p:txBody>
      </p:sp>
      <p:sp>
        <p:nvSpPr>
          <p:cNvPr id="10" name="README_PIPELINE_ERKLAERT.md, docs/NACHPRUEFUNG.md&#10;docs/FINDI">
            <a:extLst>
              <a:ext uri="{FF2B5EF4-FFF2-40B4-BE49-F238E27FC236}">
                <a16:creationId xmlns:a16="http://schemas.microsoft.com/office/drawing/2014/main" id="{FA3F4AFA-C03C-47C0-A3D9-7C018724D170}"/>
              </a:ext>
            </a:extLst>
          </p:cNvPr>
          <p:cNvSpPr>
            <a:spLocks noGrp="1"/>
          </p:cNvSpPr>
          <p:nvPr/>
        </p:nvSpPr>
        <p:spPr>
          <a:xfrm>
            <a:off x="666750" y="3990975"/>
            <a:ext cx="10858500" cy="1000125"/>
          </a:xfrm>
          <a:prstGeom prst="rect">
            <a:avLst/>
          </a:prstGeom>
          <a:noFill/>
          <a:ln w="0">
            <a:noFill/>
          </a:ln>
        </p:spPr>
        <p:txBody>
          <a:bodyPr wrap="square" lIns="0" tIns="0" rIns="0" bIns="0" anchor="t">
            <a:noAutofit/>
          </a:bodyPr>
          <a:lstStyle>
            <a:defPPr algn="l">
              <a:defRPr sz="1800" b="0">
                <a:solidFill>
                  <a:srgbClr val="263640"/>
                </a:solidFill>
                <a:latin typeface="Calibri"/>
                <a:ea typeface="Calibri"/>
                <a:cs typeface="Calibri"/>
              </a:defRPr>
            </a:defPPr>
          </a:lstStyle>
          <a:p>
            <a:pPr algn="l">
              <a:defRPr sz="1800" b="0">
                <a:solidFill>
                  <a:srgbClr val="263640"/>
                </a:solidFill>
                <a:latin typeface="Calibri"/>
                <a:ea typeface="Calibri"/>
                <a:cs typeface="Calibri"/>
              </a:defRPr>
            </a:pPr>
            <a:r>
              <a:rPr sz="1800" b="0">
                <a:solidFill>
                  <a:srgbClr val="263640"/>
                </a:solidFill>
                <a:latin typeface="Calibri"/>
                <a:ea typeface="Calibri"/>
                <a:cs typeface="Calibri"/>
              </a:rPr>
              <a:t>README_PIPELINE_ERKLAERT.md, docs/NACHPRUEFUNG.md</a:t>
            </a:r>
          </a:p>
          <a:p>
            <a:pPr algn="l">
              <a:defRPr sz="1800" b="0">
                <a:solidFill>
                  <a:srgbClr val="263640"/>
                </a:solidFill>
                <a:latin typeface="Calibri"/>
                <a:ea typeface="Calibri"/>
                <a:cs typeface="Calibri"/>
              </a:defRPr>
            </a:pPr>
            <a:r>
              <a:rPr sz="1800" b="0">
                <a:solidFill>
                  <a:srgbClr val="263640"/>
                </a:solidFill>
                <a:latin typeface="Calibri"/>
                <a:ea typeface="Calibri"/>
                <a:cs typeface="Calibri"/>
              </a:rPr>
              <a:t>docs/FINDINGS_BEWERTUNG.md, docs/validation/2026-10-21-fixed/</a:t>
            </a:r>
          </a:p>
          <a:p>
            <a:pPr algn="l">
              <a:defRPr sz="1800" b="0">
                <a:solidFill>
                  <a:srgbClr val="263640"/>
                </a:solidFill>
                <a:latin typeface="Calibri"/>
                <a:ea typeface="Calibri"/>
                <a:cs typeface="Calibri"/>
              </a:defRPr>
            </a:pPr>
            <a:r>
              <a:rPr sz="1800" b="0">
                <a:solidFill>
                  <a:srgbClr val="263640"/>
                </a:solidFill>
                <a:latin typeface="Calibri"/>
                <a:ea typeface="Calibri"/>
                <a:cs typeface="Calibri"/>
              </a:rPr>
              <a:t>Repository: github.com/LuBre22/devsecops_pipeline</a:t>
            </a:r>
          </a:p>
        </p:txBody>
      </p:sp>
      <p:sp>
        <p:nvSpPr>
          <p:cNvPr id="11" name="Maßstab für Produktionshärtung">
            <a:extLst>
              <a:ext uri="{FF2B5EF4-FFF2-40B4-BE49-F238E27FC236}">
                <a16:creationId xmlns:a16="http://schemas.microsoft.com/office/drawing/2014/main" id="{87037A8F-5DF6-4E1F-A134-22535A9B68E4}"/>
              </a:ext>
            </a:extLst>
          </p:cNvPr>
          <p:cNvSpPr>
            <a:spLocks noGrp="1"/>
          </p:cNvSpPr>
          <p:nvPr/>
        </p:nvSpPr>
        <p:spPr>
          <a:xfrm>
            <a:off x="666750" y="5238750"/>
            <a:ext cx="10858500" cy="352425"/>
          </a:xfrm>
          <a:prstGeom prst="rect">
            <a:avLst/>
          </a:prstGeom>
          <a:noFill/>
          <a:ln w="0">
            <a:noFill/>
          </a:ln>
        </p:spPr>
        <p:txBody>
          <a:bodyPr wrap="square" lIns="0" tIns="0" rIns="0" bIns="0" anchor="t">
            <a:noAutofit/>
          </a:bodyPr>
          <a:lstStyle>
            <a:defPPr algn="l">
              <a:defRPr sz="2175" b="1">
                <a:solidFill>
                  <a:srgbClr val="52616A"/>
                </a:solidFill>
                <a:latin typeface="Calibri"/>
                <a:ea typeface="Calibri"/>
                <a:cs typeface="Calibri"/>
              </a:defRPr>
            </a:defPPr>
          </a:lstStyle>
          <a:p>
            <a:pPr algn="l">
              <a:defRPr sz="2175" b="1">
                <a:solidFill>
                  <a:srgbClr val="52616A"/>
                </a:solidFill>
                <a:latin typeface="Calibri"/>
                <a:ea typeface="Calibri"/>
                <a:cs typeface="Calibri"/>
              </a:defRPr>
            </a:pPr>
            <a:r>
              <a:rPr sz="2175" b="1">
                <a:solidFill>
                  <a:srgbClr val="52616A"/>
                </a:solidFill>
                <a:latin typeface="Calibri"/>
                <a:ea typeface="Calibri"/>
                <a:cs typeface="Calibri"/>
              </a:rPr>
              <a:t>Maßstab für Produktionshärtung</a:t>
            </a:r>
          </a:p>
        </p:txBody>
      </p:sp>
      <p:sp>
        <p:nvSpPr>
          <p:cNvPr id="12" name="GitHub Docs: Secure use reference">
            <a:extLst>
              <a:ext uri="{FF2B5EF4-FFF2-40B4-BE49-F238E27FC236}">
                <a16:creationId xmlns:a16="http://schemas.microsoft.com/office/drawing/2014/main" id="{E3BDC90C-3EFF-405C-B485-6B85772CB1C9}"/>
              </a:ext>
            </a:extLst>
          </p:cNvPr>
          <p:cNvSpPr>
            <a:spLocks noGrp="1"/>
          </p:cNvSpPr>
          <p:nvPr/>
        </p:nvSpPr>
        <p:spPr>
          <a:xfrm>
            <a:off x="666750" y="5667375"/>
            <a:ext cx="5095875" cy="333375"/>
          </a:xfrm>
          <a:prstGeom prst="rect">
            <a:avLst/>
          </a:prstGeom>
          <a:noFill/>
          <a:ln w="0">
            <a:noFill/>
          </a:ln>
        </p:spPr>
        <p:txBody>
          <a:bodyPr wrap="square" lIns="0" tIns="0" rIns="0" bIns="0" anchor="t">
            <a:noAutofit/>
          </a:bodyPr>
          <a:lstStyle>
            <a:defPPr algn="l">
              <a:defRPr sz="1725" b="0">
                <a:solidFill>
                  <a:srgbClr val="E2001A"/>
                </a:solidFill>
                <a:latin typeface="Calibri"/>
                <a:ea typeface="Calibri"/>
                <a:cs typeface="Calibri"/>
              </a:defRPr>
            </a:defPPr>
          </a:lstStyle>
          <a:p>
            <a:pPr algn="l">
              <a:defRPr sz="1725" b="0">
                <a:solidFill>
                  <a:srgbClr val="E2001A"/>
                </a:solidFill>
                <a:latin typeface="Calibri"/>
                <a:ea typeface="Calibri"/>
                <a:cs typeface="Calibri"/>
              </a:defRPr>
            </a:pPr>
            <a:r>
              <a:rPr sz="1725" b="0">
                <a:solidFill>
                  <a:srgbClr val="E2001A"/>
                </a:solidFill>
                <a:latin typeface="Calibri"/>
                <a:ea typeface="Calibri"/>
                <a:cs typeface="Calibri"/>
                <a:hlinkClick r:id="rId4"/>
              </a:rPr>
              <a:t>GitHub Docs: Secure use reference</a:t>
            </a:r>
          </a:p>
        </p:txBody>
      </p:sp>
      <p:sp>
        <p:nvSpPr>
          <p:cNvPr id="13" name="OWASP: CI/CD Security Cheat Sheet">
            <a:extLst>
              <a:ext uri="{FF2B5EF4-FFF2-40B4-BE49-F238E27FC236}">
                <a16:creationId xmlns:a16="http://schemas.microsoft.com/office/drawing/2014/main" id="{C899D0FF-E97A-4115-8791-29AA2E5916C0}"/>
              </a:ext>
            </a:extLst>
          </p:cNvPr>
          <p:cNvSpPr>
            <a:spLocks noGrp="1"/>
          </p:cNvSpPr>
          <p:nvPr/>
        </p:nvSpPr>
        <p:spPr>
          <a:xfrm>
            <a:off x="6286500" y="5667375"/>
            <a:ext cx="5238750" cy="333375"/>
          </a:xfrm>
          <a:prstGeom prst="rect">
            <a:avLst/>
          </a:prstGeom>
          <a:noFill/>
          <a:ln w="0">
            <a:noFill/>
          </a:ln>
        </p:spPr>
        <p:txBody>
          <a:bodyPr wrap="square" lIns="0" tIns="0" rIns="0" bIns="0" anchor="t">
            <a:noAutofit/>
          </a:bodyPr>
          <a:lstStyle>
            <a:defPPr algn="l">
              <a:defRPr sz="1725" b="0">
                <a:solidFill>
                  <a:srgbClr val="E2001A"/>
                </a:solidFill>
                <a:latin typeface="Calibri"/>
                <a:ea typeface="Calibri"/>
                <a:cs typeface="Calibri"/>
              </a:defRPr>
            </a:defPPr>
          </a:lstStyle>
          <a:p>
            <a:pPr algn="l">
              <a:defRPr sz="1725" b="0">
                <a:solidFill>
                  <a:srgbClr val="E2001A"/>
                </a:solidFill>
                <a:latin typeface="Calibri"/>
                <a:ea typeface="Calibri"/>
                <a:cs typeface="Calibri"/>
              </a:defRPr>
            </a:pPr>
            <a:r>
              <a:rPr sz="1725" b="0">
                <a:solidFill>
                  <a:srgbClr val="E2001A"/>
                </a:solidFill>
                <a:latin typeface="Calibri"/>
                <a:ea typeface="Calibri"/>
                <a:cs typeface="Calibri"/>
                <a:hlinkClick r:id="rId5"/>
              </a:rPr>
              <a:t>OWASP: CI/CD Security Cheat Sheet</a:t>
            </a:r>
          </a:p>
        </p:txBody>
      </p:sp>
    </p:spTree>
    <p:extLst>
      <p:ext uri="{BB962C8B-B14F-4D97-AF65-F5344CB8AC3E}">
        <p14:creationId xmlns:p14="http://schemas.microsoft.com/office/powerpoint/2010/main" val="387235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2414</Words>
  <Application>Microsoft Office PowerPoint</Application>
  <DocSecurity>0</DocSecurity>
  <PresentationFormat>Widescreen</PresentationFormat>
  <Paragraphs>309</Paragraphs>
  <Slides>12</Slides>
  <Notes>12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Calibri</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Hofmann, Leo</cp:lastModifiedBy>
  <cp:revision>1</cp:revision>
  <dcterms:created xsi:type="dcterms:W3CDTF">2026-10-21T12:32:51Z</dcterms:created>
  <dcterms:modified xsi:type="dcterms:W3CDTF">2026-10-22T17:35:40Z</dcterms:modified>
</cp:coreProperties>
</file>